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Актив — необеспеченные договоры</c:v>
                </c:pt>
              </c:strCache>
            </c:strRef>
          </c:tx>
          <c:spPr>
            <a:solidFill>
              <a:srgbClr val="345475"/>
            </a:solidFill>
            <a:ln w="9525">
              <a:solidFill>
                <a:srgbClr val="FFFFFF"/>
              </a:solidFill>
            </a:ln>
          </c:spPr>
          <c:dLbls>
            <c:numFmt formatCode="# ##0" sourceLinked="0"/>
            <c:txPr>
              <a:bodyPr/>
              <a:lstStyle/>
              <a:p>
                <a:pPr>
                  <a:defRPr sz="800" b="0">
                    <a:solidFill>
                      <a:srgbClr val="FFFFFF"/>
                    </a:solidFill>
                    <a:latin typeface="Aptos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Sheet1!$A$2:$A$13</c:f>
              <c:strCache>
                <c:ptCount val="12"/>
                <c:pt idx="0">
                  <c:v>Янв</c:v>
                </c:pt>
                <c:pt idx="1">
                  <c:v>Фев</c:v>
                </c:pt>
                <c:pt idx="2">
                  <c:v>Мар</c:v>
                </c:pt>
                <c:pt idx="3">
                  <c:v>Апр</c:v>
                </c:pt>
                <c:pt idx="4">
                  <c:v>Май</c:v>
                </c:pt>
                <c:pt idx="5">
                  <c:v>Июн</c:v>
                </c:pt>
                <c:pt idx="6">
                  <c:v>Июл</c:v>
                </c:pt>
                <c:pt idx="7">
                  <c:v>Авг</c:v>
                </c:pt>
                <c:pt idx="8">
                  <c:v>Сен</c:v>
                </c:pt>
                <c:pt idx="9">
                  <c:v>Окт</c:v>
                </c:pt>
                <c:pt idx="10">
                  <c:v>Ноя</c:v>
                </c:pt>
                <c:pt idx="11">
                  <c:v>Дек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2050</c:v>
                </c:pt>
                <c:pt idx="1">
                  <c:v>2180</c:v>
                </c:pt>
                <c:pt idx="2">
                  <c:v>2260</c:v>
                </c:pt>
                <c:pt idx="3">
                  <c:v>2330</c:v>
                </c:pt>
                <c:pt idx="4">
                  <c:v>2430</c:v>
                </c:pt>
                <c:pt idx="5">
                  <c:v>2520</c:v>
                </c:pt>
                <c:pt idx="6">
                  <c:v>2600</c:v>
                </c:pt>
                <c:pt idx="7">
                  <c:v>2710</c:v>
                </c:pt>
                <c:pt idx="8">
                  <c:v>2800</c:v>
                </c:pt>
                <c:pt idx="9">
                  <c:v>2900</c:v>
                </c:pt>
                <c:pt idx="10">
                  <c:v>3020</c:v>
                </c:pt>
                <c:pt idx="11">
                  <c:v>3130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Актив — ПФН</c:v>
                </c:pt>
              </c:strCache>
            </c:strRef>
          </c:tx>
          <c:spPr>
            <a:solidFill>
              <a:srgbClr val="6796C6"/>
            </a:solidFill>
            <a:ln w="9525">
              <a:solidFill>
                <a:srgbClr val="FFFFFF"/>
              </a:solidFill>
            </a:ln>
          </c:spPr>
          <c:dLbls>
            <c:numFmt formatCode="# ##0" sourceLinked="0"/>
            <c:txPr>
              <a:bodyPr/>
              <a:lstStyle/>
              <a:p>
                <a:pPr>
                  <a:defRPr sz="800" b="0">
                    <a:solidFill>
                      <a:srgbClr val="FFFFFF"/>
                    </a:solidFill>
                    <a:latin typeface="Aptos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Sheet1!$A$2:$A$13</c:f>
              <c:strCache>
                <c:ptCount val="12"/>
                <c:pt idx="0">
                  <c:v>Янв</c:v>
                </c:pt>
                <c:pt idx="1">
                  <c:v>Фев</c:v>
                </c:pt>
                <c:pt idx="2">
                  <c:v>Мар</c:v>
                </c:pt>
                <c:pt idx="3">
                  <c:v>Апр</c:v>
                </c:pt>
                <c:pt idx="4">
                  <c:v>Май</c:v>
                </c:pt>
                <c:pt idx="5">
                  <c:v>Июн</c:v>
                </c:pt>
                <c:pt idx="6">
                  <c:v>Июл</c:v>
                </c:pt>
                <c:pt idx="7">
                  <c:v>Авг</c:v>
                </c:pt>
                <c:pt idx="8">
                  <c:v>Сен</c:v>
                </c:pt>
                <c:pt idx="9">
                  <c:v>Окт</c:v>
                </c:pt>
                <c:pt idx="10">
                  <c:v>Ноя</c:v>
                </c:pt>
                <c:pt idx="11">
                  <c:v>Дек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1480</c:v>
                </c:pt>
                <c:pt idx="1">
                  <c:v>1560</c:v>
                </c:pt>
                <c:pt idx="2">
                  <c:v>1680</c:v>
                </c:pt>
                <c:pt idx="3">
                  <c:v>1720</c:v>
                </c:pt>
                <c:pt idx="4">
                  <c:v>1790</c:v>
                </c:pt>
                <c:pt idx="5">
                  <c:v>1880</c:v>
                </c:pt>
                <c:pt idx="6">
                  <c:v>1930</c:v>
                </c:pt>
                <c:pt idx="7">
                  <c:v>1980</c:v>
                </c:pt>
                <c:pt idx="8">
                  <c:v>2060</c:v>
                </c:pt>
                <c:pt idx="9">
                  <c:v>2150</c:v>
                </c:pt>
                <c:pt idx="10">
                  <c:v>2220</c:v>
                </c:pt>
                <c:pt idx="11">
                  <c:v>2290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Актив — хорошие</c:v>
                </c:pt>
              </c:strCache>
            </c:strRef>
          </c:tx>
          <c:spPr>
            <a:solidFill>
              <a:srgbClr val="B7CDE7"/>
            </a:solidFill>
            <a:ln w="9525">
              <a:solidFill>
                <a:srgbClr val="FFFFFF"/>
              </a:solidFill>
            </a:ln>
          </c:spPr>
          <c:dLbls>
            <c:numFmt formatCode="# ##0" sourceLinked="0"/>
            <c:txPr>
              <a:bodyPr/>
              <a:lstStyle/>
              <a:p>
                <a:pPr>
                  <a:defRPr sz="800" b="0">
                    <a:solidFill>
                      <a:srgbClr val="384252"/>
                    </a:solidFill>
                    <a:latin typeface="Aptos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Sheet1!$A$2:$A$13</c:f>
              <c:strCache>
                <c:ptCount val="12"/>
                <c:pt idx="0">
                  <c:v>Янв</c:v>
                </c:pt>
                <c:pt idx="1">
                  <c:v>Фев</c:v>
                </c:pt>
                <c:pt idx="2">
                  <c:v>Мар</c:v>
                </c:pt>
                <c:pt idx="3">
                  <c:v>Апр</c:v>
                </c:pt>
                <c:pt idx="4">
                  <c:v>Май</c:v>
                </c:pt>
                <c:pt idx="5">
                  <c:v>Июн</c:v>
                </c:pt>
                <c:pt idx="6">
                  <c:v>Июл</c:v>
                </c:pt>
                <c:pt idx="7">
                  <c:v>Авг</c:v>
                </c:pt>
                <c:pt idx="8">
                  <c:v>Сен</c:v>
                </c:pt>
                <c:pt idx="9">
                  <c:v>Окт</c:v>
                </c:pt>
                <c:pt idx="10">
                  <c:v>Ноя</c:v>
                </c:pt>
                <c:pt idx="11">
                  <c:v>Дек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1190</c:v>
                </c:pt>
                <c:pt idx="1">
                  <c:v>1290</c:v>
                </c:pt>
                <c:pt idx="2">
                  <c:v>1280</c:v>
                </c:pt>
                <c:pt idx="3">
                  <c:v>1350</c:v>
                </c:pt>
                <c:pt idx="4">
                  <c:v>1380</c:v>
                </c:pt>
                <c:pt idx="5">
                  <c:v>1410</c:v>
                </c:pt>
                <c:pt idx="6">
                  <c:v>1420</c:v>
                </c:pt>
                <c:pt idx="7">
                  <c:v>1450</c:v>
                </c:pt>
                <c:pt idx="8">
                  <c:v>1470</c:v>
                </c:pt>
                <c:pt idx="9">
                  <c:v>1450</c:v>
                </c:pt>
                <c:pt idx="10">
                  <c:v>1480</c:v>
                </c:pt>
                <c:pt idx="11">
                  <c:v>1440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УО — необеспеченные договоры</c:v>
                </c:pt>
              </c:strCache>
            </c:strRef>
          </c:tx>
          <c:spPr>
            <a:solidFill>
              <a:srgbClr val="A7967C"/>
            </a:solidFill>
            <a:ln w="9525">
              <a:solidFill>
                <a:srgbClr val="FFFFFF"/>
              </a:solidFill>
            </a:ln>
          </c:spPr>
          <c:dLbls>
            <c:numFmt formatCode="# ##0" sourceLinked="0"/>
            <c:txPr>
              <a:bodyPr/>
              <a:lstStyle/>
              <a:p>
                <a:pPr>
                  <a:defRPr sz="800" b="0">
                    <a:solidFill>
                      <a:srgbClr val="FFFFFF"/>
                    </a:solidFill>
                    <a:latin typeface="Aptos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Sheet1!$A$2:$A$13</c:f>
              <c:strCache>
                <c:ptCount val="12"/>
                <c:pt idx="0">
                  <c:v>Янв</c:v>
                </c:pt>
                <c:pt idx="1">
                  <c:v>Фев</c:v>
                </c:pt>
                <c:pt idx="2">
                  <c:v>Мар</c:v>
                </c:pt>
                <c:pt idx="3">
                  <c:v>Апр</c:v>
                </c:pt>
                <c:pt idx="4">
                  <c:v>Май</c:v>
                </c:pt>
                <c:pt idx="5">
                  <c:v>Июн</c:v>
                </c:pt>
                <c:pt idx="6">
                  <c:v>Июл</c:v>
                </c:pt>
                <c:pt idx="7">
                  <c:v>Авг</c:v>
                </c:pt>
                <c:pt idx="8">
                  <c:v>Сен</c:v>
                </c:pt>
                <c:pt idx="9">
                  <c:v>Окт</c:v>
                </c:pt>
                <c:pt idx="10">
                  <c:v>Ноя</c:v>
                </c:pt>
                <c:pt idx="11">
                  <c:v>Дек</c:v>
                </c:pt>
              </c:strCache>
            </c:strRef>
          </c:cat>
          <c:val>
            <c:numRef>
              <c:f>Sheet1!$E$2:$E$13</c:f>
              <c:numCache>
                <c:formatCode>General</c:formatCode>
                <c:ptCount val="12"/>
                <c:pt idx="0">
                  <c:v>1200</c:v>
                </c:pt>
                <c:pt idx="1">
                  <c:v>1280</c:v>
                </c:pt>
                <c:pt idx="2">
                  <c:v>1410</c:v>
                </c:pt>
                <c:pt idx="3">
                  <c:v>1450</c:v>
                </c:pt>
                <c:pt idx="4">
                  <c:v>1520</c:v>
                </c:pt>
                <c:pt idx="5">
                  <c:v>1550</c:v>
                </c:pt>
                <c:pt idx="6">
                  <c:v>1590</c:v>
                </c:pt>
                <c:pt idx="7">
                  <c:v>1650</c:v>
                </c:pt>
                <c:pt idx="8">
                  <c:v>1700</c:v>
                </c:pt>
                <c:pt idx="9">
                  <c:v>1760</c:v>
                </c:pt>
                <c:pt idx="10">
                  <c:v>1820</c:v>
                </c:pt>
                <c:pt idx="11">
                  <c:v>1900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УО — ПФН</c:v>
                </c:pt>
              </c:strCache>
            </c:strRef>
          </c:tx>
          <c:spPr>
            <a:solidFill>
              <a:srgbClr val="CBBDA6"/>
            </a:solidFill>
            <a:ln w="9525">
              <a:solidFill>
                <a:srgbClr val="FFFFFF"/>
              </a:solidFill>
            </a:ln>
          </c:spPr>
          <c:dLbls>
            <c:numFmt formatCode="# ##0" sourceLinked="0"/>
            <c:txPr>
              <a:bodyPr/>
              <a:lstStyle/>
              <a:p>
                <a:pPr>
                  <a:defRPr sz="800" b="0">
                    <a:solidFill>
                      <a:srgbClr val="384252"/>
                    </a:solidFill>
                    <a:latin typeface="Aptos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Sheet1!$A$2:$A$13</c:f>
              <c:strCache>
                <c:ptCount val="12"/>
                <c:pt idx="0">
                  <c:v>Янв</c:v>
                </c:pt>
                <c:pt idx="1">
                  <c:v>Фев</c:v>
                </c:pt>
                <c:pt idx="2">
                  <c:v>Мар</c:v>
                </c:pt>
                <c:pt idx="3">
                  <c:v>Апр</c:v>
                </c:pt>
                <c:pt idx="4">
                  <c:v>Май</c:v>
                </c:pt>
                <c:pt idx="5">
                  <c:v>Июн</c:v>
                </c:pt>
                <c:pt idx="6">
                  <c:v>Июл</c:v>
                </c:pt>
                <c:pt idx="7">
                  <c:v>Авг</c:v>
                </c:pt>
                <c:pt idx="8">
                  <c:v>Сен</c:v>
                </c:pt>
                <c:pt idx="9">
                  <c:v>Окт</c:v>
                </c:pt>
                <c:pt idx="10">
                  <c:v>Ноя</c:v>
                </c:pt>
                <c:pt idx="11">
                  <c:v>Дек</c:v>
                </c:pt>
              </c:strCache>
            </c:strRef>
          </c:cat>
          <c:val>
            <c:numRef>
              <c:f>Sheet1!$F$2:$F$13</c:f>
              <c:numCache>
                <c:formatCode>General</c:formatCode>
                <c:ptCount val="12"/>
                <c:pt idx="0">
                  <c:v>880</c:v>
                </c:pt>
                <c:pt idx="1">
                  <c:v>910</c:v>
                </c:pt>
                <c:pt idx="2">
                  <c:v>940</c:v>
                </c:pt>
                <c:pt idx="3">
                  <c:v>980</c:v>
                </c:pt>
                <c:pt idx="4">
                  <c:v>1020</c:v>
                </c:pt>
                <c:pt idx="5">
                  <c:v>1070</c:v>
                </c:pt>
                <c:pt idx="6">
                  <c:v>1100</c:v>
                </c:pt>
                <c:pt idx="7">
                  <c:v>1140</c:v>
                </c:pt>
                <c:pt idx="8">
                  <c:v>1190</c:v>
                </c:pt>
                <c:pt idx="9">
                  <c:v>1230</c:v>
                </c:pt>
                <c:pt idx="10">
                  <c:v>1260</c:v>
                </c:pt>
                <c:pt idx="11">
                  <c:v>1300</c:v>
                </c:pt>
              </c:numCache>
            </c:numRef>
          </c:val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УО — хорошие</c:v>
                </c:pt>
              </c:strCache>
            </c:strRef>
          </c:tx>
          <c:spPr>
            <a:solidFill>
              <a:srgbClr val="E4DDD2"/>
            </a:solidFill>
            <a:ln w="9525">
              <a:solidFill>
                <a:srgbClr val="FFFFFF"/>
              </a:solidFill>
            </a:ln>
          </c:spPr>
          <c:dLbls>
            <c:numFmt formatCode="# ##0" sourceLinked="0"/>
            <c:txPr>
              <a:bodyPr/>
              <a:lstStyle/>
              <a:p>
                <a:pPr>
                  <a:defRPr sz="800" b="0">
                    <a:solidFill>
                      <a:srgbClr val="384252"/>
                    </a:solidFill>
                    <a:latin typeface="Aptos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Sheet1!$A$2:$A$13</c:f>
              <c:strCache>
                <c:ptCount val="12"/>
                <c:pt idx="0">
                  <c:v>Янв</c:v>
                </c:pt>
                <c:pt idx="1">
                  <c:v>Фев</c:v>
                </c:pt>
                <c:pt idx="2">
                  <c:v>Мар</c:v>
                </c:pt>
                <c:pt idx="3">
                  <c:v>Апр</c:v>
                </c:pt>
                <c:pt idx="4">
                  <c:v>Май</c:v>
                </c:pt>
                <c:pt idx="5">
                  <c:v>Июн</c:v>
                </c:pt>
                <c:pt idx="6">
                  <c:v>Июл</c:v>
                </c:pt>
                <c:pt idx="7">
                  <c:v>Авг</c:v>
                </c:pt>
                <c:pt idx="8">
                  <c:v>Сен</c:v>
                </c:pt>
                <c:pt idx="9">
                  <c:v>Окт</c:v>
                </c:pt>
                <c:pt idx="10">
                  <c:v>Ноя</c:v>
                </c:pt>
                <c:pt idx="11">
                  <c:v>Дек</c:v>
                </c:pt>
              </c:strCache>
            </c:strRef>
          </c:cat>
          <c:val>
            <c:numRef>
              <c:f>Sheet1!$G$2:$G$13</c:f>
              <c:numCache>
                <c:formatCode>General</c:formatCode>
                <c:ptCount val="12"/>
                <c:pt idx="0">
                  <c:v>620</c:v>
                </c:pt>
                <c:pt idx="1">
                  <c:v>660</c:v>
                </c:pt>
                <c:pt idx="2">
                  <c:v>700</c:v>
                </c:pt>
                <c:pt idx="3">
                  <c:v>730</c:v>
                </c:pt>
                <c:pt idx="4">
                  <c:v>770</c:v>
                </c:pt>
                <c:pt idx="5">
                  <c:v>810</c:v>
                </c:pt>
                <c:pt idx="6">
                  <c:v>820</c:v>
                </c:pt>
                <c:pt idx="7">
                  <c:v>860</c:v>
                </c:pt>
                <c:pt idx="8">
                  <c:v>900</c:v>
                </c:pt>
                <c:pt idx="9">
                  <c:v>930</c:v>
                </c:pt>
                <c:pt idx="10">
                  <c:v>980</c:v>
                </c:pt>
                <c:pt idx="11">
                  <c:v>1020</c:v>
                </c:pt>
              </c:numCache>
            </c:numRef>
          </c:val>
        </c:ser>
        <c:gapWidth val="38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969CA5"/>
            </a:solidFill>
          </a:ln>
        </c:spPr>
        <c:txPr>
          <a:bodyPr/>
          <a:lstStyle/>
          <a:p>
            <a:pPr>
              <a:defRPr sz="1150">
                <a:solidFill>
                  <a:srgbClr val="384252"/>
                </a:solidFill>
                <a:latin typeface="Apto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2000.0"/>
          <c:min val="0.0"/>
        </c:scaling>
        <c:delete val="0"/>
        <c:axPos val="l"/>
        <c:majorGridlines>
          <c:spPr>
            <a:ln w="10160">
              <a:solidFill>
                <a:srgbClr val="D9DDE2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 sz="1200" b="1">
                    <a:solidFill>
                      <a:srgbClr val="384252"/>
                    </a:solidFill>
                    <a:latin typeface="Aptos"/>
                  </a:defRPr>
                </a:pPr>
                <a:r>
                  <a:t>Объем, млн руб.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050">
                <a:solidFill>
                  <a:srgbClr val="384252"/>
                </a:solidFill>
                <a:latin typeface="Aptos"/>
              </a:defRPr>
            </a:pPr>
          </a:p>
        </c:txPr>
        <c:crossAx val="-2068027336"/>
        <c:crosses val="autoZero"/>
        <c:majorUnit val="200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УПР</c:v>
                </c:pt>
              </c:strCache>
            </c:strRef>
          </c:tx>
          <c:spPr>
            <a:ln w="25400">
              <a:solidFill>
                <a:srgbClr val="1B2029"/>
              </a:solidFill>
            </a:ln>
          </c:spPr>
          <c:marker>
            <c:size val="6"/>
            <c:spPr>
              <a:solidFill>
                <a:srgbClr val="1B2029"/>
              </a:solidFill>
              <a:ln>
                <a:solidFill>
                  <a:srgbClr val="1B2029"/>
                </a:solidFill>
              </a:ln>
            </c:spPr>
          </c:marker>
          <c:dLbls>
            <c:numFmt formatCode="0.0&quot;%&quot;" sourceLinked="0"/>
            <c:txPr>
              <a:bodyPr/>
              <a:lstStyle/>
              <a:p>
                <a:pPr>
                  <a:defRPr sz="880">
                    <a:solidFill>
                      <a:srgbClr val="1B2029"/>
                    </a:solidFill>
                    <a:latin typeface="Aptos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Sheet1!$A$2:$A$13</c:f>
              <c:strCache>
                <c:ptCount val="12"/>
                <c:pt idx="0">
                  <c:v>Янв</c:v>
                </c:pt>
                <c:pt idx="1">
                  <c:v>Фев</c:v>
                </c:pt>
                <c:pt idx="2">
                  <c:v>Мар</c:v>
                </c:pt>
                <c:pt idx="3">
                  <c:v>Апр</c:v>
                </c:pt>
                <c:pt idx="4">
                  <c:v>Май</c:v>
                </c:pt>
                <c:pt idx="5">
                  <c:v>Июн</c:v>
                </c:pt>
                <c:pt idx="6">
                  <c:v>Июл</c:v>
                </c:pt>
                <c:pt idx="7">
                  <c:v>Авг</c:v>
                </c:pt>
                <c:pt idx="8">
                  <c:v>Сен</c:v>
                </c:pt>
                <c:pt idx="9">
                  <c:v>Окт</c:v>
                </c:pt>
                <c:pt idx="10">
                  <c:v>Ноя</c:v>
                </c:pt>
                <c:pt idx="11">
                  <c:v>Дек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18.2</c:v>
                </c:pt>
                <c:pt idx="1">
                  <c:v>17.5</c:v>
                </c:pt>
                <c:pt idx="2">
                  <c:v>16.8</c:v>
                </c:pt>
                <c:pt idx="3">
                  <c:v>15.6</c:v>
                </c:pt>
                <c:pt idx="4">
                  <c:v>14.9</c:v>
                </c:pt>
                <c:pt idx="5">
                  <c:v>14.1</c:v>
                </c:pt>
                <c:pt idx="6">
                  <c:v>13.4</c:v>
                </c:pt>
                <c:pt idx="7">
                  <c:v>12.8</c:v>
                </c:pt>
                <c:pt idx="8">
                  <c:v>12.1</c:v>
                </c:pt>
                <c:pt idx="9">
                  <c:v>11.6</c:v>
                </c:pt>
                <c:pt idx="10">
                  <c:v>11.2</c:v>
                </c:pt>
                <c:pt idx="11">
                  <c:v>10.7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one"/>
        <c:spPr>
          <a:ln>
            <a:solidFill>
              <a:srgbClr val="FFFFFF"/>
            </a:solidFill>
          </a:ln>
        </c:sp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20.0"/>
          <c:min val="0.0"/>
        </c:scaling>
        <c:delete val="0"/>
        <c:axPos val="l"/>
        <c:majorTickMark val="out"/>
        <c:minorTickMark val="none"/>
        <c:tickLblPos val="none"/>
        <c:spPr>
          <a:ln>
            <a:solidFill>
              <a:srgbClr val="FFFFFF"/>
            </a:solidFill>
          </a:ln>
        </c:spPr>
        <c:crossAx val="2118791784"/>
        <c:crosses val="autoZero"/>
        <c:majorUnit val="2.0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09728"/>
            <a:ext cx="77724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172233"/>
                </a:solidFill>
                <a:latin typeface="Times New Roman"/>
              </a:rPr>
              <a:t>Портфель Актив + УО: структура и УПР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46888" y="475488"/>
            <a:ext cx="3657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>
                <a:solidFill>
                  <a:srgbClr val="717A84"/>
                </a:solidFill>
                <a:latin typeface="Aptos"/>
              </a:rPr>
              <a:t>Редактируемый шаблон PowerPoint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868680" y="1143000"/>
          <a:ext cx="9646920" cy="45262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868680" y="1143000"/>
          <a:ext cx="9646920" cy="45262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9584435" y="1005840"/>
            <a:ext cx="757427" cy="4736592"/>
          </a:xfrm>
          <a:prstGeom prst="roundRect">
            <a:avLst>
              <a:gd name="adj" fmla="val 2000"/>
            </a:avLst>
          </a:prstGeom>
          <a:noFill/>
          <a:ln w="12700">
            <a:solidFill>
              <a:srgbClr val="718AAA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" y="969264"/>
            <a:ext cx="757427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172233"/>
                </a:solidFill>
                <a:latin typeface="Aptos"/>
              </a:rPr>
              <a:t>7 420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54707" y="969264"/>
            <a:ext cx="757427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172233"/>
                </a:solidFill>
                <a:latin typeface="Aptos"/>
              </a:rPr>
              <a:t>7 880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30423" y="969264"/>
            <a:ext cx="757427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172233"/>
                </a:solidFill>
                <a:latin typeface="Aptos"/>
              </a:rPr>
              <a:t>8 270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06139" y="969264"/>
            <a:ext cx="757427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172233"/>
                </a:solidFill>
                <a:latin typeface="Aptos"/>
              </a:rPr>
              <a:t>8 560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81855" y="969264"/>
            <a:ext cx="757427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172233"/>
                </a:solidFill>
                <a:latin typeface="Aptos"/>
              </a:rPr>
              <a:t>8 910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7571" y="969264"/>
            <a:ext cx="757427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172233"/>
                </a:solidFill>
                <a:latin typeface="Aptos"/>
              </a:rPr>
              <a:t>9 240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33288" y="969264"/>
            <a:ext cx="757427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172233"/>
                </a:solidFill>
                <a:latin typeface="Aptos"/>
              </a:rPr>
              <a:t>9 460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09003" y="969264"/>
            <a:ext cx="757427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172233"/>
                </a:solidFill>
                <a:latin typeface="Aptos"/>
              </a:rPr>
              <a:t>9 790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84719" y="969264"/>
            <a:ext cx="757427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172233"/>
                </a:solidFill>
                <a:latin typeface="Aptos"/>
              </a:rPr>
              <a:t>10 120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60436" y="969264"/>
            <a:ext cx="757427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172233"/>
                </a:solidFill>
                <a:latin typeface="Aptos"/>
              </a:rPr>
              <a:t>10 420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36151" y="969264"/>
            <a:ext cx="757427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172233"/>
                </a:solidFill>
                <a:latin typeface="Aptos"/>
              </a:rPr>
              <a:t>10 780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11867" y="969264"/>
            <a:ext cx="757427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172233"/>
                </a:solidFill>
                <a:latin typeface="Aptos"/>
              </a:rPr>
              <a:t>11 080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34472" y="786384"/>
            <a:ext cx="594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1">
                <a:solidFill>
                  <a:srgbClr val="384252"/>
                </a:solidFill>
                <a:latin typeface="Aptos"/>
              </a:rPr>
              <a:t>УПР,
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771632" y="1280160"/>
            <a:ext cx="9144" cy="4169664"/>
          </a:xfrm>
          <a:prstGeom prst="rect">
            <a:avLst/>
          </a:prstGeom>
          <a:solidFill>
            <a:srgbClr val="969CA5"/>
          </a:solidFill>
          <a:ln>
            <a:solidFill>
              <a:srgbClr val="969C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771632" y="5449824"/>
            <a:ext cx="54864" cy="7315"/>
          </a:xfrm>
          <a:prstGeom prst="rect">
            <a:avLst/>
          </a:prstGeom>
          <a:solidFill>
            <a:srgbClr val="969CA5"/>
          </a:solidFill>
          <a:ln>
            <a:solidFill>
              <a:srgbClr val="969C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881359" y="5385816"/>
            <a:ext cx="365760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>
                <a:solidFill>
                  <a:srgbClr val="384252"/>
                </a:solidFill>
                <a:latin typeface="Aptos"/>
              </a:rPr>
              <a:t>0%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771632" y="5032857"/>
            <a:ext cx="54864" cy="7315"/>
          </a:xfrm>
          <a:prstGeom prst="rect">
            <a:avLst/>
          </a:prstGeom>
          <a:solidFill>
            <a:srgbClr val="969CA5"/>
          </a:solidFill>
          <a:ln>
            <a:solidFill>
              <a:srgbClr val="969C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881359" y="4968849"/>
            <a:ext cx="365760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>
                <a:solidFill>
                  <a:srgbClr val="384252"/>
                </a:solidFill>
                <a:latin typeface="Aptos"/>
              </a:rPr>
              <a:t>2%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771632" y="4615891"/>
            <a:ext cx="54864" cy="7315"/>
          </a:xfrm>
          <a:prstGeom prst="rect">
            <a:avLst/>
          </a:prstGeom>
          <a:solidFill>
            <a:srgbClr val="969CA5"/>
          </a:solidFill>
          <a:ln>
            <a:solidFill>
              <a:srgbClr val="969C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881359" y="4551883"/>
            <a:ext cx="365760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>
                <a:solidFill>
                  <a:srgbClr val="384252"/>
                </a:solidFill>
                <a:latin typeface="Aptos"/>
              </a:rPr>
              <a:t>4%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771632" y="4198924"/>
            <a:ext cx="54864" cy="7315"/>
          </a:xfrm>
          <a:prstGeom prst="rect">
            <a:avLst/>
          </a:prstGeom>
          <a:solidFill>
            <a:srgbClr val="969CA5"/>
          </a:solidFill>
          <a:ln>
            <a:solidFill>
              <a:srgbClr val="969C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881359" y="4134916"/>
            <a:ext cx="365760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>
                <a:solidFill>
                  <a:srgbClr val="384252"/>
                </a:solidFill>
                <a:latin typeface="Aptos"/>
              </a:rPr>
              <a:t>6%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771632" y="3781958"/>
            <a:ext cx="54864" cy="7315"/>
          </a:xfrm>
          <a:prstGeom prst="rect">
            <a:avLst/>
          </a:prstGeom>
          <a:solidFill>
            <a:srgbClr val="969CA5"/>
          </a:solidFill>
          <a:ln>
            <a:solidFill>
              <a:srgbClr val="969C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881359" y="3717950"/>
            <a:ext cx="365760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>
                <a:solidFill>
                  <a:srgbClr val="384252"/>
                </a:solidFill>
                <a:latin typeface="Aptos"/>
              </a:rPr>
              <a:t>8%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771632" y="3364991"/>
            <a:ext cx="54864" cy="7315"/>
          </a:xfrm>
          <a:prstGeom prst="rect">
            <a:avLst/>
          </a:prstGeom>
          <a:solidFill>
            <a:srgbClr val="969CA5"/>
          </a:solidFill>
          <a:ln>
            <a:solidFill>
              <a:srgbClr val="969C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881359" y="3300984"/>
            <a:ext cx="365760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>
                <a:solidFill>
                  <a:srgbClr val="384252"/>
                </a:solidFill>
                <a:latin typeface="Aptos"/>
              </a:rPr>
              <a:t>10%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771632" y="2948025"/>
            <a:ext cx="54864" cy="7315"/>
          </a:xfrm>
          <a:prstGeom prst="rect">
            <a:avLst/>
          </a:prstGeom>
          <a:solidFill>
            <a:srgbClr val="969CA5"/>
          </a:solidFill>
          <a:ln>
            <a:solidFill>
              <a:srgbClr val="969C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881359" y="2884017"/>
            <a:ext cx="365760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>
                <a:solidFill>
                  <a:srgbClr val="384252"/>
                </a:solidFill>
                <a:latin typeface="Aptos"/>
              </a:rPr>
              <a:t>12%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771632" y="2531059"/>
            <a:ext cx="54864" cy="7315"/>
          </a:xfrm>
          <a:prstGeom prst="rect">
            <a:avLst/>
          </a:prstGeom>
          <a:solidFill>
            <a:srgbClr val="969CA5"/>
          </a:solidFill>
          <a:ln>
            <a:solidFill>
              <a:srgbClr val="969C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881359" y="2467051"/>
            <a:ext cx="365760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>
                <a:solidFill>
                  <a:srgbClr val="384252"/>
                </a:solidFill>
                <a:latin typeface="Aptos"/>
              </a:rPr>
              <a:t>14%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771632" y="2114092"/>
            <a:ext cx="54864" cy="7315"/>
          </a:xfrm>
          <a:prstGeom prst="rect">
            <a:avLst/>
          </a:prstGeom>
          <a:solidFill>
            <a:srgbClr val="969CA5"/>
          </a:solidFill>
          <a:ln>
            <a:solidFill>
              <a:srgbClr val="969C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881359" y="2050084"/>
            <a:ext cx="365760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>
                <a:solidFill>
                  <a:srgbClr val="384252"/>
                </a:solidFill>
                <a:latin typeface="Aptos"/>
              </a:rPr>
              <a:t>16%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771632" y="1697126"/>
            <a:ext cx="54864" cy="7315"/>
          </a:xfrm>
          <a:prstGeom prst="rect">
            <a:avLst/>
          </a:prstGeom>
          <a:solidFill>
            <a:srgbClr val="969CA5"/>
          </a:solidFill>
          <a:ln>
            <a:solidFill>
              <a:srgbClr val="969C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881359" y="1633118"/>
            <a:ext cx="365760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>
                <a:solidFill>
                  <a:srgbClr val="384252"/>
                </a:solidFill>
                <a:latin typeface="Aptos"/>
              </a:rPr>
              <a:t>18%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771632" y="1280159"/>
            <a:ext cx="54864" cy="7315"/>
          </a:xfrm>
          <a:prstGeom prst="rect">
            <a:avLst/>
          </a:prstGeom>
          <a:solidFill>
            <a:srgbClr val="969CA5"/>
          </a:solidFill>
          <a:ln>
            <a:solidFill>
              <a:srgbClr val="969C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881359" y="1216151"/>
            <a:ext cx="365760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>
                <a:solidFill>
                  <a:srgbClr val="384252"/>
                </a:solidFill>
                <a:latin typeface="Aptos"/>
              </a:rPr>
              <a:t>20%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84048" y="3429000"/>
            <a:ext cx="256032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A7967C"/>
                </a:solidFill>
                <a:latin typeface="Times New Roman"/>
              </a:rPr>
              <a:t>УО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84048" y="4846320"/>
            <a:ext cx="2743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50" b="1">
                <a:solidFill>
                  <a:srgbClr val="345475"/>
                </a:solidFill>
                <a:latin typeface="Times New Roman"/>
              </a:rPr>
              <a:t>Ак
тив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82880" y="5806440"/>
            <a:ext cx="20116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1">
                <a:solidFill>
                  <a:srgbClr val="172233"/>
                </a:solidFill>
                <a:latin typeface="Aptos"/>
              </a:rPr>
              <a:t>Актив (снизу вверх)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617720" y="5806440"/>
            <a:ext cx="18288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1">
                <a:solidFill>
                  <a:srgbClr val="172233"/>
                </a:solidFill>
                <a:latin typeface="Aptos"/>
              </a:rPr>
              <a:t>УО (снизу вверх)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389120" y="5788152"/>
            <a:ext cx="7315" cy="640080"/>
          </a:xfrm>
          <a:prstGeom prst="rect">
            <a:avLst/>
          </a:prstGeom>
          <a:solidFill>
            <a:srgbClr val="DCDFE3"/>
          </a:solidFill>
          <a:ln>
            <a:solidFill>
              <a:srgbClr val="DCDF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412480" y="5788152"/>
            <a:ext cx="7315" cy="640080"/>
          </a:xfrm>
          <a:prstGeom prst="rect">
            <a:avLst/>
          </a:prstGeom>
          <a:solidFill>
            <a:srgbClr val="DCDFE3"/>
          </a:solidFill>
          <a:ln>
            <a:solidFill>
              <a:srgbClr val="DCDF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82880" y="6062472"/>
            <a:ext cx="256032" cy="164592"/>
          </a:xfrm>
          <a:prstGeom prst="rect">
            <a:avLst/>
          </a:prstGeom>
          <a:solidFill>
            <a:srgbClr val="34547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12064" y="6044184"/>
            <a:ext cx="1463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0">
                <a:solidFill>
                  <a:srgbClr val="384252"/>
                </a:solidFill>
                <a:latin typeface="Aptos"/>
              </a:rPr>
              <a:t>необеспеченные
договоры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103120" y="6062472"/>
            <a:ext cx="256032" cy="164592"/>
          </a:xfrm>
          <a:prstGeom prst="rect">
            <a:avLst/>
          </a:prstGeom>
          <a:solidFill>
            <a:srgbClr val="6796C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432303" y="6044184"/>
            <a:ext cx="1463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0">
                <a:solidFill>
                  <a:srgbClr val="384252"/>
                </a:solidFill>
                <a:latin typeface="Aptos"/>
              </a:rPr>
              <a:t>ПФН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154680" y="6062472"/>
            <a:ext cx="256032" cy="164592"/>
          </a:xfrm>
          <a:prstGeom prst="rect">
            <a:avLst/>
          </a:prstGeom>
          <a:solidFill>
            <a:srgbClr val="B7CDE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483864" y="6044184"/>
            <a:ext cx="1463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0">
                <a:solidFill>
                  <a:srgbClr val="384252"/>
                </a:solidFill>
                <a:latin typeface="Aptos"/>
              </a:rPr>
              <a:t>хорошие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617720" y="6062472"/>
            <a:ext cx="256032" cy="164592"/>
          </a:xfrm>
          <a:prstGeom prst="rect">
            <a:avLst/>
          </a:prstGeom>
          <a:solidFill>
            <a:srgbClr val="A7967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946904" y="6044184"/>
            <a:ext cx="1463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0">
                <a:solidFill>
                  <a:srgbClr val="384252"/>
                </a:solidFill>
                <a:latin typeface="Aptos"/>
              </a:rPr>
              <a:t>необеспеченные
договоры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537960" y="6062472"/>
            <a:ext cx="256032" cy="164592"/>
          </a:xfrm>
          <a:prstGeom prst="rect">
            <a:avLst/>
          </a:prstGeom>
          <a:solidFill>
            <a:srgbClr val="CBBDA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867144" y="6044184"/>
            <a:ext cx="1463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0">
                <a:solidFill>
                  <a:srgbClr val="384252"/>
                </a:solidFill>
                <a:latin typeface="Aptos"/>
              </a:rPr>
              <a:t>ПФН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589520" y="6062472"/>
            <a:ext cx="256032" cy="164592"/>
          </a:xfrm>
          <a:prstGeom prst="rect">
            <a:avLst/>
          </a:prstGeom>
          <a:solidFill>
            <a:srgbClr val="E4DDD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918704" y="6044184"/>
            <a:ext cx="1463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0">
                <a:solidFill>
                  <a:srgbClr val="384252"/>
                </a:solidFill>
                <a:latin typeface="Aptos"/>
              </a:rPr>
              <a:t>хорошие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641080" y="6181344"/>
            <a:ext cx="329184" cy="18288"/>
          </a:xfrm>
          <a:prstGeom prst="rect">
            <a:avLst/>
          </a:prstGeom>
          <a:solidFill>
            <a:srgbClr val="1B2029"/>
          </a:solidFill>
          <a:ln>
            <a:solidFill>
              <a:srgbClr val="1B20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8769096" y="6126479"/>
            <a:ext cx="73152" cy="73152"/>
          </a:xfrm>
          <a:prstGeom prst="ellipse">
            <a:avLst/>
          </a:prstGeom>
          <a:solidFill>
            <a:srgbClr val="1B2029"/>
          </a:solidFill>
          <a:ln>
            <a:solidFill>
              <a:srgbClr val="1B20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098280" y="5989320"/>
            <a:ext cx="24688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40" b="0">
                <a:solidFill>
                  <a:srgbClr val="384252"/>
                </a:solidFill>
                <a:latin typeface="Aptos"/>
              </a:rPr>
              <a:t>УПР = остаток резерва / (Актив + УО)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82880" y="6492240"/>
            <a:ext cx="7040880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19" b="0">
                <a:solidFill>
                  <a:srgbClr val="717A84"/>
                </a:solidFill>
                <a:latin typeface="Aptos"/>
              </a:rPr>
              <a:t>Примечание: шаблон редактируемый. Для обновления значений меняйте данные у столбчатой диаграммы и линии отдельно.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366760" y="6473952"/>
            <a:ext cx="34290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60" b="0">
                <a:solidFill>
                  <a:srgbClr val="717A84"/>
                </a:solidFill>
                <a:latin typeface="Aptos"/>
              </a:rPr>
              <a:t>КОНФИДЕНЦИАЛЬНО  |  ДЛЯ РУКОВОДСТВА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