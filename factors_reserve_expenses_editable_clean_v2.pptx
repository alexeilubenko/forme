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Рост PD</c:v>
                </c:pt>
              </c:strCache>
            </c:strRef>
          </c:tx>
          <c:spPr>
            <a:solidFill>
              <a:srgbClr val="375678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</c:v>
                </c:pt>
                <c:pt idx="1">
                  <c:v>1.4</c:v>
                </c:pt>
                <c:pt idx="2">
                  <c:v>1.9</c:v>
                </c:pt>
                <c:pt idx="3">
                  <c:v>2.4</c:v>
                </c:pt>
                <c:pt idx="4">
                  <c:v>3.0</c:v>
                </c:pt>
                <c:pt idx="5">
                  <c:v>3.7</c:v>
                </c:pt>
                <c:pt idx="6">
                  <c:v>4.4</c:v>
                </c:pt>
                <c:pt idx="7">
                  <c:v>5.1</c:v>
                </c:pt>
                <c:pt idx="8">
                  <c:v>6.2</c:v>
                </c:pt>
                <c:pt idx="9">
                  <c:v>6.8</c:v>
                </c:pt>
                <c:pt idx="10">
                  <c:v>7.8</c:v>
                </c:pt>
                <c:pt idx="11">
                  <c:v>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Рост LGD</c:v>
                </c:pt>
              </c:strCache>
            </c:strRef>
          </c:tx>
          <c:spPr>
            <a:solidFill>
              <a:srgbClr val="6A95C2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</c:v>
                </c:pt>
                <c:pt idx="1">
                  <c:v>0.8</c:v>
                </c:pt>
                <c:pt idx="2">
                  <c:v>1.0</c:v>
                </c:pt>
                <c:pt idx="3">
                  <c:v>1.4</c:v>
                </c:pt>
                <c:pt idx="4">
                  <c:v>1.7</c:v>
                </c:pt>
                <c:pt idx="5">
                  <c:v>2.1</c:v>
                </c:pt>
                <c:pt idx="6">
                  <c:v>2.6</c:v>
                </c:pt>
                <c:pt idx="7">
                  <c:v>3.1</c:v>
                </c:pt>
                <c:pt idx="8">
                  <c:v>3.6</c:v>
                </c:pt>
                <c:pt idx="9">
                  <c:v>4.2</c:v>
                </c:pt>
                <c:pt idx="10">
                  <c:v>4.4</c:v>
                </c:pt>
                <c:pt idx="11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Миграция в NPL</c:v>
                </c:pt>
              </c:strCache>
            </c:strRef>
          </c:tx>
          <c:spPr>
            <a:solidFill>
              <a:srgbClr val="A9C2DE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</c:v>
                </c:pt>
                <c:pt idx="1">
                  <c:v>0.7</c:v>
                </c:pt>
                <c:pt idx="2">
                  <c:v>1.0</c:v>
                </c:pt>
                <c:pt idx="3">
                  <c:v>1.1</c:v>
                </c:pt>
                <c:pt idx="4">
                  <c:v>1.4</c:v>
                </c:pt>
                <c:pt idx="5">
                  <c:v>1.8</c:v>
                </c:pt>
                <c:pt idx="6">
                  <c:v>2.4</c:v>
                </c:pt>
                <c:pt idx="7">
                  <c:v>2.8</c:v>
                </c:pt>
                <c:pt idx="8">
                  <c:v>3.1</c:v>
                </c:pt>
                <c:pt idx="9">
                  <c:v>3.4</c:v>
                </c:pt>
                <c:pt idx="10">
                  <c:v>4.1</c:v>
                </c:pt>
                <c:pt idx="11">
                  <c:v>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Крупные кейсы</c:v>
                </c:pt>
              </c:strCache>
            </c:strRef>
          </c:tx>
          <c:spPr>
            <a:solidFill>
              <a:srgbClr val="AE9F84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0.2</c:v>
                </c:pt>
                <c:pt idx="1">
                  <c:v>1.2</c:v>
                </c:pt>
                <c:pt idx="2">
                  <c:v>1.4</c:v>
                </c:pt>
                <c:pt idx="3">
                  <c:v>1.0</c:v>
                </c:pt>
                <c:pt idx="4">
                  <c:v>1.2</c:v>
                </c:pt>
                <c:pt idx="5">
                  <c:v>1.6</c:v>
                </c:pt>
                <c:pt idx="6">
                  <c:v>1.9</c:v>
                </c:pt>
                <c:pt idx="7">
                  <c:v>2.0</c:v>
                </c:pt>
                <c:pt idx="8">
                  <c:v>2.5</c:v>
                </c:pt>
                <c:pt idx="9">
                  <c:v>2.6</c:v>
                </c:pt>
                <c:pt idx="10">
                  <c:v>3.0</c:v>
                </c:pt>
                <c:pt idx="11">
                  <c:v>4.5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Прочие</c:v>
                </c:pt>
              </c:strCache>
            </c:strRef>
          </c:tx>
          <c:spPr>
            <a:solidFill>
              <a:srgbClr val="CBD4DF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0.2</c:v>
                </c:pt>
                <c:pt idx="1">
                  <c:v>0.9</c:v>
                </c:pt>
                <c:pt idx="2">
                  <c:v>2.7</c:v>
                </c:pt>
                <c:pt idx="3">
                  <c:v>4.1</c:v>
                </c:pt>
                <c:pt idx="4">
                  <c:v>4.7</c:v>
                </c:pt>
                <c:pt idx="5">
                  <c:v>5.8</c:v>
                </c:pt>
                <c:pt idx="6">
                  <c:v>5.7</c:v>
                </c:pt>
                <c:pt idx="7">
                  <c:v>6.0</c:v>
                </c:pt>
                <c:pt idx="8">
                  <c:v>6.6</c:v>
                </c:pt>
                <c:pt idx="9">
                  <c:v>7.0</c:v>
                </c:pt>
                <c:pt idx="10">
                  <c:v>7.7</c:v>
                </c:pt>
                <c:pt idx="11">
                  <c:v>7.6</c:v>
                </c:pt>
              </c:numCache>
            </c:numRef>
          </c:val>
        </c:ser>
        <c:gapWidth val="4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89EA6"/>
            </a:solidFill>
          </a:ln>
        </c:spPr>
        <c:txPr>
          <a:bodyPr/>
          <a:lstStyle/>
          <a:p>
            <a:pPr>
              <a:defRPr sz="1050">
                <a:solidFill>
                  <a:srgbClr val="3F485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 val="0"/>
        <c:axPos val="l"/>
        <c:majorGridlines>
          <c:spPr>
            <a:ln w="10160">
              <a:solidFill>
                <a:srgbClr val="DCE0E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50" b="1">
                    <a:solidFill>
                      <a:srgbClr val="3F4856"/>
                    </a:solidFill>
                    <a:latin typeface="Aptos"/>
                  </a:defRPr>
                </a:pPr>
                <a:r>
                  <a:t>Расходы на резервы, млн руб.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F4856"/>
                </a:solidFill>
                <a:latin typeface="Aptos"/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F4856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2334"/>
                </a:solidFill>
                <a:latin typeface="Times New Roman"/>
              </a:rPr>
              <a:t>Факторы расходов на резервы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43891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67E88"/>
                </a:solidFill>
                <a:latin typeface="Aptos"/>
              </a:rPr>
              <a:t>Редактируемый шаблон PowerPoint. Показаны абсолютные величины факторов, млн руб.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005840"/>
          <a:ext cx="106070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498848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329030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4018657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811741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604826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3294452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087536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621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70247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363332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052958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742585"/>
            <a:ext cx="7406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82334"/>
                </a:solidFill>
                <a:latin typeface="Aptos"/>
              </a:rPr>
              <a:t>-30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877824"/>
            <a:ext cx="1901952" cy="585216"/>
          </a:xfrm>
          <a:prstGeom prst="roundRect">
            <a:avLst>
              <a:gd name="adj" fmla="val 3000"/>
            </a:avLst>
          </a:prstGeom>
          <a:solidFill>
            <a:srgbClr val="F8F9FB"/>
          </a:solidFill>
          <a:ln>
            <a:solidFill>
              <a:srgbClr val="E6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978408"/>
            <a:ext cx="16276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3F4856"/>
                </a:solidFill>
                <a:latin typeface="Aptos"/>
              </a:rPr>
              <a:t>Чтобы изменить данные, кликните по диаграмме и выберите «Изменить данные».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537960"/>
            <a:ext cx="5669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67E88"/>
                </a:solidFill>
                <a:latin typeface="Aptos"/>
              </a:rPr>
              <a:t>Примечание: значения над столбцами обновляются вручную; оси и сама диаграмма привязаны к объекту графика.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6528816"/>
            <a:ext cx="2560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19" b="0">
                <a:solidFill>
                  <a:srgbClr val="767E88"/>
                </a:solidFill>
                <a:latin typeface="Aptos"/>
              </a:rPr>
              <a:t>КОНФИДЕНЦИАЛЬНО  |  ДЛЯ РУКОВОДСТВА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