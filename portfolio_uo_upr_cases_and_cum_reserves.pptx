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 — необеспеченные договоры</c:v>
                </c:pt>
              </c:strCache>
            </c:strRef>
          </c:tx>
          <c:spPr>
            <a:solidFill>
              <a:srgbClr val="375678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2050</c:v>
                </c:pt>
                <c:pt idx="1">
                  <c:v>2180</c:v>
                </c:pt>
                <c:pt idx="2">
                  <c:v>2260</c:v>
                </c:pt>
                <c:pt idx="3">
                  <c:v>2330</c:v>
                </c:pt>
                <c:pt idx="4">
                  <c:v>2430</c:v>
                </c:pt>
                <c:pt idx="5">
                  <c:v>2520</c:v>
                </c:pt>
                <c:pt idx="6">
                  <c:v>2600</c:v>
                </c:pt>
                <c:pt idx="7">
                  <c:v>2710</c:v>
                </c:pt>
                <c:pt idx="8">
                  <c:v>2800</c:v>
                </c:pt>
                <c:pt idx="9">
                  <c:v>2900</c:v>
                </c:pt>
                <c:pt idx="10">
                  <c:v>3020</c:v>
                </c:pt>
                <c:pt idx="11">
                  <c:v>3130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Актив — ПФН</c:v>
                </c:pt>
              </c:strCache>
            </c:strRef>
          </c:tx>
          <c:spPr>
            <a:solidFill>
              <a:srgbClr val="6A95C2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1480</c:v>
                </c:pt>
                <c:pt idx="1">
                  <c:v>1560</c:v>
                </c:pt>
                <c:pt idx="2">
                  <c:v>1680</c:v>
                </c:pt>
                <c:pt idx="3">
                  <c:v>1720</c:v>
                </c:pt>
                <c:pt idx="4">
                  <c:v>1790</c:v>
                </c:pt>
                <c:pt idx="5">
                  <c:v>1880</c:v>
                </c:pt>
                <c:pt idx="6">
                  <c:v>1930</c:v>
                </c:pt>
                <c:pt idx="7">
                  <c:v>1980</c:v>
                </c:pt>
                <c:pt idx="8">
                  <c:v>2060</c:v>
                </c:pt>
                <c:pt idx="9">
                  <c:v>2150</c:v>
                </c:pt>
                <c:pt idx="10">
                  <c:v>2220</c:v>
                </c:pt>
                <c:pt idx="11">
                  <c:v>2290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Актив — хорошие</c:v>
                </c:pt>
              </c:strCache>
            </c:strRef>
          </c:tx>
          <c:spPr>
            <a:solidFill>
              <a:srgbClr val="A9C2DE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3F4856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1190</c:v>
                </c:pt>
                <c:pt idx="1">
                  <c:v>1290</c:v>
                </c:pt>
                <c:pt idx="2">
                  <c:v>1280</c:v>
                </c:pt>
                <c:pt idx="3">
                  <c:v>1350</c:v>
                </c:pt>
                <c:pt idx="4">
                  <c:v>1380</c:v>
                </c:pt>
                <c:pt idx="5">
                  <c:v>1410</c:v>
                </c:pt>
                <c:pt idx="6">
                  <c:v>1420</c:v>
                </c:pt>
                <c:pt idx="7">
                  <c:v>1450</c:v>
                </c:pt>
                <c:pt idx="8">
                  <c:v>1470</c:v>
                </c:pt>
                <c:pt idx="9">
                  <c:v>1450</c:v>
                </c:pt>
                <c:pt idx="10">
                  <c:v>1480</c:v>
                </c:pt>
                <c:pt idx="11">
                  <c:v>1440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УО — необеспеченные договоры</c:v>
                </c:pt>
              </c:strCache>
            </c:strRef>
          </c:tx>
          <c:spPr>
            <a:solidFill>
              <a:srgbClr val="AE9F84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1200</c:v>
                </c:pt>
                <c:pt idx="1">
                  <c:v>1280</c:v>
                </c:pt>
                <c:pt idx="2">
                  <c:v>1410</c:v>
                </c:pt>
                <c:pt idx="3">
                  <c:v>1450</c:v>
                </c:pt>
                <c:pt idx="4">
                  <c:v>1520</c:v>
                </c:pt>
                <c:pt idx="5">
                  <c:v>1550</c:v>
                </c:pt>
                <c:pt idx="6">
                  <c:v>1590</c:v>
                </c:pt>
                <c:pt idx="7">
                  <c:v>1650</c:v>
                </c:pt>
                <c:pt idx="8">
                  <c:v>1700</c:v>
                </c:pt>
                <c:pt idx="9">
                  <c:v>1760</c:v>
                </c:pt>
                <c:pt idx="10">
                  <c:v>1820</c:v>
                </c:pt>
                <c:pt idx="11">
                  <c:v>1900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УО — ПФН</c:v>
                </c:pt>
              </c:strCache>
            </c:strRef>
          </c:tx>
          <c:spPr>
            <a:solidFill>
              <a:srgbClr val="CDC1AB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3F4856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880</c:v>
                </c:pt>
                <c:pt idx="1">
                  <c:v>910</c:v>
                </c:pt>
                <c:pt idx="2">
                  <c:v>940</c:v>
                </c:pt>
                <c:pt idx="3">
                  <c:v>980</c:v>
                </c:pt>
                <c:pt idx="4">
                  <c:v>1020</c:v>
                </c:pt>
                <c:pt idx="5">
                  <c:v>1070</c:v>
                </c:pt>
                <c:pt idx="6">
                  <c:v>1100</c:v>
                </c:pt>
                <c:pt idx="7">
                  <c:v>1140</c:v>
                </c:pt>
                <c:pt idx="8">
                  <c:v>1190</c:v>
                </c:pt>
                <c:pt idx="9">
                  <c:v>1230</c:v>
                </c:pt>
                <c:pt idx="10">
                  <c:v>1260</c:v>
                </c:pt>
                <c:pt idx="11">
                  <c:v>1300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УО — хорошие</c:v>
                </c:pt>
              </c:strCache>
            </c:strRef>
          </c:tx>
          <c:spPr>
            <a:solidFill>
              <a:srgbClr val="E6DFD5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720">
                    <a:solidFill>
                      <a:srgbClr val="3F4856"/>
                    </a:solidFill>
                    <a:latin typeface="Apto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620</c:v>
                </c:pt>
                <c:pt idx="1">
                  <c:v>660</c:v>
                </c:pt>
                <c:pt idx="2">
                  <c:v>700</c:v>
                </c:pt>
                <c:pt idx="3">
                  <c:v>730</c:v>
                </c:pt>
                <c:pt idx="4">
                  <c:v>770</c:v>
                </c:pt>
                <c:pt idx="5">
                  <c:v>810</c:v>
                </c:pt>
                <c:pt idx="6">
                  <c:v>820</c:v>
                </c:pt>
                <c:pt idx="7">
                  <c:v>860</c:v>
                </c:pt>
                <c:pt idx="8">
                  <c:v>900</c:v>
                </c:pt>
                <c:pt idx="9">
                  <c:v>930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89EA6"/>
            </a:solidFill>
          </a:ln>
        </c:spPr>
        <c:txPr>
          <a:bodyPr/>
          <a:lstStyle/>
          <a:p>
            <a:pPr>
              <a:defRPr sz="1019">
                <a:solidFill>
                  <a:srgbClr val="3F4856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0.0"/>
          <c:min val="0.0"/>
        </c:scaling>
        <c:delete val="0"/>
        <c:axPos val="l"/>
        <c:majorGridlines>
          <c:spPr>
            <a:ln w="10160">
              <a:solidFill>
                <a:srgbClr val="DCE0E5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20" b="1">
                    <a:solidFill>
                      <a:srgbClr val="3F4856"/>
                    </a:solidFill>
                    <a:latin typeface="Aptos"/>
                  </a:defRPr>
                </a:pPr>
                <a:r>
                  <a:t>Объем, млн руб.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80">
                <a:solidFill>
                  <a:srgbClr val="3F4856"/>
                </a:solidFill>
                <a:latin typeface="Aptos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УПР</c:v>
                </c:pt>
              </c:strCache>
            </c:strRef>
          </c:tx>
          <c:spPr>
            <a:ln w="25400">
              <a:solidFill>
                <a:srgbClr val="1C2027"/>
              </a:solidFill>
            </a:ln>
          </c:spPr>
          <c:marker>
            <c:size val="5"/>
            <c:spPr>
              <a:solidFill>
                <a:srgbClr val="1C2027"/>
              </a:solidFill>
              <a:ln>
                <a:solidFill>
                  <a:srgbClr val="1C2027"/>
                </a:solidFill>
              </a:ln>
            </c:spPr>
          </c:marker>
          <c:dLbls>
            <c:numFmt formatCode="0.0&quot;%&quot;" sourceLinked="0"/>
            <c:txPr>
              <a:bodyPr/>
              <a:lstStyle/>
              <a:p>
                <a:pPr>
                  <a:defRPr sz="819">
                    <a:solidFill>
                      <a:srgbClr val="1C2027"/>
                    </a:solidFill>
                    <a:latin typeface="Apto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18.2</c:v>
                </c:pt>
                <c:pt idx="1">
                  <c:v>17.5</c:v>
                </c:pt>
                <c:pt idx="2">
                  <c:v>16.8</c:v>
                </c:pt>
                <c:pt idx="3">
                  <c:v>15.6</c:v>
                </c:pt>
                <c:pt idx="4">
                  <c:v>14.9</c:v>
                </c:pt>
                <c:pt idx="5">
                  <c:v>14.1</c:v>
                </c:pt>
                <c:pt idx="6">
                  <c:v>13.4</c:v>
                </c:pt>
                <c:pt idx="7">
                  <c:v>12.8</c:v>
                </c:pt>
                <c:pt idx="8">
                  <c:v>12.1</c:v>
                </c:pt>
                <c:pt idx="9">
                  <c:v>11.6</c:v>
                </c:pt>
                <c:pt idx="10">
                  <c:v>11.2</c:v>
                </c:pt>
                <c:pt idx="11">
                  <c:v>10.7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TickMark val="out"/>
        <c:minorTickMark val="none"/>
        <c:tickLblPos val="none"/>
        <c:spPr>
          <a:ln>
            <a:solidFill>
              <a:srgbClr val="FFFFFF"/>
            </a:solidFill>
          </a:ln>
        </c:spPr>
        <c:crossAx val="2118791784"/>
        <c:crosses val="autoZero"/>
        <c:majorUnit val="2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7772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82334"/>
                </a:solidFill>
                <a:latin typeface="Times New Roman"/>
              </a:rPr>
              <a:t>Портфель Актив + УО: структура и УПР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" y="448056"/>
            <a:ext cx="4389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67E88"/>
                </a:solidFill>
                <a:latin typeface="Aptos"/>
              </a:rPr>
              <a:t>УПР = остаток резерва / (Актив + УО)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41832" y="1051560"/>
          <a:ext cx="7955279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41832" y="1051560"/>
          <a:ext cx="7955279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0624" y="2862072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AE9F84"/>
                </a:solidFill>
                <a:latin typeface="Times New Roman"/>
              </a:rPr>
              <a:t>УО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169663"/>
            <a:ext cx="32918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30" b="1">
                <a:solidFill>
                  <a:srgbClr val="375678"/>
                </a:solidFill>
                <a:latin typeface="Times New Roman"/>
              </a:rPr>
              <a:t>Ак
тив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9382" y="960120"/>
            <a:ext cx="595122" cy="438912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708B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768096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1">
                <a:solidFill>
                  <a:srgbClr val="767E88"/>
                </a:solidFill>
                <a:latin typeface="Aptos"/>
              </a:rPr>
              <a:t>Итог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7 420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2986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7 880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5540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8 270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8094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8 560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0648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8 910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3202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9 240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5756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9 460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8310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9 790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0864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10 120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3418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10 420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5972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10 780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8526" y="768096"/>
            <a:ext cx="62255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82334"/>
                </a:solidFill>
                <a:latin typeface="Aptos"/>
              </a:rPr>
              <a:t>11 080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749808"/>
            <a:ext cx="60350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1">
                <a:solidFill>
                  <a:srgbClr val="3F4856"/>
                </a:solidFill>
                <a:latin typeface="Aptos"/>
              </a:rPr>
              <a:t>УПР,
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4272" y="1280160"/>
            <a:ext cx="9144" cy="3822191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4272" y="5102352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5056632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4272" y="4720132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4674412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4272" y="4337913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2" y="4292193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34272" y="3955694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5712" y="3909974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34272" y="3573475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3527755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34272" y="3191256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3145536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10%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34272" y="2809036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5712" y="2763316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12%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34272" y="2426817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5712" y="2381097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14%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4272" y="2044598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25712" y="1998878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16%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34272" y="1662379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25712" y="1616659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18%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34272" y="1280160"/>
            <a:ext cx="45720" cy="7315"/>
          </a:xfrm>
          <a:prstGeom prst="rect">
            <a:avLst/>
          </a:prstGeom>
          <a:solidFill>
            <a:srgbClr val="989EA6"/>
          </a:solidFill>
          <a:ln>
            <a:solidFill>
              <a:srgbClr val="989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5712" y="1234440"/>
            <a:ext cx="310896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3F4856"/>
                </a:solidFill>
                <a:latin typeface="Aptos"/>
              </a:rPr>
              <a:t>20%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1097280"/>
            <a:ext cx="2194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1">
                <a:solidFill>
                  <a:srgbClr val="182334"/>
                </a:solidFill>
                <a:latin typeface="Aptos"/>
              </a:rPr>
              <a:t>Крупные кейсы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64040" y="1353312"/>
            <a:ext cx="2240280" cy="3474720"/>
          </a:xfrm>
          <a:prstGeom prst="roundRect">
            <a:avLst>
              <a:gd name="adj" fmla="val 2000"/>
            </a:avLst>
          </a:prstGeom>
          <a:solidFill>
            <a:srgbClr val="F7F9FB"/>
          </a:solidFill>
          <a:ln w="1143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73767" y="1481328"/>
            <a:ext cx="1993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F4856"/>
                </a:solidFill>
                <a:latin typeface="Aptos"/>
              </a:rPr>
              <a:t>1. [Название кейса] — сумма / статус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73767" y="2084832"/>
            <a:ext cx="1993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F4856"/>
                </a:solidFill>
                <a:latin typeface="Aptos"/>
              </a:rPr>
              <a:t>2. [Название кейса] — сумма / статус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73767" y="2688336"/>
            <a:ext cx="1993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F4856"/>
                </a:solidFill>
                <a:latin typeface="Aptos"/>
              </a:rPr>
              <a:t>3. [Название кейса] — сумма / статус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73767" y="3291840"/>
            <a:ext cx="1993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F4856"/>
                </a:solidFill>
                <a:latin typeface="Aptos"/>
              </a:rPr>
              <a:t>4. [Название кейса] — сумма / статус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73767" y="3895344"/>
            <a:ext cx="1993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F4856"/>
                </a:solidFill>
                <a:latin typeface="Aptos"/>
              </a:rPr>
              <a:t>5. [Комментарий / next steps]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5175504"/>
            <a:ext cx="36576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1">
                <a:solidFill>
                  <a:srgbClr val="767E88"/>
                </a:solidFill>
                <a:latin typeface="Aptos"/>
              </a:rPr>
              <a:t>Расходы на резервы накопленным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9808" y="5321808"/>
            <a:ext cx="8193024" cy="73152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 w="10160">
            <a:solidFill>
              <a:srgbClr val="E5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822960" y="5394960"/>
          <a:ext cx="8041224" cy="530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36752"/>
                <a:gridCol w="536752"/>
                <a:gridCol w="536752"/>
                <a:gridCol w="536752"/>
                <a:gridCol w="536752"/>
                <a:gridCol w="536752"/>
                <a:gridCol w="536752"/>
                <a:gridCol w="536752"/>
                <a:gridCol w="536752"/>
                <a:gridCol w="536752"/>
                <a:gridCol w="536752"/>
                <a:gridCol w="536752"/>
              </a:tblGrid>
              <a:tr h="265176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Янв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Фев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Мар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Апр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Май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Июн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Июл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Авг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Сен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Окт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Ноя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82334"/>
                          </a:solidFill>
                          <a:latin typeface="Aptos"/>
                        </a:rPr>
                        <a:t>Дек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3F4856"/>
                          </a:solidFill>
                          <a:latin typeface="Aptos"/>
                        </a:rPr>
                        <a:t>Расходы на резервы</a:t>
                      </a:r>
                    </a:p>
                    <a:p>
                      <a:pPr algn="l"/>
                      <a:r>
                        <a:rPr sz="819" b="1">
                          <a:solidFill>
                            <a:srgbClr val="3F4856"/>
                          </a:solidFill>
                          <a:latin typeface="Aptos"/>
                        </a:rPr>
                        <a:t>накопленным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3F4856"/>
                          </a:solidFill>
                          <a:latin typeface="Aptos"/>
                        </a:rPr>
                        <a:t>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182880" y="6144768"/>
            <a:ext cx="822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82334"/>
                </a:solidFill>
                <a:latin typeface="Aptos"/>
              </a:rPr>
              <a:t>Актив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84448" y="6144768"/>
            <a:ext cx="640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1">
                <a:solidFill>
                  <a:srgbClr val="182334"/>
                </a:solidFill>
                <a:latin typeface="Aptos"/>
              </a:rPr>
              <a:t>УО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91840" y="6126480"/>
            <a:ext cx="7315" cy="402336"/>
          </a:xfrm>
          <a:prstGeom prst="rect">
            <a:avLst/>
          </a:prstGeom>
          <a:solidFill>
            <a:srgbClr val="DCDFE3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56832" y="6126480"/>
            <a:ext cx="7315" cy="402336"/>
          </a:xfrm>
          <a:prstGeom prst="rect">
            <a:avLst/>
          </a:prstGeom>
          <a:solidFill>
            <a:srgbClr val="DCDFE3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2880" y="6309359"/>
            <a:ext cx="201168" cy="128016"/>
          </a:xfrm>
          <a:prstGeom prst="rect">
            <a:avLst/>
          </a:prstGeom>
          <a:solidFill>
            <a:srgbClr val="3756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8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необесп.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70432" y="6309359"/>
            <a:ext cx="201168" cy="128016"/>
          </a:xfrm>
          <a:prstGeom prst="rect">
            <a:avLst/>
          </a:prstGeom>
          <a:solidFill>
            <a:srgbClr val="6A95C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17320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ПФН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01952" y="6309359"/>
            <a:ext cx="201168" cy="128016"/>
          </a:xfrm>
          <a:prstGeom prst="rect">
            <a:avLst/>
          </a:prstGeom>
          <a:solidFill>
            <a:srgbClr val="A9C2D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48840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хорошие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84448" y="6309359"/>
            <a:ext cx="201168" cy="128016"/>
          </a:xfrm>
          <a:prstGeom prst="rect">
            <a:avLst/>
          </a:prstGeom>
          <a:solidFill>
            <a:srgbClr val="AE9F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31335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необесп.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6309359"/>
            <a:ext cx="201168" cy="128016"/>
          </a:xfrm>
          <a:prstGeom prst="rect">
            <a:avLst/>
          </a:prstGeom>
          <a:solidFill>
            <a:srgbClr val="CDC1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18888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ПФН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03520" y="6309359"/>
            <a:ext cx="201168" cy="128016"/>
          </a:xfrm>
          <a:prstGeom prst="rect">
            <a:avLst/>
          </a:prstGeom>
          <a:solidFill>
            <a:srgbClr val="E6DF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0408" y="6300216"/>
            <a:ext cx="69494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>
                <a:solidFill>
                  <a:srgbClr val="3F4856"/>
                </a:solidFill>
                <a:latin typeface="Aptos"/>
              </a:rPr>
              <a:t>хорошие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05472" y="6373368"/>
            <a:ext cx="310896" cy="16459"/>
          </a:xfrm>
          <a:prstGeom prst="rect">
            <a:avLst/>
          </a:prstGeom>
          <a:solidFill>
            <a:srgbClr val="1C2027"/>
          </a:solidFill>
          <a:ln>
            <a:solidFill>
              <a:srgbClr val="1C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324344" y="6327648"/>
            <a:ext cx="73152" cy="73152"/>
          </a:xfrm>
          <a:prstGeom prst="ellipse">
            <a:avLst/>
          </a:prstGeom>
          <a:solidFill>
            <a:srgbClr val="1C2027"/>
          </a:solidFill>
          <a:ln>
            <a:solidFill>
              <a:srgbClr val="1C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89520" y="6236207"/>
            <a:ext cx="2286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90" b="0">
                <a:solidFill>
                  <a:srgbClr val="3F4856"/>
                </a:solidFill>
                <a:latin typeface="Aptos"/>
              </a:rPr>
              <a:t>УПР = остаток резерва / (Актив + УО)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" y="6620256"/>
            <a:ext cx="713232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767E88"/>
                </a:solidFill>
                <a:latin typeface="Aptos"/>
              </a:rPr>
              <a:t>Шаблон редактируемый: обновите данные у столбчатой диаграммы, линии УПР и нижней таблицы.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58200" y="6611112"/>
            <a:ext cx="324612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30" b="0">
                <a:solidFill>
                  <a:srgbClr val="767E88"/>
                </a:solidFill>
                <a:latin typeface="Aptos"/>
              </a:rPr>
              <a:t>КОНФИДЕНЦИАЛЬНО  |  ДЛЯ РУКОВОДСТВА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