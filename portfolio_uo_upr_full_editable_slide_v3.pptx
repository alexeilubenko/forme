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 — необеспеченные договоры</c:v>
                </c:pt>
              </c:strCache>
            </c:strRef>
          </c:tx>
          <c:spPr>
            <a:solidFill>
              <a:srgbClr val="375678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2050</c:v>
                </c:pt>
                <c:pt idx="1">
                  <c:v>2180</c:v>
                </c:pt>
                <c:pt idx="2">
                  <c:v>2260</c:v>
                </c:pt>
                <c:pt idx="3">
                  <c:v>2330</c:v>
                </c:pt>
                <c:pt idx="4">
                  <c:v>2430</c:v>
                </c:pt>
                <c:pt idx="5">
                  <c:v>2520</c:v>
                </c:pt>
                <c:pt idx="6">
                  <c:v>2600</c:v>
                </c:pt>
                <c:pt idx="7">
                  <c:v>2710</c:v>
                </c:pt>
                <c:pt idx="8">
                  <c:v>2800</c:v>
                </c:pt>
                <c:pt idx="9">
                  <c:v>2900</c:v>
                </c:pt>
                <c:pt idx="10">
                  <c:v>3020</c:v>
                </c:pt>
                <c:pt idx="11">
                  <c:v>3130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Актив — ПФН</c:v>
                </c:pt>
              </c:strCache>
            </c:strRef>
          </c:tx>
          <c:spPr>
            <a:solidFill>
              <a:srgbClr val="6A95C2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1480</c:v>
                </c:pt>
                <c:pt idx="1">
                  <c:v>1560</c:v>
                </c:pt>
                <c:pt idx="2">
                  <c:v>1680</c:v>
                </c:pt>
                <c:pt idx="3">
                  <c:v>1720</c:v>
                </c:pt>
                <c:pt idx="4">
                  <c:v>1790</c:v>
                </c:pt>
                <c:pt idx="5">
                  <c:v>1880</c:v>
                </c:pt>
                <c:pt idx="6">
                  <c:v>1930</c:v>
                </c:pt>
                <c:pt idx="7">
                  <c:v>1980</c:v>
                </c:pt>
                <c:pt idx="8">
                  <c:v>2060</c:v>
                </c:pt>
                <c:pt idx="9">
                  <c:v>2150</c:v>
                </c:pt>
                <c:pt idx="10">
                  <c:v>2220</c:v>
                </c:pt>
                <c:pt idx="11">
                  <c:v>2290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Актив — хорошие</c:v>
                </c:pt>
              </c:strCache>
            </c:strRef>
          </c:tx>
          <c:spPr>
            <a:solidFill>
              <a:srgbClr val="A9C2DE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1190</c:v>
                </c:pt>
                <c:pt idx="1">
                  <c:v>1290</c:v>
                </c:pt>
                <c:pt idx="2">
                  <c:v>1280</c:v>
                </c:pt>
                <c:pt idx="3">
                  <c:v>1350</c:v>
                </c:pt>
                <c:pt idx="4">
                  <c:v>1380</c:v>
                </c:pt>
                <c:pt idx="5">
                  <c:v>1410</c:v>
                </c:pt>
                <c:pt idx="6">
                  <c:v>1420</c:v>
                </c:pt>
                <c:pt idx="7">
                  <c:v>1450</c:v>
                </c:pt>
                <c:pt idx="8">
                  <c:v>1470</c:v>
                </c:pt>
                <c:pt idx="9">
                  <c:v>1450</c:v>
                </c:pt>
                <c:pt idx="10">
                  <c:v>1480</c:v>
                </c:pt>
                <c:pt idx="11">
                  <c:v>1440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УО — необеспеченные договоры</c:v>
                </c:pt>
              </c:strCache>
            </c:strRef>
          </c:tx>
          <c:spPr>
            <a:solidFill>
              <a:srgbClr val="AE9F84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1200</c:v>
                </c:pt>
                <c:pt idx="1">
                  <c:v>1280</c:v>
                </c:pt>
                <c:pt idx="2">
                  <c:v>1410</c:v>
                </c:pt>
                <c:pt idx="3">
                  <c:v>1450</c:v>
                </c:pt>
                <c:pt idx="4">
                  <c:v>1520</c:v>
                </c:pt>
                <c:pt idx="5">
                  <c:v>1550</c:v>
                </c:pt>
                <c:pt idx="6">
                  <c:v>1590</c:v>
                </c:pt>
                <c:pt idx="7">
                  <c:v>1650</c:v>
                </c:pt>
                <c:pt idx="8">
                  <c:v>1700</c:v>
                </c:pt>
                <c:pt idx="9">
                  <c:v>1760</c:v>
                </c:pt>
                <c:pt idx="10">
                  <c:v>1820</c:v>
                </c:pt>
                <c:pt idx="11">
                  <c:v>1900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УО — ПФН</c:v>
                </c:pt>
              </c:strCache>
            </c:strRef>
          </c:tx>
          <c:spPr>
            <a:solidFill>
              <a:srgbClr val="CDC1AB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880</c:v>
                </c:pt>
                <c:pt idx="1">
                  <c:v>910</c:v>
                </c:pt>
                <c:pt idx="2">
                  <c:v>940</c:v>
                </c:pt>
                <c:pt idx="3">
                  <c:v>980</c:v>
                </c:pt>
                <c:pt idx="4">
                  <c:v>1020</c:v>
                </c:pt>
                <c:pt idx="5">
                  <c:v>1070</c:v>
                </c:pt>
                <c:pt idx="6">
                  <c:v>1100</c:v>
                </c:pt>
                <c:pt idx="7">
                  <c:v>1140</c:v>
                </c:pt>
                <c:pt idx="8">
                  <c:v>1190</c:v>
                </c:pt>
                <c:pt idx="9">
                  <c:v>1230</c:v>
                </c:pt>
                <c:pt idx="10">
                  <c:v>1260</c:v>
                </c:pt>
                <c:pt idx="11">
                  <c:v>1300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УО — хорошие</c:v>
                </c:pt>
              </c:strCache>
            </c:strRef>
          </c:tx>
          <c:spPr>
            <a:solidFill>
              <a:srgbClr val="E6DFD5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6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620</c:v>
                </c:pt>
                <c:pt idx="1">
                  <c:v>660</c:v>
                </c:pt>
                <c:pt idx="2">
                  <c:v>700</c:v>
                </c:pt>
                <c:pt idx="3">
                  <c:v>730</c:v>
                </c:pt>
                <c:pt idx="4">
                  <c:v>770</c:v>
                </c:pt>
                <c:pt idx="5">
                  <c:v>810</c:v>
                </c:pt>
                <c:pt idx="6">
                  <c:v>820</c:v>
                </c:pt>
                <c:pt idx="7">
                  <c:v>860</c:v>
                </c:pt>
                <c:pt idx="8">
                  <c:v>900</c:v>
                </c:pt>
                <c:pt idx="9">
                  <c:v>930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gapWidth val="4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89EA6"/>
            </a:solidFill>
          </a:ln>
        </c:spPr>
        <c:txPr>
          <a:bodyPr/>
          <a:lstStyle/>
          <a:p>
            <a:pPr>
              <a:defRPr sz="1050">
                <a:solidFill>
                  <a:srgbClr val="3F485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10160">
              <a:solidFill>
                <a:srgbClr val="DCE0E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50" b="1">
                    <a:solidFill>
                      <a:srgbClr val="3F4856"/>
                    </a:solidFill>
                    <a:latin typeface="Aptos"/>
                  </a:defRPr>
                </a:pPr>
                <a:r>
                  <a:t>Объем,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F4856"/>
                </a:solidFill>
                <a:latin typeface="Aptos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УПР</c:v>
                </c:pt>
              </c:strCache>
            </c:strRef>
          </c:tx>
          <c:spPr>
            <a:ln w="25400">
              <a:solidFill>
                <a:srgbClr val="1C2027"/>
              </a:solidFill>
            </a:ln>
          </c:spPr>
          <c:marker>
            <c:size val="6"/>
            <c:spPr>
              <a:solidFill>
                <a:srgbClr val="1C2027"/>
              </a:solidFill>
              <a:ln>
                <a:solidFill>
                  <a:srgbClr val="1C2027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860">
                    <a:solidFill>
                      <a:srgbClr val="1C2027"/>
                    </a:solidFill>
                    <a:latin typeface="Apto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17.5</c:v>
                </c:pt>
                <c:pt idx="2">
                  <c:v>16.8</c:v>
                </c:pt>
                <c:pt idx="3">
                  <c:v>15.6</c:v>
                </c:pt>
                <c:pt idx="4">
                  <c:v>14.9</c:v>
                </c:pt>
                <c:pt idx="5">
                  <c:v>14.1</c:v>
                </c:pt>
                <c:pt idx="6">
                  <c:v>13.4</c:v>
                </c:pt>
                <c:pt idx="7">
                  <c:v>12.8</c:v>
                </c:pt>
                <c:pt idx="8">
                  <c:v>12.1</c:v>
                </c:pt>
                <c:pt idx="9">
                  <c:v>11.6</c:v>
                </c:pt>
                <c:pt idx="10">
                  <c:v>11.2</c:v>
                </c:pt>
                <c:pt idx="11">
                  <c:v>10.7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863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2334"/>
                </a:solidFill>
                <a:latin typeface="Times New Roman"/>
              </a:rPr>
              <a:t>Портфель Актив + УО: структура и УПР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48056"/>
            <a:ext cx="4206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67E88"/>
                </a:solidFill>
                <a:latin typeface="Aptos"/>
              </a:rPr>
              <a:t>УПР = остаток резерва / (Актив + УО)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60120" y="1051560"/>
          <a:ext cx="93726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60120" y="1051560"/>
          <a:ext cx="93726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624" y="297180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AE9F84"/>
                </a:solidFill>
                <a:latin typeface="Times New Roman"/>
              </a:rPr>
              <a:t>УО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315968"/>
            <a:ext cx="3291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375678"/>
                </a:solidFill>
                <a:latin typeface="Times New Roman"/>
              </a:rPr>
              <a:t>Ак
тив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84030" y="960120"/>
            <a:ext cx="720089" cy="44805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708B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768096"/>
            <a:ext cx="4754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1">
                <a:solidFill>
                  <a:srgbClr val="767E88"/>
                </a:solidFill>
                <a:latin typeface="Aptos"/>
              </a:rPr>
              <a:t>Итог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7 420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8810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7 880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6332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8 270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853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8 560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8 910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8898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9 240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6420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9 460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942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9 790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10 120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8986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10 420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508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10 780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4030" y="768096"/>
            <a:ext cx="747521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82334"/>
                </a:solidFill>
                <a:latin typeface="Aptos"/>
              </a:rPr>
              <a:t>11 080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0736" y="749808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F4856"/>
                </a:solidFill>
                <a:latin typeface="Aptos"/>
              </a:rPr>
              <a:t>УПР,
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2" y="1298448"/>
            <a:ext cx="9144" cy="3968496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88752" y="5266944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9336" y="5216652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88752" y="4870094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9336" y="4819802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88752" y="4473244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9336" y="4422952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88752" y="4076395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9336" y="4026103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88752" y="3679545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9336" y="3629253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88752" y="3282696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89336" y="3232403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88752" y="2885846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89336" y="2835554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88752" y="2488996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89336" y="2438704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88752" y="2092147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89336" y="2041855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88752" y="1695297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9336" y="1645005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88752" y="1298448"/>
            <a:ext cx="54864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9336" y="1248156"/>
            <a:ext cx="347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20%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" y="5376672"/>
            <a:ext cx="9646920" cy="65836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" y="5239512"/>
            <a:ext cx="237744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67E88"/>
                </a:solidFill>
                <a:latin typeface="Aptos"/>
              </a:rPr>
              <a:t>Объемы отдельно по Активу и УО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468112"/>
            <a:ext cx="5486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375678"/>
                </a:solidFill>
                <a:latin typeface="Aptos"/>
              </a:rPr>
              <a:t>Актив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724144"/>
            <a:ext cx="5486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AE9F84"/>
                </a:solidFill>
                <a:latin typeface="Aptos"/>
              </a:rPr>
              <a:t>УО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4 720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1288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2 700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8810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5 030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08810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2 850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6332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5 220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6332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3 050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3853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3853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3 160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51376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5 600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3 310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8898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5 810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8898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3 430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46420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5 950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46420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3 510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3942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6 140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3942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3 650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1464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6 330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4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3 790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88986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6 500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8986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3 920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36508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6 720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36508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4 060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84030" y="5449824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6 860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84030" y="5705856"/>
            <a:ext cx="747521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90" b="0">
                <a:solidFill>
                  <a:srgbClr val="3F4856"/>
                </a:solidFill>
                <a:latin typeface="Aptos"/>
              </a:rPr>
              <a:t>4 220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" y="6126480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ptos"/>
              </a:rPr>
              <a:t>Актив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6126480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ptos"/>
              </a:rPr>
              <a:t>УО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75887" y="6108192"/>
            <a:ext cx="7315" cy="438912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06640" y="6108192"/>
            <a:ext cx="7315" cy="438912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880" y="6309360"/>
            <a:ext cx="219456" cy="128016"/>
          </a:xfrm>
          <a:prstGeom prst="rect">
            <a:avLst/>
          </a:prstGeom>
          <a:solidFill>
            <a:srgbClr val="3756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необеспеченные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63040" y="6309360"/>
            <a:ext cx="219456" cy="128016"/>
          </a:xfrm>
          <a:prstGeom prst="rect">
            <a:avLst/>
          </a:prstGeom>
          <a:solidFill>
            <a:srgbClr val="6A95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37360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331720" y="6309360"/>
            <a:ext cx="219456" cy="128016"/>
          </a:xfrm>
          <a:prstGeom prst="rect">
            <a:avLst/>
          </a:prstGeom>
          <a:solidFill>
            <a:srgbClr val="A9C2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6039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23360" y="6309360"/>
            <a:ext cx="219456" cy="128016"/>
          </a:xfrm>
          <a:prstGeom prst="rect">
            <a:avLst/>
          </a:prstGeom>
          <a:solidFill>
            <a:srgbClr val="AE9F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97680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необеспеченные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03520" y="6309360"/>
            <a:ext cx="219456" cy="128016"/>
          </a:xfrm>
          <a:prstGeom prst="rect">
            <a:avLst/>
          </a:prstGeom>
          <a:solidFill>
            <a:srgbClr val="CDC1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77840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6309360"/>
            <a:ext cx="219456" cy="128016"/>
          </a:xfrm>
          <a:prstGeom prst="rect">
            <a:avLst/>
          </a:prstGeom>
          <a:solidFill>
            <a:srgbClr val="E6DF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630021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6373368"/>
            <a:ext cx="320040" cy="16459"/>
          </a:xfrm>
          <a:prstGeom prst="rect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763256" y="6323076"/>
            <a:ext cx="73152" cy="73152"/>
          </a:xfrm>
          <a:prstGeom prst="ellipse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28431" y="6227064"/>
            <a:ext cx="2148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3F4856"/>
                </a:solidFill>
                <a:latin typeface="Aptos"/>
              </a:rPr>
              <a:t>УПР = остаток резерва / (Актив + УО)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2880" y="6620256"/>
            <a:ext cx="704088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67E88"/>
                </a:solidFill>
                <a:latin typeface="Aptos"/>
              </a:rPr>
              <a:t>Шаблон редактируемый: обновите данные у столбчатой диаграммы и у линии УПР.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0" y="6611112"/>
            <a:ext cx="329184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30" b="0">
                <a:solidFill>
                  <a:srgbClr val="767E88"/>
                </a:solidFill>
                <a:latin typeface="Aptos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