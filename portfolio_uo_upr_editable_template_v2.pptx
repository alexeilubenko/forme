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 — необеспеченные договоры</c:v>
                </c:pt>
              </c:strCache>
            </c:strRef>
          </c:tx>
          <c:spPr>
            <a:solidFill>
              <a:srgbClr val="335475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Times New Roman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2050</c:v>
                </c:pt>
                <c:pt idx="1">
                  <c:v>2180</c:v>
                </c:pt>
                <c:pt idx="2">
                  <c:v>2260</c:v>
                </c:pt>
                <c:pt idx="3">
                  <c:v>2330</c:v>
                </c:pt>
                <c:pt idx="4">
                  <c:v>2430</c:v>
                </c:pt>
                <c:pt idx="5">
                  <c:v>2520</c:v>
                </c:pt>
                <c:pt idx="6">
                  <c:v>2600</c:v>
                </c:pt>
                <c:pt idx="7">
                  <c:v>2710</c:v>
                </c:pt>
                <c:pt idx="8">
                  <c:v>2800</c:v>
                </c:pt>
                <c:pt idx="9">
                  <c:v>2900</c:v>
                </c:pt>
                <c:pt idx="10">
                  <c:v>3020</c:v>
                </c:pt>
                <c:pt idx="11">
                  <c:v>3130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Актив — ПФН</c:v>
                </c:pt>
              </c:strCache>
            </c:strRef>
          </c:tx>
          <c:spPr>
            <a:solidFill>
              <a:srgbClr val="6797C8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Times New Roman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1480</c:v>
                </c:pt>
                <c:pt idx="1">
                  <c:v>1560</c:v>
                </c:pt>
                <c:pt idx="2">
                  <c:v>1680</c:v>
                </c:pt>
                <c:pt idx="3">
                  <c:v>1720</c:v>
                </c:pt>
                <c:pt idx="4">
                  <c:v>1790</c:v>
                </c:pt>
                <c:pt idx="5">
                  <c:v>1880</c:v>
                </c:pt>
                <c:pt idx="6">
                  <c:v>1930</c:v>
                </c:pt>
                <c:pt idx="7">
                  <c:v>1980</c:v>
                </c:pt>
                <c:pt idx="8">
                  <c:v>2060</c:v>
                </c:pt>
                <c:pt idx="9">
                  <c:v>2150</c:v>
                </c:pt>
                <c:pt idx="10">
                  <c:v>2220</c:v>
                </c:pt>
                <c:pt idx="11">
                  <c:v>2290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Актив — хорошие</c:v>
                </c:pt>
              </c:strCache>
            </c:strRef>
          </c:tx>
          <c:spPr>
            <a:solidFill>
              <a:srgbClr val="B6CEE9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50">
                    <a:solidFill>
                      <a:srgbClr val="2D3746"/>
                    </a:solidFill>
                    <a:latin typeface="Times New Roman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1190</c:v>
                </c:pt>
                <c:pt idx="1">
                  <c:v>1290</c:v>
                </c:pt>
                <c:pt idx="2">
                  <c:v>1280</c:v>
                </c:pt>
                <c:pt idx="3">
                  <c:v>1350</c:v>
                </c:pt>
                <c:pt idx="4">
                  <c:v>1380</c:v>
                </c:pt>
                <c:pt idx="5">
                  <c:v>1410</c:v>
                </c:pt>
                <c:pt idx="6">
                  <c:v>1420</c:v>
                </c:pt>
                <c:pt idx="7">
                  <c:v>1450</c:v>
                </c:pt>
                <c:pt idx="8">
                  <c:v>1470</c:v>
                </c:pt>
                <c:pt idx="9">
                  <c:v>1450</c:v>
                </c:pt>
                <c:pt idx="10">
                  <c:v>1480</c:v>
                </c:pt>
                <c:pt idx="11">
                  <c:v>1440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УО — необеспеченные договоры</c:v>
                </c:pt>
              </c:strCache>
            </c:strRef>
          </c:tx>
          <c:spPr>
            <a:solidFill>
              <a:srgbClr val="AA9A7F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50">
                    <a:solidFill>
                      <a:srgbClr val="FFFFFF"/>
                    </a:solidFill>
                    <a:latin typeface="Times New Roman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1200</c:v>
                </c:pt>
                <c:pt idx="1">
                  <c:v>1280</c:v>
                </c:pt>
                <c:pt idx="2">
                  <c:v>1410</c:v>
                </c:pt>
                <c:pt idx="3">
                  <c:v>1450</c:v>
                </c:pt>
                <c:pt idx="4">
                  <c:v>1520</c:v>
                </c:pt>
                <c:pt idx="5">
                  <c:v>1550</c:v>
                </c:pt>
                <c:pt idx="6">
                  <c:v>1590</c:v>
                </c:pt>
                <c:pt idx="7">
                  <c:v>1650</c:v>
                </c:pt>
                <c:pt idx="8">
                  <c:v>1700</c:v>
                </c:pt>
                <c:pt idx="9">
                  <c:v>1760</c:v>
                </c:pt>
                <c:pt idx="10">
                  <c:v>1820</c:v>
                </c:pt>
                <c:pt idx="11">
                  <c:v>1900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УО — ПФН</c:v>
                </c:pt>
              </c:strCache>
            </c:strRef>
          </c:tx>
          <c:spPr>
            <a:solidFill>
              <a:srgbClr val="CCC0AB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50">
                    <a:solidFill>
                      <a:srgbClr val="2D3746"/>
                    </a:solidFill>
                    <a:latin typeface="Times New Roman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880</c:v>
                </c:pt>
                <c:pt idx="1">
                  <c:v>910</c:v>
                </c:pt>
                <c:pt idx="2">
                  <c:v>940</c:v>
                </c:pt>
                <c:pt idx="3">
                  <c:v>980</c:v>
                </c:pt>
                <c:pt idx="4">
                  <c:v>1020</c:v>
                </c:pt>
                <c:pt idx="5">
                  <c:v>1070</c:v>
                </c:pt>
                <c:pt idx="6">
                  <c:v>1100</c:v>
                </c:pt>
                <c:pt idx="7">
                  <c:v>1140</c:v>
                </c:pt>
                <c:pt idx="8">
                  <c:v>1190</c:v>
                </c:pt>
                <c:pt idx="9">
                  <c:v>1230</c:v>
                </c:pt>
                <c:pt idx="10">
                  <c:v>1260</c:v>
                </c:pt>
                <c:pt idx="11">
                  <c:v>1300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УО — хорошие</c:v>
                </c:pt>
              </c:strCache>
            </c:strRef>
          </c:tx>
          <c:spPr>
            <a:solidFill>
              <a:srgbClr val="E5DCD0"/>
            </a:solidFill>
            <a:ln w="9525">
              <a:solidFill>
                <a:srgbClr val="FFFFFF"/>
              </a:solidFill>
            </a:ln>
          </c:spPr>
          <c:dLbls>
            <c:numFmt formatCode="# ##0" sourceLinked="0"/>
            <c:txPr>
              <a:bodyPr/>
              <a:lstStyle/>
              <a:p>
                <a:pPr>
                  <a:defRPr sz="850">
                    <a:solidFill>
                      <a:srgbClr val="2D3746"/>
                    </a:solidFill>
                    <a:latin typeface="Times New Roman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620</c:v>
                </c:pt>
                <c:pt idx="1">
                  <c:v>660</c:v>
                </c:pt>
                <c:pt idx="2">
                  <c:v>700</c:v>
                </c:pt>
                <c:pt idx="3">
                  <c:v>730</c:v>
                </c:pt>
                <c:pt idx="4">
                  <c:v>770</c:v>
                </c:pt>
                <c:pt idx="5">
                  <c:v>810</c:v>
                </c:pt>
                <c:pt idx="6">
                  <c:v>820</c:v>
                </c:pt>
                <c:pt idx="7">
                  <c:v>860</c:v>
                </c:pt>
                <c:pt idx="8">
                  <c:v>900</c:v>
                </c:pt>
                <c:pt idx="9">
                  <c:v>930</c:v>
                </c:pt>
                <c:pt idx="10">
                  <c:v>980</c:v>
                </c:pt>
                <c:pt idx="11">
                  <c:v>1020</c:v>
                </c:pt>
              </c:numCache>
            </c:numRef>
          </c:val>
        </c:ser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87E84"/>
            </a:solidFill>
          </a:ln>
        </c:spPr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400">
                    <a:latin typeface="Times New Roman"/>
                  </a:defRPr>
                </a:pPr>
                <a:r>
                  <a:t>Объем, млн руб.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Times New Roman"/>
              </a:defRPr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УПР</c:v>
                </c:pt>
              </c:strCache>
            </c:strRef>
          </c:tx>
          <c:spPr>
            <a:ln w="28575">
              <a:solidFill>
                <a:srgbClr val="141920"/>
              </a:solidFill>
            </a:ln>
          </c:spPr>
          <c:marker>
            <c:size val="7"/>
            <c:spPr>
              <a:solidFill>
                <a:srgbClr val="141920"/>
              </a:solidFill>
              <a:ln>
                <a:solidFill>
                  <a:srgbClr val="141920"/>
                </a:solidFill>
              </a:ln>
            </c:spPr>
          </c:marker>
          <c:dLbls>
            <c:numFmt formatCode="0.0&quot;%&quot;" sourceLinked="0"/>
            <c:txPr>
              <a:bodyPr/>
              <a:lstStyle/>
              <a:p>
                <a:pPr>
                  <a:defRPr sz="950">
                    <a:solidFill>
                      <a:srgbClr val="141920"/>
                    </a:solidFill>
                    <a:latin typeface="Times New Roman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  <c:pt idx="3">
                  <c:v>Апр</c:v>
                </c:pt>
                <c:pt idx="4">
                  <c:v>Май</c:v>
                </c:pt>
                <c:pt idx="5">
                  <c:v>Июн</c:v>
                </c:pt>
                <c:pt idx="6">
                  <c:v>Июл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</c:v>
                </c:pt>
                <c:pt idx="11">
                  <c:v>Дек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18.2</c:v>
                </c:pt>
                <c:pt idx="1">
                  <c:v>17.5</c:v>
                </c:pt>
                <c:pt idx="2">
                  <c:v>16.8</c:v>
                </c:pt>
                <c:pt idx="3">
                  <c:v>15.6</c:v>
                </c:pt>
                <c:pt idx="4">
                  <c:v>14.9</c:v>
                </c:pt>
                <c:pt idx="5">
                  <c:v>14.1</c:v>
                </c:pt>
                <c:pt idx="6">
                  <c:v>13.4</c:v>
                </c:pt>
                <c:pt idx="7">
                  <c:v>12.8</c:v>
                </c:pt>
                <c:pt idx="8">
                  <c:v>12.1</c:v>
                </c:pt>
                <c:pt idx="9">
                  <c:v>11.6</c:v>
                </c:pt>
                <c:pt idx="10">
                  <c:v>11.2</c:v>
                </c:pt>
                <c:pt idx="11">
                  <c:v>10.7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.0"/>
          <c:min val="0.0"/>
        </c:scaling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FFFFFF"/>
            </a:solidFill>
          </a:ln>
        </c:spPr>
        <c:txPr>
          <a:bodyPr/>
          <a:lstStyle/>
          <a:p>
            <a:pPr>
              <a:defRPr sz="100">
                <a:solidFill>
                  <a:srgbClr val="FFFFFF"/>
                </a:solidFill>
              </a:defRPr>
            </a:pPr>
          </a:p>
        </c:txPr>
        <c:crossAx val="2118791784"/>
        <c:crosses val="autoZero"/>
        <c:majorUnit val="2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73152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92130"/>
                </a:solidFill>
                <a:latin typeface="Times New Roman"/>
              </a:rPr>
              <a:t>Портфель Актив + УО: структура и УПР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143000"/>
          <a:ext cx="1001268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143000"/>
          <a:ext cx="1001268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917430" y="1033271"/>
            <a:ext cx="781050" cy="4663440"/>
          </a:xfrm>
          <a:prstGeom prst="roundRect">
            <a:avLst>
              <a:gd name="adj" fmla="val 2000"/>
            </a:avLst>
          </a:prstGeom>
          <a:noFill/>
          <a:ln>
            <a:solidFill>
              <a:srgbClr val="637B9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7 420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9185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7 880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7668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8 270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6149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8 560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4632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8 910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3114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9 240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11596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9 460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078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9 790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8559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10 120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7041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10 420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5524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10 780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4006" y="1005840"/>
            <a:ext cx="753618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A2332"/>
                </a:solidFill>
                <a:latin typeface="Times New Roman"/>
              </a:rPr>
              <a:t>11 080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018520" y="1362456"/>
            <a:ext cx="9144" cy="4105656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018520" y="1362456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28248" y="129844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1773021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28248" y="1709013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18%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18520" y="2183587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28248" y="2119579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16%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18520" y="2594152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28248" y="2530144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14%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018520" y="3004718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28248" y="294071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12%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18520" y="3415284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28248" y="3351276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018520" y="3825849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28248" y="3761841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8%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18520" y="4236415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128248" y="4172407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018520" y="4646980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28248" y="4582972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018520" y="5057546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28248" y="499353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018520" y="5468112"/>
            <a:ext cx="73152" cy="7315"/>
          </a:xfrm>
          <a:prstGeom prst="rect">
            <a:avLst/>
          </a:prstGeom>
          <a:solidFill>
            <a:srgbClr val="787E84"/>
          </a:solidFill>
          <a:ln>
            <a:solidFill>
              <a:srgbClr val="78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28248" y="5404104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27080" y="74980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32D3A"/>
                </a:solidFill>
                <a:latin typeface="Times New Roman"/>
              </a:rPr>
              <a:t>УПР,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" y="322783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78664E"/>
                </a:solidFill>
                <a:latin typeface="Times New Roman"/>
              </a:rPr>
              <a:t>УО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" y="46451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35475"/>
                </a:solidFill>
                <a:latin typeface="Times New Roman"/>
              </a:rPr>
              <a:t>Актив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" y="598932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92130"/>
                </a:solidFill>
                <a:latin typeface="Times New Roman"/>
              </a:rPr>
              <a:t>Актив (снизу вверх)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598932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92130"/>
                </a:solidFill>
                <a:latin typeface="Times New Roman"/>
              </a:rPr>
              <a:t>УО (снизу вверх)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6263640"/>
            <a:ext cx="256032" cy="164592"/>
          </a:xfrm>
          <a:prstGeom prst="rect">
            <a:avLst/>
          </a:prstGeom>
          <a:solidFill>
            <a:srgbClr val="33547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24535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необеспеченные договоры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48840" y="6263640"/>
            <a:ext cx="256032" cy="164592"/>
          </a:xfrm>
          <a:prstGeom prst="rect">
            <a:avLst/>
          </a:prstGeom>
          <a:solidFill>
            <a:srgbClr val="6797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8880" y="624535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ПФН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6263640"/>
            <a:ext cx="256032" cy="164592"/>
          </a:xfrm>
          <a:prstGeom prst="rect">
            <a:avLst/>
          </a:prstGeom>
          <a:solidFill>
            <a:srgbClr val="B6CEE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624535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хорошие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89120" y="6263640"/>
            <a:ext cx="256032" cy="164592"/>
          </a:xfrm>
          <a:prstGeom prst="rect">
            <a:avLst/>
          </a:prstGeom>
          <a:solidFill>
            <a:srgbClr val="AA9A7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59" y="624535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необеспеченные договоры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6263640"/>
            <a:ext cx="256032" cy="164592"/>
          </a:xfrm>
          <a:prstGeom prst="rect">
            <a:avLst/>
          </a:prstGeom>
          <a:solidFill>
            <a:srgbClr val="CCC0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0" y="624535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ПФН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32320" y="6263640"/>
            <a:ext cx="256032" cy="164592"/>
          </a:xfrm>
          <a:prstGeom prst="rect">
            <a:avLst/>
          </a:prstGeom>
          <a:solidFill>
            <a:srgbClr val="E5DC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52360" y="624535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хорошие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03920" y="6318504"/>
            <a:ext cx="301752" cy="18288"/>
          </a:xfrm>
          <a:prstGeom prst="rect">
            <a:avLst/>
          </a:prstGeom>
          <a:solidFill>
            <a:srgbClr val="141920"/>
          </a:solidFill>
          <a:ln>
            <a:solidFill>
              <a:srgbClr val="14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31936" y="6254496"/>
            <a:ext cx="73152" cy="73152"/>
          </a:xfrm>
          <a:prstGeom prst="ellipse">
            <a:avLst/>
          </a:prstGeom>
          <a:solidFill>
            <a:srgbClr val="141920"/>
          </a:solidFill>
          <a:ln>
            <a:solidFill>
              <a:srgbClr val="1419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69680" y="6190488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232D3A"/>
                </a:solidFill>
                <a:latin typeface="Times New Roman"/>
              </a:rPr>
              <a:t>УПР = остаток резерва / (Актив + УО)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60520" y="6007607"/>
            <a:ext cx="9144" cy="621792"/>
          </a:xfrm>
          <a:prstGeom prst="rect">
            <a:avLst/>
          </a:prstGeom>
          <a:solidFill>
            <a:srgbClr val="C3C4C6"/>
          </a:solidFill>
          <a:ln>
            <a:solidFill>
              <a:srgbClr val="C3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29600" y="6007607"/>
            <a:ext cx="9144" cy="621792"/>
          </a:xfrm>
          <a:prstGeom prst="rect">
            <a:avLst/>
          </a:prstGeom>
          <a:solidFill>
            <a:srgbClr val="C3C4C6"/>
          </a:solidFill>
          <a:ln>
            <a:solidFill>
              <a:srgbClr val="C3C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4592" y="6510528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C747D"/>
                </a:solidFill>
                <a:latin typeface="Times New Roman"/>
              </a:rPr>
              <a:t>Примечание: шаблон редактируемый. Для обновления данных меняйте значения через «Изменить данные» у столбцов и линии.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6492240"/>
            <a:ext cx="3474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C747D"/>
                </a:solidFill>
                <a:latin typeface="Times New Roman"/>
              </a:rPr>
              <a:t>КОНФИДЕНЦИАЛЬНО  |  ДЛЯ РУКОВОДСТВА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