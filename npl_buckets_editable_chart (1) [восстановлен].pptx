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Бакет 1: до 09.2023</c:v>
                </c:pt>
              </c:strCache>
            </c:strRef>
          </c:tx>
          <c:spPr>
            <a:solidFill>
              <a:srgbClr val="536DDB">
                <a:alpha val="70000"/>
              </a:srgbClr>
            </a:solidFill>
            <a:effectLst/>
          </c:spPr>
          <c:cat>
            <c:strRef>
              <c:f>Sheet1!$A$2:$A$14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33.799999999999997</c:v>
                </c:pt>
                <c:pt idx="1">
                  <c:v>29.6</c:v>
                </c:pt>
                <c:pt idx="2">
                  <c:v>25.6</c:v>
                </c:pt>
                <c:pt idx="3">
                  <c:v>24.5</c:v>
                </c:pt>
                <c:pt idx="4">
                  <c:v>23</c:v>
                </c:pt>
                <c:pt idx="5">
                  <c:v>21.8</c:v>
                </c:pt>
                <c:pt idx="6">
                  <c:v>20.8</c:v>
                </c:pt>
                <c:pt idx="7">
                  <c:v>19.8</c:v>
                </c:pt>
                <c:pt idx="8">
                  <c:v>19</c:v>
                </c:pt>
                <c:pt idx="9">
                  <c:v>18.2</c:v>
                </c:pt>
                <c:pt idx="10">
                  <c:v>17.5</c:v>
                </c:pt>
                <c:pt idx="11">
                  <c:v>16.8</c:v>
                </c:pt>
                <c:pt idx="1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3-4E60-BB2D-5F9EEF40AD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Бакет 2: 09.23–03.25</c:v>
                </c:pt>
              </c:strCache>
            </c:strRef>
          </c:tx>
          <c:spPr>
            <a:solidFill>
              <a:srgbClr val="EB6B84">
                <a:alpha val="70000"/>
              </a:srgbClr>
            </a:solidFill>
            <a:effectLst/>
          </c:spPr>
          <c:cat>
            <c:strRef>
              <c:f>Sheet1!$A$2:$A$14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257.5</c:v>
                </c:pt>
                <c:pt idx="1">
                  <c:v>244.9</c:v>
                </c:pt>
                <c:pt idx="2">
                  <c:v>232.6</c:v>
                </c:pt>
                <c:pt idx="3">
                  <c:v>228.3</c:v>
                </c:pt>
                <c:pt idx="4">
                  <c:v>223</c:v>
                </c:pt>
                <c:pt idx="5">
                  <c:v>217.5</c:v>
                </c:pt>
                <c:pt idx="6">
                  <c:v>212</c:v>
                </c:pt>
                <c:pt idx="7">
                  <c:v>206</c:v>
                </c:pt>
                <c:pt idx="8">
                  <c:v>200</c:v>
                </c:pt>
                <c:pt idx="9">
                  <c:v>194</c:v>
                </c:pt>
                <c:pt idx="10">
                  <c:v>189</c:v>
                </c:pt>
                <c:pt idx="11">
                  <c:v>184</c:v>
                </c:pt>
                <c:pt idx="12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13-4E60-BB2D-5F9EEF40AD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Бакет 3: после 03.25г</c:v>
                </c:pt>
              </c:strCache>
            </c:strRef>
          </c:tx>
          <c:spPr>
            <a:solidFill>
              <a:srgbClr val="A9B2AE">
                <a:alpha val="70000"/>
              </a:srgbClr>
            </a:solidFill>
            <a:effectLst/>
          </c:spP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366.9</c:v>
                </c:pt>
                <c:pt idx="1">
                  <c:v>527</c:v>
                </c:pt>
                <c:pt idx="2">
                  <c:v>704.4</c:v>
                </c:pt>
                <c:pt idx="3">
                  <c:v>780.3</c:v>
                </c:pt>
                <c:pt idx="4">
                  <c:v>860.1</c:v>
                </c:pt>
                <c:pt idx="5">
                  <c:v>930.5</c:v>
                </c:pt>
                <c:pt idx="6">
                  <c:v>985</c:v>
                </c:pt>
                <c:pt idx="7">
                  <c:v>1020</c:v>
                </c:pt>
                <c:pt idx="8">
                  <c:v>1040</c:v>
                </c:pt>
                <c:pt idx="9">
                  <c:v>1050</c:v>
                </c:pt>
                <c:pt idx="10">
                  <c:v>1055</c:v>
                </c:pt>
                <c:pt idx="11">
                  <c:v>1060</c:v>
                </c:pt>
                <c:pt idx="12">
                  <c:v>1060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13-4E60-BB2D-5F9EEF40A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7620" cap="flat">
              <a:solidFill>
                <a:srgbClr val="D9DCE3"/>
              </a:solidFill>
              <a:prstDash val="dash"/>
              <a:round/>
            </a:ln>
          </c:spPr>
        </c:majorGridlines>
        <c:numFmt formatCode="#\ ##0" sourceLinked="0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350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NPL_formula_data!$B$1</c:f>
              <c:strCache>
                <c:ptCount val="1"/>
                <c:pt idx="0">
                  <c:v>NPL Бакет 1 (до сен.23)</c:v>
                </c:pt>
              </c:strCache>
            </c:strRef>
          </c:tx>
          <c:spPr>
            <a:ln w="25400" cap="flat">
              <a:solidFill>
                <a:srgbClr val="536DD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36DDB"/>
              </a:solidFill>
              <a:ln w="9525" cap="flat">
                <a:solidFill>
                  <a:srgbClr val="536DDB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NPL_formula_data!$A$2:$A$14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NPL_formula_data!$B$2:$B$14</c:f>
              <c:numCache>
                <c:formatCode>0.0%</c:formatCode>
                <c:ptCount val="13"/>
                <c:pt idx="0">
                  <c:v>0.15000000000000002</c:v>
                </c:pt>
                <c:pt idx="1">
                  <c:v>0.15999999999999998</c:v>
                </c:pt>
                <c:pt idx="2">
                  <c:v>0.17</c:v>
                </c:pt>
                <c:pt idx="3">
                  <c:v>0.18</c:v>
                </c:pt>
                <c:pt idx="4">
                  <c:v>0.19</c:v>
                </c:pt>
                <c:pt idx="5">
                  <c:v>0.2</c:v>
                </c:pt>
                <c:pt idx="6">
                  <c:v>0.21000000000000002</c:v>
                </c:pt>
                <c:pt idx="7">
                  <c:v>0.21999999999999997</c:v>
                </c:pt>
                <c:pt idx="8">
                  <c:v>0.23</c:v>
                </c:pt>
                <c:pt idx="9">
                  <c:v>0.24000000000000002</c:v>
                </c:pt>
                <c:pt idx="10">
                  <c:v>0.25</c:v>
                </c:pt>
                <c:pt idx="11">
                  <c:v>0.26</c:v>
                </c:pt>
                <c:pt idx="12">
                  <c:v>0.27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10-489F-A848-5A18CDD9CA93}"/>
            </c:ext>
          </c:extLst>
        </c:ser>
        <c:ser>
          <c:idx val="1"/>
          <c:order val="1"/>
          <c:tx>
            <c:strRef>
              <c:f>NPL_formula_data!$C$1</c:f>
              <c:strCache>
                <c:ptCount val="1"/>
                <c:pt idx="0">
                  <c:v>NPL Бакет 2 (сен.23–фев.25)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NPL_formula_data!$A$2:$A$14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NPL_formula_data!$C$2:$C$14</c:f>
              <c:numCache>
                <c:formatCode>0.0%</c:formatCode>
                <c:ptCount val="13"/>
                <c:pt idx="0">
                  <c:v>0.1</c:v>
                </c:pt>
                <c:pt idx="1">
                  <c:v>0.105</c:v>
                </c:pt>
                <c:pt idx="2">
                  <c:v>0.11</c:v>
                </c:pt>
                <c:pt idx="3">
                  <c:v>0.11499999999999999</c:v>
                </c:pt>
                <c:pt idx="4">
                  <c:v>0.12000000000000001</c:v>
                </c:pt>
                <c:pt idx="5">
                  <c:v>0.125</c:v>
                </c:pt>
                <c:pt idx="6">
                  <c:v>0.13</c:v>
                </c:pt>
                <c:pt idx="7">
                  <c:v>0.13499999999999998</c:v>
                </c:pt>
                <c:pt idx="8">
                  <c:v>0.14000000000000001</c:v>
                </c:pt>
                <c:pt idx="9">
                  <c:v>0.14499999999999999</c:v>
                </c:pt>
                <c:pt idx="10">
                  <c:v>0.15</c:v>
                </c:pt>
                <c:pt idx="11">
                  <c:v>0.155</c:v>
                </c:pt>
                <c:pt idx="12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C10-489F-A848-5A18CDD9CA93}"/>
            </c:ext>
          </c:extLst>
        </c:ser>
        <c:ser>
          <c:idx val="2"/>
          <c:order val="2"/>
          <c:tx>
            <c:strRef>
              <c:f>NPL_formula_data!$D$1</c:f>
              <c:strCache>
                <c:ptCount val="1"/>
                <c:pt idx="0">
                  <c:v>NPL Бакет 3 (с марта 2025)</c:v>
                </c:pt>
              </c:strCache>
            </c:strRef>
          </c:tx>
          <c:cat>
            <c:strRef>
              <c:f>NPL_formula_data!$A$2:$A$14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NPL_formula_data!$D$2:$D$14</c:f>
              <c:numCache>
                <c:formatCode>0.0%</c:formatCode>
                <c:ptCount val="13"/>
                <c:pt idx="0">
                  <c:v>1E-3</c:v>
                </c:pt>
                <c:pt idx="1">
                  <c:v>1.5E-3</c:v>
                </c:pt>
                <c:pt idx="2">
                  <c:v>2E-3</c:v>
                </c:pt>
                <c:pt idx="3">
                  <c:v>2.4999359220812512E-3</c:v>
                </c:pt>
                <c:pt idx="4">
                  <c:v>2.9999999999999996E-3</c:v>
                </c:pt>
                <c:pt idx="5">
                  <c:v>4.0000000000000001E-3</c:v>
                </c:pt>
                <c:pt idx="6">
                  <c:v>5.0000000000000001E-3</c:v>
                </c:pt>
                <c:pt idx="7">
                  <c:v>6.0000000000000001E-3</c:v>
                </c:pt>
                <c:pt idx="8">
                  <c:v>8.0000000000000002E-3</c:v>
                </c:pt>
                <c:pt idx="9">
                  <c:v>1.3999999999999999E-2</c:v>
                </c:pt>
                <c:pt idx="10">
                  <c:v>2.5000000000000001E-2</c:v>
                </c:pt>
                <c:pt idx="11">
                  <c:v>0.04</c:v>
                </c:pt>
                <c:pt idx="12">
                  <c:v>6.0000000000000005E-2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C10-489F-A848-5A18CDD9CA93}"/>
            </c:ext>
          </c:extLst>
        </c:ser>
        <c:ser>
          <c:idx val="3"/>
          <c:order val="3"/>
          <c:tx>
            <c:strRef>
              <c:f>NPL_formula_data!$E$1</c:f>
              <c:strCache>
                <c:ptCount val="1"/>
                <c:pt idx="0">
                  <c:v>NPL ИТОГО (все бакеты)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NPL_formula_data!$A$2:$A$14</c:f>
              <c:strCache>
                <c:ptCount val="13"/>
                <c:pt idx="0">
                  <c:v>дек.2025</c:v>
                </c:pt>
                <c:pt idx="1">
                  <c:v>янв.2026</c:v>
                </c:pt>
                <c:pt idx="2">
                  <c:v>фев.2026</c:v>
                </c:pt>
                <c:pt idx="3">
                  <c:v>мар.2026</c:v>
                </c:pt>
                <c:pt idx="4">
                  <c:v>апр.2026</c:v>
                </c:pt>
                <c:pt idx="5">
                  <c:v>май.2026</c:v>
                </c:pt>
                <c:pt idx="6">
                  <c:v>июн.2026</c:v>
                </c:pt>
                <c:pt idx="7">
                  <c:v>июл.2026</c:v>
                </c:pt>
                <c:pt idx="8">
                  <c:v>авг.2026</c:v>
                </c:pt>
                <c:pt idx="9">
                  <c:v>сен.2026</c:v>
                </c:pt>
                <c:pt idx="10">
                  <c:v>окт.2026</c:v>
                </c:pt>
                <c:pt idx="11">
                  <c:v>ноя.2026</c:v>
                </c:pt>
                <c:pt idx="12">
                  <c:v>дек.2026</c:v>
                </c:pt>
              </c:strCache>
            </c:strRef>
          </c:cat>
          <c:val>
            <c:numRef>
              <c:f>NPL_formula_data!$E$2:$E$14</c:f>
              <c:numCache>
                <c:formatCode>0.0%</c:formatCode>
                <c:ptCount val="13"/>
                <c:pt idx="0">
                  <c:v>4.7382102704345182E-2</c:v>
                </c:pt>
                <c:pt idx="1">
                  <c:v>3.8978165938864634E-2</c:v>
                </c:pt>
                <c:pt idx="2">
                  <c:v>3.2564720548514441E-2</c:v>
                </c:pt>
                <c:pt idx="3">
                  <c:v>3.1570225534798185E-2</c:v>
                </c:pt>
                <c:pt idx="4">
                  <c:v>3.0476720007232627E-2</c:v>
                </c:pt>
                <c:pt idx="5">
                  <c:v>3.0150025645409473E-2</c:v>
                </c:pt>
                <c:pt idx="6">
                  <c:v>3.026194777467564E-2</c:v>
                </c:pt>
                <c:pt idx="7">
                  <c:v>3.0732059720661419E-2</c:v>
                </c:pt>
                <c:pt idx="8">
                  <c:v>3.2319301032565528E-2</c:v>
                </c:pt>
                <c:pt idx="9">
                  <c:v>3.7393440025352553E-2</c:v>
                </c:pt>
                <c:pt idx="10">
                  <c:v>4.684898929845422E-2</c:v>
                </c:pt>
                <c:pt idx="11">
                  <c:v>5.9714467005076141E-2</c:v>
                </c:pt>
                <c:pt idx="12">
                  <c:v>7.6940239043824701E-2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C10-489F-A848-5A18CDD9C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7620" cap="flat">
              <a:solidFill>
                <a:srgbClr val="D9DCE3"/>
              </a:solidFill>
              <a:prstDash val="dash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  <c:majorUnit val="0.05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layout/>
      <c:overlay val="0"/>
      <c:txPr>
        <a:bodyPr/>
        <a:lstStyle/>
        <a:p>
          <a:pPr>
            <a:defRPr sz="760">
              <a:latin typeface="Arial"/>
              <a:cs typeface="Arial"/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3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28016"/>
            <a:ext cx="1165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1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знаменателей и NPL по трём бакетам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92608" y="51206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Иллюстративный слайд: графики нативные PowerPoint — правый клик → «Изменить данные»; NPL рассчитан формулами в данных нижнего графика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29184" y="804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032"/>
                </a:solidFill>
              </a:rPr>
              <a:t>Объём задолженности (знаменатель), млн BYN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13656182"/>
              </p:ext>
            </p:extLst>
          </p:nvPr>
        </p:nvGraphicFramePr>
        <p:xfrm>
          <a:off x="411480" y="1024128"/>
          <a:ext cx="987552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59168" y="960120"/>
            <a:ext cx="0" cy="269748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7" name="Text 4"/>
          <p:cNvSpPr/>
          <p:nvPr/>
        </p:nvSpPr>
        <p:spPr>
          <a:xfrm>
            <a:off x="5989320" y="758952"/>
            <a:ext cx="129844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9CA3A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081032"/>
                </a:solidFill>
              </a:rPr>
              <a:t>Замедление прироста 3-го портфеля</a:t>
            </a:r>
            <a:endParaRPr lang="en-US" sz="730" dirty="0"/>
          </a:p>
        </p:txBody>
      </p:sp>
      <p:sp>
        <p:nvSpPr>
          <p:cNvPr id="8" name="Shape 5"/>
          <p:cNvSpPr/>
          <p:nvPr/>
        </p:nvSpPr>
        <p:spPr>
          <a:xfrm>
            <a:off x="10561320" y="1499616"/>
            <a:ext cx="1417320" cy="1097280"/>
          </a:xfrm>
          <a:prstGeom prst="roundRect">
            <a:avLst/>
          </a:prstGeom>
          <a:solidFill>
            <a:srgbClr val="F5FFF2"/>
          </a:solidFill>
          <a:ln w="12700">
            <a:solidFill>
              <a:srgbClr val="62B3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71048" y="1627632"/>
            <a:ext cx="119786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81032"/>
                </a:solidFill>
              </a:rPr>
              <a:t>Рост нового портфеля быстро увеличивает общий знаменатель и «разбавляет» первые два бакета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7818120" y="749808"/>
            <a:ext cx="2057400" cy="22860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AEB4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18704" y="795528"/>
            <a:ext cx="182880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081032"/>
                </a:solidFill>
              </a:rPr>
              <a:t>После замедления прироста эффект разбавления исчезает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8156448" y="987552"/>
            <a:ext cx="0" cy="219456"/>
          </a:xfrm>
          <a:prstGeom prst="line">
            <a:avLst/>
          </a:prstGeom>
          <a:noFill/>
          <a:ln w="13970">
            <a:solidFill>
              <a:srgbClr val="AEB4C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329184" y="3813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032"/>
                </a:solidFill>
              </a:rPr>
              <a:t>NPL, %</a:t>
            </a:r>
            <a:endParaRPr lang="en-US" sz="1050" dirty="0"/>
          </a:p>
        </p:txBody>
      </p:sp>
      <p:graphicFrame>
        <p:nvGraphicFramePr>
          <p:cNvPr id="14" name="Chart 1"/>
          <p:cNvGraphicFramePr/>
          <p:nvPr>
            <p:extLst>
              <p:ext uri="{D42A27DB-BD31-4B8C-83A1-F6EECF244321}">
                <p14:modId xmlns:p14="http://schemas.microsoft.com/office/powerpoint/2010/main" val="3048140367"/>
              </p:ext>
            </p:extLst>
          </p:nvPr>
        </p:nvGraphicFramePr>
        <p:xfrm>
          <a:off x="411480" y="4005072"/>
          <a:ext cx="9875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7059168" y="3858768"/>
            <a:ext cx="0" cy="219456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6" name="Shape 12"/>
          <p:cNvSpPr/>
          <p:nvPr/>
        </p:nvSpPr>
        <p:spPr>
          <a:xfrm>
            <a:off x="10561320" y="4005072"/>
            <a:ext cx="1417320" cy="530352"/>
          </a:xfrm>
          <a:prstGeom prst="roundRect">
            <a:avLst/>
          </a:prstGeom>
          <a:solidFill>
            <a:srgbClr val="FFF3F6"/>
          </a:solidFill>
          <a:ln w="12700">
            <a:solidFill>
              <a:srgbClr val="EB6B8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661904" y="4123944"/>
            <a:ext cx="12252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032"/>
                </a:solidFill>
              </a:rPr>
              <a:t>NPL растёт во всех трёх бакетах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0561320" y="4846320"/>
            <a:ext cx="1417320" cy="749808"/>
          </a:xfrm>
          <a:prstGeom prst="roundRect">
            <a:avLst/>
          </a:prstGeom>
          <a:solidFill>
            <a:srgbClr val="F2F5FF"/>
          </a:solidFill>
          <a:ln w="12700">
            <a:solidFill>
              <a:srgbClr val="061A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661904" y="4937760"/>
            <a:ext cx="122529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081032"/>
                </a:solidFill>
              </a:rPr>
              <a:t>Совокупный NPL сейчас снижается за счёт роста 3-го знаменателя, но после замедления начнёт расти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502920" y="6281928"/>
            <a:ext cx="11201400" cy="393192"/>
          </a:xfrm>
          <a:prstGeom prst="rect">
            <a:avLst/>
          </a:prstGeom>
          <a:solidFill>
            <a:srgbClr val="FFF2CC">
              <a:alpha val="92000"/>
            </a:srgbClr>
          </a:solidFill>
          <a:ln w="12700">
            <a:solidFill>
              <a:srgbClr val="D6A2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6327648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1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вывод: текущая динамика совокупного NPL поддерживается ростом нового портфеля и эффектом разбавления.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0080" y="6492240"/>
            <a:ext cx="10881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081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мере замедления прироста нового портфеля этот эффект будет исчерпан, а совокупный NPL начнёт расти.</a:t>
            </a:r>
            <a:endParaRPr lang="en-US" sz="1040" dirty="0"/>
          </a:p>
        </p:txBody>
      </p:sp>
      <p:sp>
        <p:nvSpPr>
          <p:cNvPr id="23" name="Text 19"/>
          <p:cNvSpPr/>
          <p:nvPr/>
        </p:nvSpPr>
        <p:spPr>
          <a:xfrm>
            <a:off x="6016752" y="60533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i="1" dirty="0">
                <a:solidFill>
                  <a:srgbClr val="5E6675"/>
                </a:solidFill>
              </a:rPr>
              <a:t>NPL = проблемная задолженность / общий объём задолженности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124</Words>
  <Application>Microsoft Office PowerPoint</Application>
  <PresentationFormat>Широкоэкранный</PresentationFormat>
  <Paragraphs>13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Динамика знаменателей и NPL по бакетам</dc:title>
  <dc:subject>NPL buckets slide</dc:subject>
  <dc:creator>OpenAI</dc:creator>
  <cp:lastModifiedBy>user</cp:lastModifiedBy>
  <cp:revision>4</cp:revision>
  <dcterms:created xsi:type="dcterms:W3CDTF">2026-08-21T12:29:53Z</dcterms:created>
  <dcterms:modified xsi:type="dcterms:W3CDTF">2026-08-21T12:56:29Z</dcterms:modified>
</cp:coreProperties>
</file>