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Актив — необеспеченные договоры</c:v>
                </c:pt>
              </c:strCache>
            </c:strRef>
          </c:tx>
          <c:spPr>
            <a:solidFill>
              <a:srgbClr val="375678"/>
            </a:solidFill>
            <a:ln w="9525">
              <a:solidFill>
                <a:srgbClr val="FFFFFF"/>
              </a:solidFill>
            </a:ln>
          </c:spPr>
          <c:dLbls>
            <c:numFmt formatCode="# ##0" sourceLinked="0"/>
            <c:txPr>
              <a:bodyPr/>
              <a:lstStyle/>
              <a:p>
                <a:pPr>
                  <a:defRPr sz="720">
                    <a:solidFill>
                      <a:srgbClr val="FFFFFF"/>
                    </a:solidFill>
                    <a:latin typeface="Apto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2050</c:v>
                </c:pt>
                <c:pt idx="1">
                  <c:v>2180</c:v>
                </c:pt>
                <c:pt idx="2">
                  <c:v>2260</c:v>
                </c:pt>
                <c:pt idx="3">
                  <c:v>2330</c:v>
                </c:pt>
                <c:pt idx="4">
                  <c:v>2430</c:v>
                </c:pt>
                <c:pt idx="5">
                  <c:v>2520</c:v>
                </c:pt>
                <c:pt idx="6">
                  <c:v>2600</c:v>
                </c:pt>
                <c:pt idx="7">
                  <c:v>2710</c:v>
                </c:pt>
                <c:pt idx="8">
                  <c:v>2800</c:v>
                </c:pt>
                <c:pt idx="9">
                  <c:v>2900</c:v>
                </c:pt>
                <c:pt idx="10">
                  <c:v>3020</c:v>
                </c:pt>
                <c:pt idx="11">
                  <c:v>3130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Актив — ПФН</c:v>
                </c:pt>
              </c:strCache>
            </c:strRef>
          </c:tx>
          <c:spPr>
            <a:solidFill>
              <a:srgbClr val="6A95C2"/>
            </a:solidFill>
            <a:ln w="9525">
              <a:solidFill>
                <a:srgbClr val="FFFFFF"/>
              </a:solidFill>
            </a:ln>
          </c:spPr>
          <c:dLbls>
            <c:numFmt formatCode="# ##0" sourceLinked="0"/>
            <c:txPr>
              <a:bodyPr/>
              <a:lstStyle/>
              <a:p>
                <a:pPr>
                  <a:defRPr sz="720">
                    <a:solidFill>
                      <a:srgbClr val="FFFFFF"/>
                    </a:solidFill>
                    <a:latin typeface="Apto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1480</c:v>
                </c:pt>
                <c:pt idx="1">
                  <c:v>1560</c:v>
                </c:pt>
                <c:pt idx="2">
                  <c:v>1680</c:v>
                </c:pt>
                <c:pt idx="3">
                  <c:v>1720</c:v>
                </c:pt>
                <c:pt idx="4">
                  <c:v>1790</c:v>
                </c:pt>
                <c:pt idx="5">
                  <c:v>1880</c:v>
                </c:pt>
                <c:pt idx="6">
                  <c:v>1930</c:v>
                </c:pt>
                <c:pt idx="7">
                  <c:v>1980</c:v>
                </c:pt>
                <c:pt idx="8">
                  <c:v>2060</c:v>
                </c:pt>
                <c:pt idx="9">
                  <c:v>2150</c:v>
                </c:pt>
                <c:pt idx="10">
                  <c:v>2220</c:v>
                </c:pt>
                <c:pt idx="11">
                  <c:v>2290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Актив — хорошие</c:v>
                </c:pt>
              </c:strCache>
            </c:strRef>
          </c:tx>
          <c:spPr>
            <a:solidFill>
              <a:srgbClr val="A9C2DE"/>
            </a:solidFill>
            <a:ln w="9525">
              <a:solidFill>
                <a:srgbClr val="FFFFFF"/>
              </a:solidFill>
            </a:ln>
          </c:spPr>
          <c:dLbls>
            <c:numFmt formatCode="# ##0" sourceLinked="0"/>
            <c:txPr>
              <a:bodyPr/>
              <a:lstStyle/>
              <a:p>
                <a:pPr>
                  <a:defRPr sz="720">
                    <a:solidFill>
                      <a:srgbClr val="3F4856"/>
                    </a:solidFill>
                    <a:latin typeface="Apto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1190</c:v>
                </c:pt>
                <c:pt idx="1">
                  <c:v>1290</c:v>
                </c:pt>
                <c:pt idx="2">
                  <c:v>1280</c:v>
                </c:pt>
                <c:pt idx="3">
                  <c:v>1350</c:v>
                </c:pt>
                <c:pt idx="4">
                  <c:v>1380</c:v>
                </c:pt>
                <c:pt idx="5">
                  <c:v>1410</c:v>
                </c:pt>
                <c:pt idx="6">
                  <c:v>1420</c:v>
                </c:pt>
                <c:pt idx="7">
                  <c:v>1450</c:v>
                </c:pt>
                <c:pt idx="8">
                  <c:v>1470</c:v>
                </c:pt>
                <c:pt idx="9">
                  <c:v>1450</c:v>
                </c:pt>
                <c:pt idx="10">
                  <c:v>1480</c:v>
                </c:pt>
                <c:pt idx="11">
                  <c:v>1440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УО — необеспеченные договоры</c:v>
                </c:pt>
              </c:strCache>
            </c:strRef>
          </c:tx>
          <c:spPr>
            <a:solidFill>
              <a:srgbClr val="AE9F84"/>
            </a:solidFill>
            <a:ln w="9525">
              <a:solidFill>
                <a:srgbClr val="FFFFFF"/>
              </a:solidFill>
            </a:ln>
          </c:spPr>
          <c:dLbls>
            <c:numFmt formatCode="# ##0" sourceLinked="0"/>
            <c:txPr>
              <a:bodyPr/>
              <a:lstStyle/>
              <a:p>
                <a:pPr>
                  <a:defRPr sz="720">
                    <a:solidFill>
                      <a:srgbClr val="FFFFFF"/>
                    </a:solidFill>
                    <a:latin typeface="Apto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1200</c:v>
                </c:pt>
                <c:pt idx="1">
                  <c:v>1280</c:v>
                </c:pt>
                <c:pt idx="2">
                  <c:v>1410</c:v>
                </c:pt>
                <c:pt idx="3">
                  <c:v>1450</c:v>
                </c:pt>
                <c:pt idx="4">
                  <c:v>1520</c:v>
                </c:pt>
                <c:pt idx="5">
                  <c:v>1550</c:v>
                </c:pt>
                <c:pt idx="6">
                  <c:v>1590</c:v>
                </c:pt>
                <c:pt idx="7">
                  <c:v>1650</c:v>
                </c:pt>
                <c:pt idx="8">
                  <c:v>1700</c:v>
                </c:pt>
                <c:pt idx="9">
                  <c:v>1760</c:v>
                </c:pt>
                <c:pt idx="10">
                  <c:v>1820</c:v>
                </c:pt>
                <c:pt idx="11">
                  <c:v>1900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УО — ПФН</c:v>
                </c:pt>
              </c:strCache>
            </c:strRef>
          </c:tx>
          <c:spPr>
            <a:solidFill>
              <a:srgbClr val="CDC1AB"/>
            </a:solidFill>
            <a:ln w="9525">
              <a:solidFill>
                <a:srgbClr val="FFFFFF"/>
              </a:solidFill>
            </a:ln>
          </c:spPr>
          <c:dLbls>
            <c:numFmt formatCode="# ##0" sourceLinked="0"/>
            <c:txPr>
              <a:bodyPr/>
              <a:lstStyle/>
              <a:p>
                <a:pPr>
                  <a:defRPr sz="720">
                    <a:solidFill>
                      <a:srgbClr val="3F4856"/>
                    </a:solidFill>
                    <a:latin typeface="Apto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880</c:v>
                </c:pt>
                <c:pt idx="1">
                  <c:v>910</c:v>
                </c:pt>
                <c:pt idx="2">
                  <c:v>940</c:v>
                </c:pt>
                <c:pt idx="3">
                  <c:v>980</c:v>
                </c:pt>
                <c:pt idx="4">
                  <c:v>1020</c:v>
                </c:pt>
                <c:pt idx="5">
                  <c:v>1070</c:v>
                </c:pt>
                <c:pt idx="6">
                  <c:v>1100</c:v>
                </c:pt>
                <c:pt idx="7">
                  <c:v>1140</c:v>
                </c:pt>
                <c:pt idx="8">
                  <c:v>1190</c:v>
                </c:pt>
                <c:pt idx="9">
                  <c:v>1230</c:v>
                </c:pt>
                <c:pt idx="10">
                  <c:v>1260</c:v>
                </c:pt>
                <c:pt idx="11">
                  <c:v>1300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УО — хорошие</c:v>
                </c:pt>
              </c:strCache>
            </c:strRef>
          </c:tx>
          <c:spPr>
            <a:solidFill>
              <a:srgbClr val="E6DFD5"/>
            </a:solidFill>
            <a:ln w="9525">
              <a:solidFill>
                <a:srgbClr val="FFFFFF"/>
              </a:solidFill>
            </a:ln>
          </c:spPr>
          <c:dLbls>
            <c:numFmt formatCode="# ##0" sourceLinked="0"/>
            <c:txPr>
              <a:bodyPr/>
              <a:lstStyle/>
              <a:p>
                <a:pPr>
                  <a:defRPr sz="720">
                    <a:solidFill>
                      <a:srgbClr val="3F4856"/>
                    </a:solidFill>
                    <a:latin typeface="Apto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Sheet1!$G$2:$G$13</c:f>
              <c:numCache>
                <c:formatCode>General</c:formatCode>
                <c:ptCount val="12"/>
                <c:pt idx="0">
                  <c:v>620</c:v>
                </c:pt>
                <c:pt idx="1">
                  <c:v>660</c:v>
                </c:pt>
                <c:pt idx="2">
                  <c:v>700</c:v>
                </c:pt>
                <c:pt idx="3">
                  <c:v>730</c:v>
                </c:pt>
                <c:pt idx="4">
                  <c:v>770</c:v>
                </c:pt>
                <c:pt idx="5">
                  <c:v>810</c:v>
                </c:pt>
                <c:pt idx="6">
                  <c:v>820</c:v>
                </c:pt>
                <c:pt idx="7">
                  <c:v>860</c:v>
                </c:pt>
                <c:pt idx="8">
                  <c:v>900</c:v>
                </c:pt>
                <c:pt idx="9">
                  <c:v>930</c:v>
                </c:pt>
                <c:pt idx="10">
                  <c:v>980</c:v>
                </c:pt>
                <c:pt idx="11">
                  <c:v>1020</c:v>
                </c:pt>
              </c:numCache>
            </c:numRef>
          </c:val>
        </c:ser>
        <c:gapWidth val="4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89EA6"/>
            </a:solidFill>
          </a:ln>
        </c:spPr>
        <c:txPr>
          <a:bodyPr/>
          <a:lstStyle/>
          <a:p>
            <a:pPr>
              <a:defRPr sz="1019">
                <a:solidFill>
                  <a:srgbClr val="3F4856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000.0"/>
          <c:min val="0.0"/>
        </c:scaling>
        <c:delete val="0"/>
        <c:axPos val="l"/>
        <c:majorGridlines>
          <c:spPr>
            <a:ln w="10160">
              <a:solidFill>
                <a:srgbClr val="DCE0E5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120" b="1">
                    <a:solidFill>
                      <a:srgbClr val="3F4856"/>
                    </a:solidFill>
                    <a:latin typeface="Aptos"/>
                  </a:defRPr>
                </a:pPr>
                <a:r>
                  <a:t>Объем, млн руб.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80">
                <a:solidFill>
                  <a:srgbClr val="3F4856"/>
                </a:solidFill>
                <a:latin typeface="Aptos"/>
              </a:defRPr>
            </a:pPr>
          </a:p>
        </c:txPr>
        <c:crossAx val="-2068027336"/>
        <c:crosses val="autoZero"/>
        <c:majorUnit val="200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УПР</c:v>
                </c:pt>
              </c:strCache>
            </c:strRef>
          </c:tx>
          <c:spPr>
            <a:ln w="25400">
              <a:solidFill>
                <a:srgbClr val="1C2027"/>
              </a:solidFill>
            </a:ln>
          </c:spPr>
          <c:marker>
            <c:size val="5"/>
            <c:spPr>
              <a:solidFill>
                <a:srgbClr val="1C2027"/>
              </a:solidFill>
              <a:ln>
                <a:solidFill>
                  <a:srgbClr val="1C2027"/>
                </a:solidFill>
              </a:ln>
            </c:spPr>
          </c:marker>
          <c:dLbls>
            <c:numFmt formatCode="0.0&quot;%&quot;" sourceLinked="0"/>
            <c:txPr>
              <a:bodyPr/>
              <a:lstStyle/>
              <a:p>
                <a:pPr>
                  <a:defRPr sz="819">
                    <a:solidFill>
                      <a:srgbClr val="1C2027"/>
                    </a:solidFill>
                    <a:latin typeface="Apto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18.2</c:v>
                </c:pt>
                <c:pt idx="1">
                  <c:v>17.5</c:v>
                </c:pt>
                <c:pt idx="2">
                  <c:v>16.8</c:v>
                </c:pt>
                <c:pt idx="3">
                  <c:v>15.6</c:v>
                </c:pt>
                <c:pt idx="4">
                  <c:v>14.9</c:v>
                </c:pt>
                <c:pt idx="5">
                  <c:v>14.1</c:v>
                </c:pt>
                <c:pt idx="6">
                  <c:v>13.4</c:v>
                </c:pt>
                <c:pt idx="7">
                  <c:v>12.8</c:v>
                </c:pt>
                <c:pt idx="8">
                  <c:v>12.1</c:v>
                </c:pt>
                <c:pt idx="9">
                  <c:v>11.6</c:v>
                </c:pt>
                <c:pt idx="10">
                  <c:v>11.2</c:v>
                </c:pt>
                <c:pt idx="11">
                  <c:v>10.7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one"/>
        <c:spPr>
          <a:ln>
            <a:solidFill>
              <a:srgbClr val="FFFFF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0.0"/>
          <c:min val="0.0"/>
        </c:scaling>
        <c:delete val="0"/>
        <c:axPos val="l"/>
        <c:majorTickMark val="out"/>
        <c:minorTickMark val="none"/>
        <c:tickLblPos val="none"/>
        <c:spPr>
          <a:ln>
            <a:solidFill>
              <a:srgbClr val="FFFFFF"/>
            </a:solidFill>
          </a:ln>
        </c:spPr>
        <c:crossAx val="2118791784"/>
        <c:crosses val="autoZero"/>
        <c:majorUnit val="2.0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82334"/>
                </a:solidFill>
                <a:latin typeface="Times New Roman"/>
              </a:rPr>
              <a:t>Портфель Актив + УО: структура и УПР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6888" y="448056"/>
            <a:ext cx="4389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767E88"/>
                </a:solidFill>
                <a:latin typeface="Aptos"/>
              </a:rPr>
              <a:t>УПР = остаток резерва / (Актив + УО)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41832" y="1051560"/>
          <a:ext cx="781812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41832" y="1051560"/>
          <a:ext cx="7818120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20624" y="2862072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>
                <a:solidFill>
                  <a:srgbClr val="AE9F84"/>
                </a:solidFill>
                <a:latin typeface="Times New Roman"/>
              </a:rPr>
              <a:t>УО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4169663"/>
            <a:ext cx="329184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30" b="1">
                <a:solidFill>
                  <a:srgbClr val="375678"/>
                </a:solidFill>
                <a:latin typeface="Times New Roman"/>
              </a:rPr>
              <a:t>Ак
тив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0416" y="960120"/>
            <a:ext cx="585215" cy="438912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708B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768096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1">
                <a:solidFill>
                  <a:srgbClr val="767E88"/>
                </a:solidFill>
                <a:latin typeface="Aptos"/>
              </a:rPr>
              <a:t>Итог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768096"/>
            <a:ext cx="612647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182334"/>
                </a:solidFill>
                <a:latin typeface="Aptos"/>
              </a:rPr>
              <a:t>7 420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768096"/>
            <a:ext cx="612647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182334"/>
                </a:solidFill>
                <a:latin typeface="Aptos"/>
              </a:rPr>
              <a:t>7 880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5728" y="768096"/>
            <a:ext cx="612647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182334"/>
                </a:solidFill>
                <a:latin typeface="Aptos"/>
              </a:rPr>
              <a:t>8 270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08376" y="768096"/>
            <a:ext cx="612647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182334"/>
                </a:solidFill>
                <a:latin typeface="Aptos"/>
              </a:rPr>
              <a:t>8 560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768096"/>
            <a:ext cx="612647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182334"/>
                </a:solidFill>
                <a:latin typeface="Aptos"/>
              </a:rPr>
              <a:t>8 910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33672" y="768096"/>
            <a:ext cx="612647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182334"/>
                </a:solidFill>
                <a:latin typeface="Aptos"/>
              </a:rPr>
              <a:t>9 240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768096"/>
            <a:ext cx="612647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182334"/>
                </a:solidFill>
                <a:latin typeface="Aptos"/>
              </a:rPr>
              <a:t>9 460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58968" y="768096"/>
            <a:ext cx="612647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182334"/>
                </a:solidFill>
                <a:latin typeface="Aptos"/>
              </a:rPr>
              <a:t>9 790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71616" y="768096"/>
            <a:ext cx="612647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182334"/>
                </a:solidFill>
                <a:latin typeface="Aptos"/>
              </a:rPr>
              <a:t>10 120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84264" y="768096"/>
            <a:ext cx="612647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182334"/>
                </a:solidFill>
                <a:latin typeface="Aptos"/>
              </a:rPr>
              <a:t>10 420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6912" y="768096"/>
            <a:ext cx="612647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182334"/>
                </a:solidFill>
                <a:latin typeface="Aptos"/>
              </a:rPr>
              <a:t>10 780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768096"/>
            <a:ext cx="612647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182334"/>
                </a:solidFill>
                <a:latin typeface="Aptos"/>
              </a:rPr>
              <a:t>11 080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749808"/>
            <a:ext cx="60350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80" b="1">
                <a:solidFill>
                  <a:srgbClr val="3F4856"/>
                </a:solidFill>
                <a:latin typeface="Aptos"/>
              </a:rPr>
              <a:t>УПР,
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6256" y="1280160"/>
            <a:ext cx="9144" cy="3822191"/>
          </a:xfrm>
          <a:prstGeom prst="rect">
            <a:avLst/>
          </a:prstGeom>
          <a:solidFill>
            <a:srgbClr val="989EA6"/>
          </a:solidFill>
          <a:ln>
            <a:solidFill>
              <a:srgbClr val="989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06256" y="5102352"/>
            <a:ext cx="45720" cy="7315"/>
          </a:xfrm>
          <a:prstGeom prst="rect">
            <a:avLst/>
          </a:prstGeom>
          <a:solidFill>
            <a:srgbClr val="989EA6"/>
          </a:solidFill>
          <a:ln>
            <a:solidFill>
              <a:srgbClr val="989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97696" y="5056632"/>
            <a:ext cx="310896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3F4856"/>
                </a:solidFill>
                <a:latin typeface="Aptos"/>
              </a:rPr>
              <a:t>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06256" y="4720132"/>
            <a:ext cx="45720" cy="7315"/>
          </a:xfrm>
          <a:prstGeom prst="rect">
            <a:avLst/>
          </a:prstGeom>
          <a:solidFill>
            <a:srgbClr val="989EA6"/>
          </a:solidFill>
          <a:ln>
            <a:solidFill>
              <a:srgbClr val="989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97696" y="4674412"/>
            <a:ext cx="310896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3F4856"/>
                </a:solidFill>
                <a:latin typeface="Aptos"/>
              </a:rPr>
              <a:t>2%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06256" y="4337913"/>
            <a:ext cx="45720" cy="7315"/>
          </a:xfrm>
          <a:prstGeom prst="rect">
            <a:avLst/>
          </a:prstGeom>
          <a:solidFill>
            <a:srgbClr val="989EA6"/>
          </a:solidFill>
          <a:ln>
            <a:solidFill>
              <a:srgbClr val="989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97696" y="4292193"/>
            <a:ext cx="310896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3F4856"/>
                </a:solidFill>
                <a:latin typeface="Aptos"/>
              </a:rPr>
              <a:t>4%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06256" y="3955694"/>
            <a:ext cx="45720" cy="7315"/>
          </a:xfrm>
          <a:prstGeom prst="rect">
            <a:avLst/>
          </a:prstGeom>
          <a:solidFill>
            <a:srgbClr val="989EA6"/>
          </a:solidFill>
          <a:ln>
            <a:solidFill>
              <a:srgbClr val="989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97696" y="3909974"/>
            <a:ext cx="310896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3F4856"/>
                </a:solidFill>
                <a:latin typeface="Aptos"/>
              </a:rPr>
              <a:t>6%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06256" y="3573475"/>
            <a:ext cx="45720" cy="7315"/>
          </a:xfrm>
          <a:prstGeom prst="rect">
            <a:avLst/>
          </a:prstGeom>
          <a:solidFill>
            <a:srgbClr val="989EA6"/>
          </a:solidFill>
          <a:ln>
            <a:solidFill>
              <a:srgbClr val="989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97696" y="3527755"/>
            <a:ext cx="310896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3F4856"/>
                </a:solidFill>
                <a:latin typeface="Aptos"/>
              </a:rPr>
              <a:t>8%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06256" y="3191256"/>
            <a:ext cx="45720" cy="7315"/>
          </a:xfrm>
          <a:prstGeom prst="rect">
            <a:avLst/>
          </a:prstGeom>
          <a:solidFill>
            <a:srgbClr val="989EA6"/>
          </a:solidFill>
          <a:ln>
            <a:solidFill>
              <a:srgbClr val="989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97696" y="3145536"/>
            <a:ext cx="310896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3F4856"/>
                </a:solidFill>
                <a:latin typeface="Aptos"/>
              </a:rPr>
              <a:t>10%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06256" y="2809036"/>
            <a:ext cx="45720" cy="7315"/>
          </a:xfrm>
          <a:prstGeom prst="rect">
            <a:avLst/>
          </a:prstGeom>
          <a:solidFill>
            <a:srgbClr val="989EA6"/>
          </a:solidFill>
          <a:ln>
            <a:solidFill>
              <a:srgbClr val="989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97696" y="2763316"/>
            <a:ext cx="310896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3F4856"/>
                </a:solidFill>
                <a:latin typeface="Aptos"/>
              </a:rPr>
              <a:t>12%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06256" y="2426817"/>
            <a:ext cx="45720" cy="7315"/>
          </a:xfrm>
          <a:prstGeom prst="rect">
            <a:avLst/>
          </a:prstGeom>
          <a:solidFill>
            <a:srgbClr val="989EA6"/>
          </a:solidFill>
          <a:ln>
            <a:solidFill>
              <a:srgbClr val="989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97696" y="2381097"/>
            <a:ext cx="310896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3F4856"/>
                </a:solidFill>
                <a:latin typeface="Aptos"/>
              </a:rPr>
              <a:t>14%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06256" y="2044598"/>
            <a:ext cx="45720" cy="7315"/>
          </a:xfrm>
          <a:prstGeom prst="rect">
            <a:avLst/>
          </a:prstGeom>
          <a:solidFill>
            <a:srgbClr val="989EA6"/>
          </a:solidFill>
          <a:ln>
            <a:solidFill>
              <a:srgbClr val="989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97696" y="1998878"/>
            <a:ext cx="310896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3F4856"/>
                </a:solidFill>
                <a:latin typeface="Aptos"/>
              </a:rPr>
              <a:t>16%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06256" y="1662379"/>
            <a:ext cx="45720" cy="7315"/>
          </a:xfrm>
          <a:prstGeom prst="rect">
            <a:avLst/>
          </a:prstGeom>
          <a:solidFill>
            <a:srgbClr val="989EA6"/>
          </a:solidFill>
          <a:ln>
            <a:solidFill>
              <a:srgbClr val="989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97696" y="1616659"/>
            <a:ext cx="310896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3F4856"/>
                </a:solidFill>
                <a:latin typeface="Aptos"/>
              </a:rPr>
              <a:t>18%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06256" y="1280160"/>
            <a:ext cx="45720" cy="7315"/>
          </a:xfrm>
          <a:prstGeom prst="rect">
            <a:avLst/>
          </a:prstGeom>
          <a:solidFill>
            <a:srgbClr val="989EA6"/>
          </a:solidFill>
          <a:ln>
            <a:solidFill>
              <a:srgbClr val="989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97696" y="1234440"/>
            <a:ext cx="310896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3F4856"/>
                </a:solidFill>
                <a:latin typeface="Aptos"/>
              </a:rPr>
              <a:t>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81160" y="987552"/>
            <a:ext cx="2468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182334"/>
                </a:solidFill>
                <a:latin typeface="Aptos"/>
              </a:rPr>
              <a:t>Расходы на резервы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81160" y="1152144"/>
            <a:ext cx="237744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40" b="0">
                <a:solidFill>
                  <a:srgbClr val="767E88"/>
                </a:solidFill>
                <a:latin typeface="Aptos"/>
              </a:rPr>
              <a:t>Таблица редактируется вручную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235440" y="1225296"/>
            <a:ext cx="2542032" cy="1481328"/>
          </a:xfrm>
          <a:prstGeom prst="roundRect">
            <a:avLst>
              <a:gd name="adj" fmla="val 1500"/>
            </a:avLst>
          </a:prstGeom>
          <a:noFill/>
          <a:ln w="1016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9281160" y="1325880"/>
          <a:ext cx="24231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1463040"/>
              </a:tblGrid>
              <a:tr h="256032"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182334"/>
                          </a:solidFill>
                          <a:latin typeface="Aptos"/>
                        </a:rPr>
                        <a:t>Месяц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182334"/>
                          </a:solidFill>
                          <a:latin typeface="Aptos"/>
                        </a:rPr>
                        <a:t>Расход, млн руб.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F4856"/>
                          </a:solidFill>
                          <a:latin typeface="Aptos"/>
                        </a:rPr>
                        <a:t>Сен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F4856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F4856"/>
                          </a:solidFill>
                          <a:latin typeface="Aptos"/>
                        </a:rPr>
                        <a:t>Окт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F4856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F4856"/>
                          </a:solidFill>
                          <a:latin typeface="Aptos"/>
                        </a:rPr>
                        <a:t>Ноя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F4856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F4856"/>
                          </a:solidFill>
                          <a:latin typeface="Aptos"/>
                        </a:rPr>
                        <a:t>Дек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F4856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TextBox 49"/>
          <p:cNvSpPr txBox="1"/>
          <p:nvPr/>
        </p:nvSpPr>
        <p:spPr>
          <a:xfrm>
            <a:off x="9281160" y="2834640"/>
            <a:ext cx="23774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182334"/>
                </a:solidFill>
                <a:latin typeface="Aptos"/>
              </a:rPr>
              <a:t>Крупные кейсы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281160" y="3072384"/>
            <a:ext cx="2423160" cy="1920240"/>
          </a:xfrm>
          <a:prstGeom prst="roundRect">
            <a:avLst>
              <a:gd name="adj" fmla="val 2000"/>
            </a:avLst>
          </a:prstGeom>
          <a:solidFill>
            <a:srgbClr val="F7F9FB"/>
          </a:solidFill>
          <a:ln w="1143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72600" y="3182112"/>
            <a:ext cx="22128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3F4856"/>
                </a:solidFill>
                <a:latin typeface="Aptos"/>
              </a:rPr>
              <a:t>1. [Название кейса] — сумма /
статус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72600" y="3566160"/>
            <a:ext cx="22128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3F4856"/>
                </a:solidFill>
                <a:latin typeface="Aptos"/>
              </a:rPr>
              <a:t>2. [Название кейса] — сумма /
статус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72600" y="3950208"/>
            <a:ext cx="22128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3F4856"/>
                </a:solidFill>
                <a:latin typeface="Aptos"/>
              </a:rPr>
              <a:t>3. [Название кейса] — сумма /
статус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72600" y="4334256"/>
            <a:ext cx="22128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3F4856"/>
                </a:solidFill>
                <a:latin typeface="Aptos"/>
              </a:rPr>
              <a:t>4. [Примечание / комментарий]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49808" y="5321808"/>
            <a:ext cx="8193024" cy="65836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 w="1016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9808" y="5193792"/>
            <a:ext cx="2286000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40" b="1">
                <a:solidFill>
                  <a:srgbClr val="767E88"/>
                </a:solidFill>
                <a:latin typeface="Aptos"/>
              </a:rPr>
              <a:t>Объемы отдельно по Активу и УО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6112" y="5413248"/>
            <a:ext cx="54864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1">
                <a:solidFill>
                  <a:srgbClr val="375678"/>
                </a:solidFill>
                <a:latin typeface="Aptos"/>
              </a:rPr>
              <a:t>Актив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6112" y="5669280"/>
            <a:ext cx="54864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1">
                <a:solidFill>
                  <a:srgbClr val="AE9F84"/>
                </a:solidFill>
                <a:latin typeface="Aptos"/>
              </a:rPr>
              <a:t>УО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61288" y="5394960"/>
            <a:ext cx="612647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60" b="0">
                <a:solidFill>
                  <a:srgbClr val="3F4856"/>
                </a:solidFill>
                <a:latin typeface="Aptos"/>
              </a:rPr>
              <a:t>4 720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61288" y="5650992"/>
            <a:ext cx="612647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60" b="0">
                <a:solidFill>
                  <a:srgbClr val="3F4856"/>
                </a:solidFill>
                <a:latin typeface="Aptos"/>
              </a:rPr>
              <a:t>2 700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773936" y="5394960"/>
            <a:ext cx="612647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60" b="0">
                <a:solidFill>
                  <a:srgbClr val="3F4856"/>
                </a:solidFill>
                <a:latin typeface="Aptos"/>
              </a:rPr>
              <a:t>5 030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773936" y="5650992"/>
            <a:ext cx="612647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60" b="0">
                <a:solidFill>
                  <a:srgbClr val="3F4856"/>
                </a:solidFill>
                <a:latin typeface="Aptos"/>
              </a:rPr>
              <a:t>2 850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86584" y="5394960"/>
            <a:ext cx="612647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60" b="0">
                <a:solidFill>
                  <a:srgbClr val="3F4856"/>
                </a:solidFill>
                <a:latin typeface="Aptos"/>
              </a:rPr>
              <a:t>5 220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386584" y="5650992"/>
            <a:ext cx="612647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60" b="0">
                <a:solidFill>
                  <a:srgbClr val="3F4856"/>
                </a:solidFill>
                <a:latin typeface="Aptos"/>
              </a:rPr>
              <a:t>3 050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99232" y="5394960"/>
            <a:ext cx="612647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60" b="0">
                <a:solidFill>
                  <a:srgbClr val="3F4856"/>
                </a:solidFill>
                <a:latin typeface="Aptos"/>
              </a:rPr>
              <a:t>5 400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999232" y="5650992"/>
            <a:ext cx="612647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60" b="0">
                <a:solidFill>
                  <a:srgbClr val="3F4856"/>
                </a:solidFill>
                <a:latin typeface="Aptos"/>
              </a:rPr>
              <a:t>3 160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11879" y="5394960"/>
            <a:ext cx="612647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60" b="0">
                <a:solidFill>
                  <a:srgbClr val="3F4856"/>
                </a:solidFill>
                <a:latin typeface="Aptos"/>
              </a:rPr>
              <a:t>5 600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11879" y="5650992"/>
            <a:ext cx="612647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60" b="0">
                <a:solidFill>
                  <a:srgbClr val="3F4856"/>
                </a:solidFill>
                <a:latin typeface="Aptos"/>
              </a:rPr>
              <a:t>3 310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24528" y="5394960"/>
            <a:ext cx="612647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60" b="0">
                <a:solidFill>
                  <a:srgbClr val="3F4856"/>
                </a:solidFill>
                <a:latin typeface="Aptos"/>
              </a:rPr>
              <a:t>5 810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224528" y="5650992"/>
            <a:ext cx="612647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60" b="0">
                <a:solidFill>
                  <a:srgbClr val="3F4856"/>
                </a:solidFill>
                <a:latin typeface="Aptos"/>
              </a:rPr>
              <a:t>3 430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37176" y="5394960"/>
            <a:ext cx="612647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60" b="0">
                <a:solidFill>
                  <a:srgbClr val="3F4856"/>
                </a:solidFill>
                <a:latin typeface="Aptos"/>
              </a:rPr>
              <a:t>5 950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837176" y="5650992"/>
            <a:ext cx="612647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60" b="0">
                <a:solidFill>
                  <a:srgbClr val="3F4856"/>
                </a:solidFill>
                <a:latin typeface="Aptos"/>
              </a:rPr>
              <a:t>3 510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49824" y="5394960"/>
            <a:ext cx="612647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60" b="0">
                <a:solidFill>
                  <a:srgbClr val="3F4856"/>
                </a:solidFill>
                <a:latin typeface="Aptos"/>
              </a:rPr>
              <a:t>6 140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49824" y="5650992"/>
            <a:ext cx="612647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60" b="0">
                <a:solidFill>
                  <a:srgbClr val="3F4856"/>
                </a:solidFill>
                <a:latin typeface="Aptos"/>
              </a:rPr>
              <a:t>3 650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062472" y="5394960"/>
            <a:ext cx="612647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60" b="0">
                <a:solidFill>
                  <a:srgbClr val="3F4856"/>
                </a:solidFill>
                <a:latin typeface="Aptos"/>
              </a:rPr>
              <a:t>6 330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062472" y="5650992"/>
            <a:ext cx="612647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60" b="0">
                <a:solidFill>
                  <a:srgbClr val="3F4856"/>
                </a:solidFill>
                <a:latin typeface="Aptos"/>
              </a:rPr>
              <a:t>3 790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675120" y="5394960"/>
            <a:ext cx="612647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60" b="0">
                <a:solidFill>
                  <a:srgbClr val="3F4856"/>
                </a:solidFill>
                <a:latin typeface="Aptos"/>
              </a:rPr>
              <a:t>6 500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75120" y="5650992"/>
            <a:ext cx="612647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60" b="0">
                <a:solidFill>
                  <a:srgbClr val="3F4856"/>
                </a:solidFill>
                <a:latin typeface="Aptos"/>
              </a:rPr>
              <a:t>3 920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287768" y="5394960"/>
            <a:ext cx="612647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60" b="0">
                <a:solidFill>
                  <a:srgbClr val="3F4856"/>
                </a:solidFill>
                <a:latin typeface="Aptos"/>
              </a:rPr>
              <a:t>6 720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287768" y="5650992"/>
            <a:ext cx="612647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60" b="0">
                <a:solidFill>
                  <a:srgbClr val="3F4856"/>
                </a:solidFill>
                <a:latin typeface="Aptos"/>
              </a:rPr>
              <a:t>4 060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900416" y="5394960"/>
            <a:ext cx="612647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60" b="0">
                <a:solidFill>
                  <a:srgbClr val="3F4856"/>
                </a:solidFill>
                <a:latin typeface="Aptos"/>
              </a:rPr>
              <a:t>6 860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900416" y="5650992"/>
            <a:ext cx="612647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60" b="0">
                <a:solidFill>
                  <a:srgbClr val="3F4856"/>
                </a:solidFill>
                <a:latin typeface="Aptos"/>
              </a:rPr>
              <a:t>4 220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82880" y="6144768"/>
            <a:ext cx="8229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1">
                <a:solidFill>
                  <a:srgbClr val="182334"/>
                </a:solidFill>
                <a:latin typeface="Aptos"/>
              </a:rPr>
              <a:t>Актив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584448" y="6144768"/>
            <a:ext cx="640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1">
                <a:solidFill>
                  <a:srgbClr val="182334"/>
                </a:solidFill>
                <a:latin typeface="Aptos"/>
              </a:rPr>
              <a:t>УО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291840" y="6126480"/>
            <a:ext cx="7315" cy="402336"/>
          </a:xfrm>
          <a:prstGeom prst="rect">
            <a:avLst/>
          </a:prstGeom>
          <a:solidFill>
            <a:srgbClr val="DCDFE3"/>
          </a:solidFill>
          <a:ln>
            <a:solidFill>
              <a:srgbClr val="DC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656832" y="6126480"/>
            <a:ext cx="7315" cy="402336"/>
          </a:xfrm>
          <a:prstGeom prst="rect">
            <a:avLst/>
          </a:prstGeom>
          <a:solidFill>
            <a:srgbClr val="DCDFE3"/>
          </a:solidFill>
          <a:ln>
            <a:solidFill>
              <a:srgbClr val="DC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82880" y="6309359"/>
            <a:ext cx="201168" cy="128016"/>
          </a:xfrm>
          <a:prstGeom prst="rect">
            <a:avLst/>
          </a:prstGeom>
          <a:solidFill>
            <a:srgbClr val="37567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29768" y="6300216"/>
            <a:ext cx="69494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9" b="0">
                <a:solidFill>
                  <a:srgbClr val="3F4856"/>
                </a:solidFill>
                <a:latin typeface="Aptos"/>
              </a:rPr>
              <a:t>необесп.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170432" y="6309359"/>
            <a:ext cx="201168" cy="128016"/>
          </a:xfrm>
          <a:prstGeom prst="rect">
            <a:avLst/>
          </a:prstGeom>
          <a:solidFill>
            <a:srgbClr val="6A95C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417320" y="6300216"/>
            <a:ext cx="69494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9" b="0">
                <a:solidFill>
                  <a:srgbClr val="3F4856"/>
                </a:solidFill>
                <a:latin typeface="Aptos"/>
              </a:rPr>
              <a:t>ПФН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901952" y="6309359"/>
            <a:ext cx="201168" cy="128016"/>
          </a:xfrm>
          <a:prstGeom prst="rect">
            <a:avLst/>
          </a:prstGeom>
          <a:solidFill>
            <a:srgbClr val="A9C2D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48840" y="6300216"/>
            <a:ext cx="69494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9" b="0">
                <a:solidFill>
                  <a:srgbClr val="3F4856"/>
                </a:solidFill>
                <a:latin typeface="Aptos"/>
              </a:rPr>
              <a:t>хорошие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584448" y="6309359"/>
            <a:ext cx="201168" cy="128016"/>
          </a:xfrm>
          <a:prstGeom prst="rect">
            <a:avLst/>
          </a:prstGeom>
          <a:solidFill>
            <a:srgbClr val="AE9F8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831335" y="6300216"/>
            <a:ext cx="69494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9" b="0">
                <a:solidFill>
                  <a:srgbClr val="3F4856"/>
                </a:solidFill>
                <a:latin typeface="Aptos"/>
              </a:rPr>
              <a:t>необесп.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572000" y="6309359"/>
            <a:ext cx="201168" cy="128016"/>
          </a:xfrm>
          <a:prstGeom prst="rect">
            <a:avLst/>
          </a:prstGeom>
          <a:solidFill>
            <a:srgbClr val="CDC1A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818888" y="6300216"/>
            <a:ext cx="69494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9" b="0">
                <a:solidFill>
                  <a:srgbClr val="3F4856"/>
                </a:solidFill>
                <a:latin typeface="Aptos"/>
              </a:rPr>
              <a:t>ПФН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303520" y="6309359"/>
            <a:ext cx="201168" cy="128016"/>
          </a:xfrm>
          <a:prstGeom prst="rect">
            <a:avLst/>
          </a:prstGeom>
          <a:solidFill>
            <a:srgbClr val="E6DF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550408" y="6300216"/>
            <a:ext cx="69494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9" b="0">
                <a:solidFill>
                  <a:srgbClr val="3F4856"/>
                </a:solidFill>
                <a:latin typeface="Aptos"/>
              </a:rPr>
              <a:t>хорошие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205472" y="6373368"/>
            <a:ext cx="310896" cy="16459"/>
          </a:xfrm>
          <a:prstGeom prst="rect">
            <a:avLst/>
          </a:prstGeom>
          <a:solidFill>
            <a:srgbClr val="1C2027"/>
          </a:solidFill>
          <a:ln>
            <a:solidFill>
              <a:srgbClr val="1C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7324344" y="6327648"/>
            <a:ext cx="73152" cy="73152"/>
          </a:xfrm>
          <a:prstGeom prst="ellipse">
            <a:avLst/>
          </a:prstGeom>
          <a:solidFill>
            <a:srgbClr val="1C2027"/>
          </a:solidFill>
          <a:ln>
            <a:solidFill>
              <a:srgbClr val="1C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589520" y="6236207"/>
            <a:ext cx="2286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90" b="0">
                <a:solidFill>
                  <a:srgbClr val="3F4856"/>
                </a:solidFill>
                <a:latin typeface="Aptos"/>
              </a:rPr>
              <a:t>УПР = остаток резерва / (Актив + УО)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2880" y="6620256"/>
            <a:ext cx="7132320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767E88"/>
                </a:solidFill>
                <a:latin typeface="Aptos"/>
              </a:rPr>
              <a:t>Шаблон редактируемый: обновите данные у столбчатой диаграммы, линии УПР и таблиц справа.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458200" y="6611112"/>
            <a:ext cx="3246120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30" b="0">
                <a:solidFill>
                  <a:srgbClr val="767E88"/>
                </a:solidFill>
                <a:latin typeface="Aptos"/>
              </a:rPr>
              <a:t>КОНФИДЕНЦИАЛЬНО  |  ДЛЯ РУКОВОДСТВА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