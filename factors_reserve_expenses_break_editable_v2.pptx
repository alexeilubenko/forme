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PD</c:v>
                </c:pt>
              </c:strCache>
            </c:strRef>
          </c:tx>
          <c:spPr>
            <a:solidFill>
              <a:srgbClr val="3C597C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Рост LGD</c:v>
                </c:pt>
              </c:strCache>
            </c:strRef>
          </c:tx>
          <c:spPr>
            <a:solidFill>
              <a:srgbClr val="6791BF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Миграция в NPL</c:v>
                </c:pt>
              </c:strCache>
            </c:strRef>
          </c:tx>
          <c:spPr>
            <a:solidFill>
              <a:srgbClr val="ABC1DC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Крупные кейсы</c:v>
                </c:pt>
              </c:strCache>
            </c:strRef>
          </c:tx>
          <c:spPr>
            <a:solidFill>
              <a:srgbClr val="C4BAA4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Прочие</c:v>
                </c:pt>
              </c:strCache>
            </c:strRef>
          </c:tx>
          <c:spPr>
            <a:solidFill>
              <a:srgbClr val="C2CCD9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2.0</c:v>
                </c:pt>
                <c:pt idx="11">
                  <c:v>5.0</c:v>
                </c:pt>
              </c:numCache>
            </c:numRef>
          </c:val>
        </c:ser>
        <c:gapWidth val="38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 w="10160">
              <a:solidFill>
                <a:srgbClr val="DFE3E8"/>
              </a:solidFill>
            </a:ln>
          </c:spPr>
        </c:majorGridlines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PD</c:v>
                </c:pt>
              </c:strCache>
            </c:strRef>
          </c:tx>
          <c:spPr>
            <a:solidFill>
              <a:srgbClr val="3C597C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</c:v>
                </c:pt>
                <c:pt idx="1">
                  <c:v>1.4</c:v>
                </c:pt>
                <c:pt idx="2">
                  <c:v>1.9</c:v>
                </c:pt>
                <c:pt idx="3">
                  <c:v>2.4</c:v>
                </c:pt>
                <c:pt idx="4">
                  <c:v>3.0</c:v>
                </c:pt>
                <c:pt idx="5">
                  <c:v>3.7</c:v>
                </c:pt>
                <c:pt idx="6">
                  <c:v>4.4</c:v>
                </c:pt>
                <c:pt idx="7">
                  <c:v>5.1</c:v>
                </c:pt>
                <c:pt idx="8">
                  <c:v>6.2</c:v>
                </c:pt>
                <c:pt idx="9">
                  <c:v>6.8</c:v>
                </c:pt>
                <c:pt idx="10">
                  <c:v>7.8</c:v>
                </c:pt>
                <c:pt idx="11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Рост LGD</c:v>
                </c:pt>
              </c:strCache>
            </c:strRef>
          </c:tx>
          <c:spPr>
            <a:solidFill>
              <a:srgbClr val="6791BF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</c:v>
                </c:pt>
                <c:pt idx="1">
                  <c:v>0.8</c:v>
                </c:pt>
                <c:pt idx="2">
                  <c:v>1.0</c:v>
                </c:pt>
                <c:pt idx="3">
                  <c:v>1.4</c:v>
                </c:pt>
                <c:pt idx="4">
                  <c:v>1.7</c:v>
                </c:pt>
                <c:pt idx="5">
                  <c:v>2.1</c:v>
                </c:pt>
                <c:pt idx="6">
                  <c:v>2.6</c:v>
                </c:pt>
                <c:pt idx="7">
                  <c:v>3.1</c:v>
                </c:pt>
                <c:pt idx="8">
                  <c:v>3.6</c:v>
                </c:pt>
                <c:pt idx="9">
                  <c:v>4.2</c:v>
                </c:pt>
                <c:pt idx="10">
                  <c:v>4.4</c:v>
                </c:pt>
                <c:pt idx="11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Миграция в NPL</c:v>
                </c:pt>
              </c:strCache>
            </c:strRef>
          </c:tx>
          <c:spPr>
            <a:solidFill>
              <a:srgbClr val="ABC1DC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</c:v>
                </c:pt>
                <c:pt idx="1">
                  <c:v>0.7</c:v>
                </c:pt>
                <c:pt idx="2">
                  <c:v>1.0</c:v>
                </c:pt>
                <c:pt idx="3">
                  <c:v>1.1</c:v>
                </c:pt>
                <c:pt idx="4">
                  <c:v>1.4</c:v>
                </c:pt>
                <c:pt idx="5">
                  <c:v>1.8</c:v>
                </c:pt>
                <c:pt idx="6">
                  <c:v>2.4</c:v>
                </c:pt>
                <c:pt idx="7">
                  <c:v>2.8</c:v>
                </c:pt>
                <c:pt idx="8">
                  <c:v>3.1</c:v>
                </c:pt>
                <c:pt idx="9">
                  <c:v>3.4</c:v>
                </c:pt>
                <c:pt idx="10">
                  <c:v>2.8</c:v>
                </c:pt>
                <c:pt idx="11">
                  <c:v>1.8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Крупные кейсы</c:v>
                </c:pt>
              </c:strCache>
            </c:strRef>
          </c:tx>
          <c:spPr>
            <a:solidFill>
              <a:srgbClr val="C4BAA4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0.2</c:v>
                </c:pt>
                <c:pt idx="1">
                  <c:v>1.2</c:v>
                </c:pt>
                <c:pt idx="2">
                  <c:v>1.4</c:v>
                </c:pt>
                <c:pt idx="3">
                  <c:v>1.0</c:v>
                </c:pt>
                <c:pt idx="4">
                  <c:v>1.2</c:v>
                </c:pt>
                <c:pt idx="5">
                  <c:v>1.6</c:v>
                </c:pt>
                <c:pt idx="6">
                  <c:v>1.9</c:v>
                </c:pt>
                <c:pt idx="7">
                  <c:v>2.0</c:v>
                </c:pt>
                <c:pt idx="8">
                  <c:v>2.1</c:v>
                </c:pt>
                <c:pt idx="9">
                  <c:v>0.6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Прочие</c:v>
                </c:pt>
              </c:strCache>
            </c:strRef>
          </c:tx>
          <c:spPr>
            <a:solidFill>
              <a:srgbClr val="C2CCD9"/>
            </a:solidFill>
            <a:ln w="9525">
              <a:solidFill>
                <a:srgbClr val="FFFFFF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0.2</c:v>
                </c:pt>
                <c:pt idx="1">
                  <c:v>0.9</c:v>
                </c:pt>
                <c:pt idx="2">
                  <c:v>2.7</c:v>
                </c:pt>
                <c:pt idx="3">
                  <c:v>4.1</c:v>
                </c:pt>
                <c:pt idx="4">
                  <c:v>4.7</c:v>
                </c:pt>
                <c:pt idx="5">
                  <c:v>5.8</c:v>
                </c:pt>
                <c:pt idx="6">
                  <c:v>3.7</c:v>
                </c:pt>
                <c:pt idx="7">
                  <c:v>2.0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gapWidth val="38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89EA6"/>
            </a:solidFill>
          </a:ln>
        </c:spPr>
        <c:txPr>
          <a:bodyPr/>
          <a:lstStyle/>
          <a:p>
            <a:pPr>
              <a:defRPr sz="1000">
                <a:solidFill>
                  <a:srgbClr val="434D5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 w="10160">
              <a:solidFill>
                <a:srgbClr val="DFE3E8"/>
              </a:solidFill>
            </a:ln>
          </c:spPr>
        </c:majorGridlines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6217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92234"/>
                </a:solidFill>
                <a:latin typeface="Times New Roman"/>
              </a:rPr>
              <a:t>Факторы расходов на резервы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11480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78818C"/>
                </a:solidFill>
                <a:latin typeface="Aptos"/>
              </a:rPr>
              <a:t>Редактируемый шаблон PowerPoint: диаграмма с накоплением, обратная ось, разрыв -15…-25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78992" y="1353312"/>
          <a:ext cx="8942832" cy="16093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78992" y="3127248"/>
          <a:ext cx="8942832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 rot="16200000">
            <a:off x="91440" y="2423160"/>
            <a:ext cx="2011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92234"/>
                </a:solidFill>
                <a:latin typeface="Aptos"/>
              </a:rPr>
              <a:t>Расходы на резервы, млн руб.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353312"/>
            <a:ext cx="9144" cy="1609344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3127248"/>
            <a:ext cx="9144" cy="2286000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353312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89304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157984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093976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2656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898648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127248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63240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889248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825240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51248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87240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-5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413248"/>
            <a:ext cx="45720" cy="7315"/>
          </a:xfrm>
          <a:prstGeom prst="rect">
            <a:avLst/>
          </a:prstGeom>
          <a:solidFill>
            <a:srgbClr val="78818B"/>
          </a:solidFill>
          <a:ln>
            <a:solidFill>
              <a:srgbClr val="788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349240"/>
            <a:ext cx="2743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19" b="0">
                <a:solidFill>
                  <a:srgbClr val="434D5A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 rot="19500000">
            <a:off x="841248" y="2962656"/>
            <a:ext cx="164592" cy="10972"/>
          </a:xfrm>
          <a:prstGeom prst="rect">
            <a:avLst/>
          </a:prstGeom>
          <a:solidFill>
            <a:srgbClr val="4E5968"/>
          </a:solidFill>
          <a:ln>
            <a:solidFill>
              <a:srgbClr val="4E5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9500000">
            <a:off x="841248" y="3026664"/>
            <a:ext cx="164592" cy="10972"/>
          </a:xfrm>
          <a:prstGeom prst="rect">
            <a:avLst/>
          </a:prstGeom>
          <a:solidFill>
            <a:srgbClr val="4E5968"/>
          </a:solidFill>
          <a:ln>
            <a:solidFill>
              <a:srgbClr val="4E5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4932" y="49255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2830" y="44683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0728" y="40111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8626" y="37063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6524" y="34015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4422" y="2944368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2320" y="3054096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218" y="3054096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8116" y="3054096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6014" y="3054096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3912" y="2457907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1810" y="1975104"/>
            <a:ext cx="438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1">
                <a:solidFill>
                  <a:srgbClr val="192234"/>
                </a:solidFill>
                <a:latin typeface="Aptos"/>
              </a:rPr>
              <a:t>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84831" y="6163056"/>
            <a:ext cx="274320" cy="164592"/>
          </a:xfrm>
          <a:prstGeom prst="rect">
            <a:avLst/>
          </a:prstGeom>
          <a:solidFill>
            <a:srgbClr val="3C597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2303" y="6135624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34D5A"/>
                </a:solidFill>
                <a:latin typeface="Aptos"/>
              </a:rPr>
              <a:t>Рост PD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6163056"/>
            <a:ext cx="274320" cy="164592"/>
          </a:xfrm>
          <a:prstGeom prst="rect">
            <a:avLst/>
          </a:prstGeom>
          <a:solidFill>
            <a:srgbClr val="6791B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6135624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34D5A"/>
                </a:solidFill>
                <a:latin typeface="Aptos"/>
              </a:rPr>
              <a:t>Рост LGD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1728" y="6163056"/>
            <a:ext cx="274320" cy="164592"/>
          </a:xfrm>
          <a:prstGeom prst="rect">
            <a:avLst/>
          </a:prstGeom>
          <a:solidFill>
            <a:srgbClr val="ABC1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6135624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34D5A"/>
                </a:solidFill>
                <a:latin typeface="Aptos"/>
              </a:rPr>
              <a:t>Миграция в NPL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3408" y="6163056"/>
            <a:ext cx="274320" cy="164592"/>
          </a:xfrm>
          <a:prstGeom prst="rect">
            <a:avLst/>
          </a:prstGeom>
          <a:solidFill>
            <a:srgbClr val="C4BA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6135624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34D5A"/>
                </a:solidFill>
                <a:latin typeface="Aptos"/>
              </a:rPr>
              <a:t>Крупные кейсы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13648" y="6163056"/>
            <a:ext cx="274320" cy="164592"/>
          </a:xfrm>
          <a:prstGeom prst="rect">
            <a:avLst/>
          </a:prstGeom>
          <a:solidFill>
            <a:srgbClr val="C2CC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6135624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34D5A"/>
                </a:solidFill>
                <a:latin typeface="Aptos"/>
              </a:rPr>
              <a:t>Прочие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" y="6519672"/>
            <a:ext cx="53035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70" b="0">
                <a:solidFill>
                  <a:srgbClr val="78818C"/>
                </a:solidFill>
                <a:latin typeface="Aptos"/>
              </a:rPr>
              <a:t>Редактирование: обновите данные в двух диаграммах; разрыв, ось и подписи — отдельные редактируемые элементы.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6510528"/>
            <a:ext cx="26517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0">
                <a:solidFill>
                  <a:srgbClr val="78818C"/>
                </a:solidFill>
                <a:latin typeface="Aptos"/>
              </a:rPr>
              <a:t>КОНФИДЕНЦИАЛЬНО  |  ДЛЯ РУКОВОДСТВА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46920" y="1389888"/>
            <a:ext cx="2148840" cy="1874519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>
            <a:solidFill>
              <a:srgbClr val="E6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02368" y="1499616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2234"/>
                </a:solidFill>
                <a:latin typeface="Aptos"/>
              </a:rPr>
              <a:t>Как редактировать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1700784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34D5A"/>
                </a:solidFill>
                <a:latin typeface="Aptos"/>
              </a:rPr>
              <a:t>1. Нижняя диаграмма: диапазон 0…-15.
2. Верхняя диаграмма: диапазон -25…-35.
3. Разрыв шкалы — это две линии и подписи слева.
4. Итоги над столбцами редактируются отдельно.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