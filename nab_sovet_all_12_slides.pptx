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142857"/>
            </a:avLst>
          </a:prstGeom>
          <a:solidFill>
            <a:srgbClr val="0D2A4F"/>
          </a:solidFill>
          <a:ln w="12700">
            <a:solidFill>
              <a:srgbClr val="0D2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65176"/>
            <a:ext cx="640080" cy="667512"/>
          </a:xfrm>
          <a:prstGeom prst="roundRect">
            <a:avLst>
              <a:gd name="adj" fmla="val 8571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429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01/03</a:t>
            </a:r>
            <a:endParaRPr lang="ru-RU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246888"/>
            <a:ext cx="10405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3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Финансовое состояние кредитополучателя</a:t>
            </a:r>
            <a:endParaRPr lang="ru-RU" sz="2300" dirty="0"/>
          </a:p>
        </p:txBody>
      </p:sp>
      <p:sp>
        <p:nvSpPr>
          <p:cNvPr id="6" name="Text 4"/>
          <p:cNvSpPr/>
          <p:nvPr/>
        </p:nvSpPr>
        <p:spPr>
          <a:xfrm>
            <a:off x="1252728" y="74066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Ключевые показатели, динамика и кредитная история (пример оформления)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1311128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8056" y="6556248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ВАРИАНТ А  |  ДЕМОНСТРАЦИОННЫЙ МАКЕТ: цифры, ставки и выводы подлежат подтверждению</a:t>
            </a:r>
            <a:endParaRPr lang="ru-RU" sz="800" dirty="0"/>
          </a:p>
        </p:txBody>
      </p:sp>
      <p:sp>
        <p:nvSpPr>
          <p:cNvPr id="9" name="Text 7"/>
          <p:cNvSpPr/>
          <p:nvPr/>
        </p:nvSpPr>
        <p:spPr>
          <a:xfrm>
            <a:off x="11027664" y="65471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7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1/3</a:t>
            </a:r>
            <a:endParaRPr lang="ru-RU" sz="870" dirty="0"/>
          </a:p>
        </p:txBody>
      </p:sp>
      <p:sp>
        <p:nvSpPr>
          <p:cNvPr id="10" name="Text 8"/>
          <p:cNvSpPr/>
          <p:nvPr/>
        </p:nvSpPr>
        <p:spPr>
          <a:xfrm>
            <a:off x="585216" y="13807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Динамика финансовых показателей, млн USD</a:t>
            </a:r>
            <a:endParaRPr lang="ru-RU" sz="1250" dirty="0"/>
          </a:p>
        </p:txBody>
      </p:sp>
      <p:sp>
        <p:nvSpPr>
          <p:cNvPr id="11" name="Shape 9"/>
          <p:cNvSpPr/>
          <p:nvPr/>
        </p:nvSpPr>
        <p:spPr>
          <a:xfrm>
            <a:off x="1024128" y="3429000"/>
            <a:ext cx="6300216" cy="0"/>
          </a:xfrm>
          <a:prstGeom prst="line">
            <a:avLst/>
          </a:prstGeom>
          <a:noFill/>
          <a:ln w="952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21792" y="33375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6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ru-RU" sz="860" dirty="0"/>
          </a:p>
        </p:txBody>
      </p:sp>
      <p:sp>
        <p:nvSpPr>
          <p:cNvPr id="13" name="Shape 11"/>
          <p:cNvSpPr/>
          <p:nvPr/>
        </p:nvSpPr>
        <p:spPr>
          <a:xfrm>
            <a:off x="1024128" y="3031236"/>
            <a:ext cx="6300216" cy="0"/>
          </a:xfrm>
          <a:prstGeom prst="line">
            <a:avLst/>
          </a:prstGeom>
          <a:noFill/>
          <a:ln w="952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621792" y="293979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6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</a:t>
            </a:r>
            <a:endParaRPr lang="ru-RU" sz="860" dirty="0"/>
          </a:p>
        </p:txBody>
      </p:sp>
      <p:sp>
        <p:nvSpPr>
          <p:cNvPr id="15" name="Shape 13"/>
          <p:cNvSpPr/>
          <p:nvPr/>
        </p:nvSpPr>
        <p:spPr>
          <a:xfrm>
            <a:off x="1024128" y="2633472"/>
            <a:ext cx="6300216" cy="0"/>
          </a:xfrm>
          <a:prstGeom prst="line">
            <a:avLst/>
          </a:prstGeom>
          <a:noFill/>
          <a:ln w="952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21792" y="25420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6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125</a:t>
            </a:r>
            <a:endParaRPr lang="ru-RU" sz="860" dirty="0"/>
          </a:p>
        </p:txBody>
      </p:sp>
      <p:sp>
        <p:nvSpPr>
          <p:cNvPr id="17" name="Shape 15"/>
          <p:cNvSpPr/>
          <p:nvPr/>
        </p:nvSpPr>
        <p:spPr>
          <a:xfrm>
            <a:off x="1024128" y="2235708"/>
            <a:ext cx="6300216" cy="0"/>
          </a:xfrm>
          <a:prstGeom prst="line">
            <a:avLst/>
          </a:prstGeom>
          <a:noFill/>
          <a:ln w="952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621792" y="214426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6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188</a:t>
            </a:r>
            <a:endParaRPr lang="ru-RU" sz="860" dirty="0"/>
          </a:p>
        </p:txBody>
      </p:sp>
      <p:sp>
        <p:nvSpPr>
          <p:cNvPr id="19" name="Shape 17"/>
          <p:cNvSpPr/>
          <p:nvPr/>
        </p:nvSpPr>
        <p:spPr>
          <a:xfrm>
            <a:off x="1024128" y="1837944"/>
            <a:ext cx="6300216" cy="0"/>
          </a:xfrm>
          <a:prstGeom prst="line">
            <a:avLst/>
          </a:prstGeom>
          <a:noFill/>
          <a:ln w="952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21792" y="174650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6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</a:t>
            </a:r>
            <a:endParaRPr lang="ru-RU" sz="860" dirty="0"/>
          </a:p>
        </p:txBody>
      </p:sp>
      <p:sp>
        <p:nvSpPr>
          <p:cNvPr id="21" name="Shape 19"/>
          <p:cNvSpPr/>
          <p:nvPr/>
        </p:nvSpPr>
        <p:spPr>
          <a:xfrm>
            <a:off x="1033272" y="3429000"/>
            <a:ext cx="6291072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32688" y="35021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9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</a:t>
            </a:r>
            <a:endParaRPr lang="ru-RU" sz="890" dirty="0"/>
          </a:p>
        </p:txBody>
      </p:sp>
      <p:sp>
        <p:nvSpPr>
          <p:cNvPr id="23" name="Text 21"/>
          <p:cNvSpPr/>
          <p:nvPr/>
        </p:nvSpPr>
        <p:spPr>
          <a:xfrm>
            <a:off x="3840480" y="35021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9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</a:t>
            </a:r>
            <a:endParaRPr lang="ru-RU" sz="890" dirty="0"/>
          </a:p>
        </p:txBody>
      </p:sp>
      <p:sp>
        <p:nvSpPr>
          <p:cNvPr id="24" name="Text 22"/>
          <p:cNvSpPr/>
          <p:nvPr/>
        </p:nvSpPr>
        <p:spPr>
          <a:xfrm>
            <a:off x="6748272" y="35021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9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ru-RU" sz="890" dirty="0"/>
          </a:p>
        </p:txBody>
      </p:sp>
      <p:sp>
        <p:nvSpPr>
          <p:cNvPr id="25" name="Shape 23"/>
          <p:cNvSpPr/>
          <p:nvPr/>
        </p:nvSpPr>
        <p:spPr>
          <a:xfrm>
            <a:off x="1159459" y="2426818"/>
            <a:ext cx="95098" cy="95098"/>
          </a:xfrm>
          <a:prstGeom prst="ellipse">
            <a:avLst/>
          </a:prstGeom>
          <a:solidFill>
            <a:srgbClr val="133B65"/>
          </a:solidFill>
          <a:ln w="6350">
            <a:solidFill>
              <a:srgbClr val="133B6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7251" y="2235891"/>
            <a:ext cx="95098" cy="95098"/>
          </a:xfrm>
          <a:prstGeom prst="ellipse">
            <a:avLst/>
          </a:prstGeom>
          <a:solidFill>
            <a:srgbClr val="133B65"/>
          </a:solidFill>
          <a:ln w="6350">
            <a:solidFill>
              <a:srgbClr val="133B6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" y="2474366"/>
            <a:ext cx="2907792" cy="-190927"/>
          </a:xfrm>
          <a:prstGeom prst="line">
            <a:avLst/>
          </a:prstGeom>
          <a:noFill/>
          <a:ln w="25400">
            <a:solidFill>
              <a:srgbClr val="133B65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6975043" y="1981322"/>
            <a:ext cx="95098" cy="95098"/>
          </a:xfrm>
          <a:prstGeom prst="ellipse">
            <a:avLst/>
          </a:prstGeom>
          <a:solidFill>
            <a:srgbClr val="133B65"/>
          </a:solidFill>
          <a:ln w="6350">
            <a:solidFill>
              <a:srgbClr val="133B6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2283440"/>
            <a:ext cx="2907792" cy="-254569"/>
          </a:xfrm>
          <a:prstGeom prst="line">
            <a:avLst/>
          </a:prstGeom>
          <a:noFill/>
          <a:ln w="25400">
            <a:solidFill>
              <a:srgbClr val="133B65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59459" y="2935956"/>
            <a:ext cx="95098" cy="95098"/>
          </a:xfrm>
          <a:prstGeom prst="ellipse">
            <a:avLst/>
          </a:prstGeom>
          <a:solidFill>
            <a:srgbClr val="3987CA"/>
          </a:solidFill>
          <a:ln w="6350">
            <a:solidFill>
              <a:srgbClr val="3987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251" y="2808671"/>
            <a:ext cx="95098" cy="95098"/>
          </a:xfrm>
          <a:prstGeom prst="ellipse">
            <a:avLst/>
          </a:prstGeom>
          <a:solidFill>
            <a:srgbClr val="3987CA"/>
          </a:solidFill>
          <a:ln w="6350">
            <a:solidFill>
              <a:srgbClr val="3987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07008" y="2983504"/>
            <a:ext cx="2907792" cy="-127284"/>
          </a:xfrm>
          <a:prstGeom prst="line">
            <a:avLst/>
          </a:prstGeom>
          <a:noFill/>
          <a:ln w="25400">
            <a:solidFill>
              <a:srgbClr val="3987CA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975043" y="2681387"/>
            <a:ext cx="95098" cy="95098"/>
          </a:xfrm>
          <a:prstGeom prst="ellipse">
            <a:avLst/>
          </a:prstGeom>
          <a:solidFill>
            <a:srgbClr val="3987CA"/>
          </a:solidFill>
          <a:ln w="6350">
            <a:solidFill>
              <a:srgbClr val="3987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2856220"/>
            <a:ext cx="2907792" cy="-127284"/>
          </a:xfrm>
          <a:prstGeom prst="line">
            <a:avLst/>
          </a:prstGeom>
          <a:noFill/>
          <a:ln w="25400">
            <a:solidFill>
              <a:srgbClr val="3987CA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159459" y="3158703"/>
            <a:ext cx="95098" cy="95098"/>
          </a:xfrm>
          <a:prstGeom prst="ellipse">
            <a:avLst/>
          </a:prstGeom>
          <a:solidFill>
            <a:srgbClr val="8FBCE2"/>
          </a:solidFill>
          <a:ln w="6350">
            <a:solidFill>
              <a:srgbClr val="8FBC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67251" y="3063240"/>
            <a:ext cx="95098" cy="95098"/>
          </a:xfrm>
          <a:prstGeom prst="ellipse">
            <a:avLst/>
          </a:prstGeom>
          <a:solidFill>
            <a:srgbClr val="8FBCE2"/>
          </a:solidFill>
          <a:ln w="6350">
            <a:solidFill>
              <a:srgbClr val="8FBC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07008" y="3206252"/>
            <a:ext cx="2907792" cy="-95463"/>
          </a:xfrm>
          <a:prstGeom prst="line">
            <a:avLst/>
          </a:prstGeom>
          <a:noFill/>
          <a:ln w="25400">
            <a:solidFill>
              <a:srgbClr val="8FBCE2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6975043" y="2967777"/>
            <a:ext cx="95098" cy="95098"/>
          </a:xfrm>
          <a:prstGeom prst="ellipse">
            <a:avLst/>
          </a:prstGeom>
          <a:solidFill>
            <a:srgbClr val="8FBCE2"/>
          </a:solidFill>
          <a:ln w="6350">
            <a:solidFill>
              <a:srgbClr val="8FBC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0" y="3110789"/>
            <a:ext cx="2907792" cy="-95463"/>
          </a:xfrm>
          <a:prstGeom prst="line">
            <a:avLst/>
          </a:prstGeom>
          <a:noFill/>
          <a:ln w="25400">
            <a:solidFill>
              <a:srgbClr val="8FBCE2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694944" y="3703320"/>
            <a:ext cx="164592" cy="73152"/>
          </a:xfrm>
          <a:prstGeom prst="roundRect">
            <a:avLst>
              <a:gd name="adj" fmla="val 125000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3639312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4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Выручка</a:t>
            </a:r>
            <a:endParaRPr lang="ru-RU" sz="940" dirty="0"/>
          </a:p>
        </p:txBody>
      </p:sp>
      <p:sp>
        <p:nvSpPr>
          <p:cNvPr id="42" name="Shape 40"/>
          <p:cNvSpPr/>
          <p:nvPr/>
        </p:nvSpPr>
        <p:spPr>
          <a:xfrm>
            <a:off x="2276856" y="3703320"/>
            <a:ext cx="164592" cy="73152"/>
          </a:xfrm>
          <a:prstGeom prst="roundRect">
            <a:avLst>
              <a:gd name="adj" fmla="val 125000"/>
            </a:avLst>
          </a:prstGeom>
          <a:solidFill>
            <a:srgbClr val="3987CA"/>
          </a:solidFill>
          <a:ln w="12700">
            <a:solidFill>
              <a:srgbClr val="3987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78024" y="3639312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4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EBITDA</a:t>
            </a:r>
            <a:endParaRPr lang="ru-RU" sz="940" dirty="0"/>
          </a:p>
        </p:txBody>
      </p:sp>
      <p:sp>
        <p:nvSpPr>
          <p:cNvPr id="44" name="Shape 42"/>
          <p:cNvSpPr/>
          <p:nvPr/>
        </p:nvSpPr>
        <p:spPr>
          <a:xfrm>
            <a:off x="3858768" y="3703320"/>
            <a:ext cx="164592" cy="73152"/>
          </a:xfrm>
          <a:prstGeom prst="roundRect">
            <a:avLst>
              <a:gd name="adj" fmla="val 125000"/>
            </a:avLst>
          </a:prstGeom>
          <a:solidFill>
            <a:srgbClr val="8FBCE2"/>
          </a:solidFill>
          <a:ln w="12700">
            <a:solidFill>
              <a:srgbClr val="8FBC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59936" y="3639312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4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Чистая прибыль</a:t>
            </a:r>
            <a:endParaRPr lang="ru-RU" sz="940" dirty="0"/>
          </a:p>
        </p:txBody>
      </p:sp>
      <p:sp>
        <p:nvSpPr>
          <p:cNvPr id="46" name="Text 44"/>
          <p:cNvSpPr/>
          <p:nvPr/>
        </p:nvSpPr>
        <p:spPr>
          <a:xfrm>
            <a:off x="7626096" y="1380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Ключевые показатели и динамика</a:t>
            </a:r>
            <a:endParaRPr lang="ru-RU" sz="1250" dirty="0"/>
          </a:p>
        </p:txBody>
      </p:sp>
      <p:sp>
        <p:nvSpPr>
          <p:cNvPr id="47" name="Shape 45"/>
          <p:cNvSpPr/>
          <p:nvPr/>
        </p:nvSpPr>
        <p:spPr>
          <a:xfrm>
            <a:off x="7626096" y="1764792"/>
            <a:ext cx="1962485" cy="429768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12964" y="1805940"/>
            <a:ext cx="17887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Показатель</a:t>
            </a:r>
            <a:endParaRPr lang="ru-RU" sz="950" dirty="0"/>
          </a:p>
        </p:txBody>
      </p:sp>
      <p:sp>
        <p:nvSpPr>
          <p:cNvPr id="49" name="Shape 47"/>
          <p:cNvSpPr/>
          <p:nvPr/>
        </p:nvSpPr>
        <p:spPr>
          <a:xfrm>
            <a:off x="9588581" y="1764792"/>
            <a:ext cx="680862" cy="429768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75449" y="1805940"/>
            <a:ext cx="5071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</a:t>
            </a:r>
            <a:endParaRPr lang="ru-RU" sz="950" dirty="0"/>
          </a:p>
        </p:txBody>
      </p:sp>
      <p:sp>
        <p:nvSpPr>
          <p:cNvPr id="51" name="Shape 49"/>
          <p:cNvSpPr/>
          <p:nvPr/>
        </p:nvSpPr>
        <p:spPr>
          <a:xfrm>
            <a:off x="10269444" y="1764792"/>
            <a:ext cx="680862" cy="429768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56312" y="1805940"/>
            <a:ext cx="5071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</a:t>
            </a:r>
            <a:endParaRPr lang="ru-RU" sz="950" dirty="0"/>
          </a:p>
        </p:txBody>
      </p:sp>
      <p:sp>
        <p:nvSpPr>
          <p:cNvPr id="53" name="Shape 51"/>
          <p:cNvSpPr/>
          <p:nvPr/>
        </p:nvSpPr>
        <p:spPr>
          <a:xfrm>
            <a:off x="10950306" y="1764792"/>
            <a:ext cx="680862" cy="429768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37174" y="1805940"/>
            <a:ext cx="5071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ru-RU" sz="950" dirty="0"/>
          </a:p>
        </p:txBody>
      </p:sp>
      <p:sp>
        <p:nvSpPr>
          <p:cNvPr id="55" name="Shape 53"/>
          <p:cNvSpPr/>
          <p:nvPr/>
        </p:nvSpPr>
        <p:spPr>
          <a:xfrm>
            <a:off x="7626096" y="2194560"/>
            <a:ext cx="1962485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12964" y="2235708"/>
            <a:ext cx="178874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Выручка, млн USD</a:t>
            </a:r>
            <a:endParaRPr lang="ru-RU" sz="960" dirty="0"/>
          </a:p>
        </p:txBody>
      </p:sp>
      <p:sp>
        <p:nvSpPr>
          <p:cNvPr id="57" name="Shape 55"/>
          <p:cNvSpPr/>
          <p:nvPr/>
        </p:nvSpPr>
        <p:spPr>
          <a:xfrm>
            <a:off x="9588581" y="2194560"/>
            <a:ext cx="680862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75449" y="2235708"/>
            <a:ext cx="50712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</a:t>
            </a:r>
            <a:endParaRPr lang="ru-RU" sz="960" dirty="0"/>
          </a:p>
        </p:txBody>
      </p:sp>
      <p:sp>
        <p:nvSpPr>
          <p:cNvPr id="59" name="Shape 57"/>
          <p:cNvSpPr/>
          <p:nvPr/>
        </p:nvSpPr>
        <p:spPr>
          <a:xfrm>
            <a:off x="10269444" y="2194560"/>
            <a:ext cx="680862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356312" y="2235708"/>
            <a:ext cx="50712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180</a:t>
            </a:r>
            <a:endParaRPr lang="ru-RU" sz="960" dirty="0"/>
          </a:p>
        </p:txBody>
      </p:sp>
      <p:sp>
        <p:nvSpPr>
          <p:cNvPr id="61" name="Shape 59"/>
          <p:cNvSpPr/>
          <p:nvPr/>
        </p:nvSpPr>
        <p:spPr>
          <a:xfrm>
            <a:off x="10950306" y="2194560"/>
            <a:ext cx="680862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37174" y="2235708"/>
            <a:ext cx="50712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220</a:t>
            </a:r>
            <a:endParaRPr lang="ru-RU" sz="960" dirty="0"/>
          </a:p>
        </p:txBody>
      </p:sp>
      <p:sp>
        <p:nvSpPr>
          <p:cNvPr id="63" name="Shape 61"/>
          <p:cNvSpPr/>
          <p:nvPr/>
        </p:nvSpPr>
        <p:spPr>
          <a:xfrm>
            <a:off x="7626096" y="2651760"/>
            <a:ext cx="1962485" cy="457200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12964" y="2692908"/>
            <a:ext cx="178874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EBITDA, млн USD</a:t>
            </a:r>
            <a:endParaRPr lang="ru-RU" sz="960" dirty="0"/>
          </a:p>
        </p:txBody>
      </p:sp>
      <p:sp>
        <p:nvSpPr>
          <p:cNvPr id="65" name="Shape 63"/>
          <p:cNvSpPr/>
          <p:nvPr/>
        </p:nvSpPr>
        <p:spPr>
          <a:xfrm>
            <a:off x="9588581" y="2651760"/>
            <a:ext cx="680862" cy="457200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75449" y="2692908"/>
            <a:ext cx="50712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ru-RU" sz="960" dirty="0"/>
          </a:p>
        </p:txBody>
      </p:sp>
      <p:sp>
        <p:nvSpPr>
          <p:cNvPr id="67" name="Shape 65"/>
          <p:cNvSpPr/>
          <p:nvPr/>
        </p:nvSpPr>
        <p:spPr>
          <a:xfrm>
            <a:off x="10269444" y="2651760"/>
            <a:ext cx="680862" cy="457200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356312" y="2692908"/>
            <a:ext cx="50712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ru-RU" sz="960" dirty="0"/>
          </a:p>
        </p:txBody>
      </p:sp>
      <p:sp>
        <p:nvSpPr>
          <p:cNvPr id="69" name="Shape 67"/>
          <p:cNvSpPr/>
          <p:nvPr/>
        </p:nvSpPr>
        <p:spPr>
          <a:xfrm>
            <a:off x="10950306" y="2651760"/>
            <a:ext cx="680862" cy="457200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037174" y="2692908"/>
            <a:ext cx="50712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</a:t>
            </a:r>
            <a:endParaRPr lang="ru-RU" sz="960" dirty="0"/>
          </a:p>
        </p:txBody>
      </p:sp>
      <p:sp>
        <p:nvSpPr>
          <p:cNvPr id="71" name="Shape 69"/>
          <p:cNvSpPr/>
          <p:nvPr/>
        </p:nvSpPr>
        <p:spPr>
          <a:xfrm>
            <a:off x="7626096" y="3108960"/>
            <a:ext cx="1962485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12964" y="3150108"/>
            <a:ext cx="178874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Чистая прибыль</a:t>
            </a:r>
            <a:endParaRPr lang="ru-RU" sz="960" dirty="0"/>
          </a:p>
        </p:txBody>
      </p:sp>
      <p:sp>
        <p:nvSpPr>
          <p:cNvPr id="73" name="Shape 71"/>
          <p:cNvSpPr/>
          <p:nvPr/>
        </p:nvSpPr>
        <p:spPr>
          <a:xfrm>
            <a:off x="9588581" y="3108960"/>
            <a:ext cx="680862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675449" y="3150108"/>
            <a:ext cx="50712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ru-RU" sz="960" dirty="0"/>
          </a:p>
        </p:txBody>
      </p:sp>
      <p:sp>
        <p:nvSpPr>
          <p:cNvPr id="75" name="Shape 73"/>
          <p:cNvSpPr/>
          <p:nvPr/>
        </p:nvSpPr>
        <p:spPr>
          <a:xfrm>
            <a:off x="10269444" y="3108960"/>
            <a:ext cx="680862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356312" y="3150108"/>
            <a:ext cx="50712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ru-RU" sz="960" dirty="0"/>
          </a:p>
        </p:txBody>
      </p:sp>
      <p:sp>
        <p:nvSpPr>
          <p:cNvPr id="77" name="Shape 75"/>
          <p:cNvSpPr/>
          <p:nvPr/>
        </p:nvSpPr>
        <p:spPr>
          <a:xfrm>
            <a:off x="10950306" y="3108960"/>
            <a:ext cx="680862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037174" y="3150108"/>
            <a:ext cx="50712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</a:t>
            </a:r>
            <a:endParaRPr lang="ru-RU" sz="960" dirty="0"/>
          </a:p>
        </p:txBody>
      </p:sp>
      <p:sp>
        <p:nvSpPr>
          <p:cNvPr id="79" name="Shape 77"/>
          <p:cNvSpPr/>
          <p:nvPr/>
        </p:nvSpPr>
        <p:spPr>
          <a:xfrm>
            <a:off x="7626096" y="3566160"/>
            <a:ext cx="1962485" cy="475488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12964" y="3607308"/>
            <a:ext cx="178874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Чистый долг / EBITDA</a:t>
            </a:r>
            <a:endParaRPr lang="ru-RU" sz="960" dirty="0"/>
          </a:p>
        </p:txBody>
      </p:sp>
      <p:sp>
        <p:nvSpPr>
          <p:cNvPr id="81" name="Shape 79"/>
          <p:cNvSpPr/>
          <p:nvPr/>
        </p:nvSpPr>
        <p:spPr>
          <a:xfrm>
            <a:off x="9588581" y="3566160"/>
            <a:ext cx="680862" cy="475488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675449" y="3607308"/>
            <a:ext cx="50712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2,0x</a:t>
            </a:r>
            <a:endParaRPr lang="ru-RU" sz="960" dirty="0"/>
          </a:p>
        </p:txBody>
      </p:sp>
      <p:sp>
        <p:nvSpPr>
          <p:cNvPr id="83" name="Shape 81"/>
          <p:cNvSpPr/>
          <p:nvPr/>
        </p:nvSpPr>
        <p:spPr>
          <a:xfrm>
            <a:off x="10269444" y="3566160"/>
            <a:ext cx="680862" cy="475488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356312" y="3607308"/>
            <a:ext cx="50712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1,6x</a:t>
            </a:r>
            <a:endParaRPr lang="ru-RU" sz="960" dirty="0"/>
          </a:p>
        </p:txBody>
      </p:sp>
      <p:sp>
        <p:nvSpPr>
          <p:cNvPr id="85" name="Shape 83"/>
          <p:cNvSpPr/>
          <p:nvPr/>
        </p:nvSpPr>
        <p:spPr>
          <a:xfrm>
            <a:off x="10950306" y="3566160"/>
            <a:ext cx="680862" cy="475488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037174" y="3607308"/>
            <a:ext cx="50712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1,3x</a:t>
            </a:r>
            <a:endParaRPr lang="ru-RU" sz="960" dirty="0"/>
          </a:p>
        </p:txBody>
      </p:sp>
      <p:sp>
        <p:nvSpPr>
          <p:cNvPr id="87" name="Shape 85"/>
          <p:cNvSpPr/>
          <p:nvPr/>
        </p:nvSpPr>
        <p:spPr>
          <a:xfrm>
            <a:off x="594360" y="4169664"/>
            <a:ext cx="11000232" cy="91440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7240" y="4334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Кредитная история</a:t>
            </a:r>
            <a:endParaRPr lang="ru-RU" sz="1250" dirty="0"/>
          </a:p>
        </p:txBody>
      </p:sp>
      <p:sp>
        <p:nvSpPr>
          <p:cNvPr id="89" name="Shape 87"/>
          <p:cNvSpPr/>
          <p:nvPr/>
        </p:nvSpPr>
        <p:spPr>
          <a:xfrm>
            <a:off x="2880360" y="4443984"/>
            <a:ext cx="59436" cy="59436"/>
          </a:xfrm>
          <a:prstGeom prst="ellipse">
            <a:avLst/>
          </a:prstGeom>
          <a:solidFill>
            <a:srgbClr val="2469AA"/>
          </a:solidFill>
          <a:ln w="6350">
            <a:solidFill>
              <a:srgbClr val="2469A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035808" y="4334256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4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Сведения о соблюдении графика платежей — от Ксении</a:t>
            </a:r>
            <a:endParaRPr lang="ru-RU" sz="1040" dirty="0"/>
          </a:p>
        </p:txBody>
      </p:sp>
      <p:sp>
        <p:nvSpPr>
          <p:cNvPr id="91" name="Shape 89"/>
          <p:cNvSpPr/>
          <p:nvPr/>
        </p:nvSpPr>
        <p:spPr>
          <a:xfrm>
            <a:off x="6848856" y="4443984"/>
            <a:ext cx="59436" cy="59436"/>
          </a:xfrm>
          <a:prstGeom prst="ellipse">
            <a:avLst/>
          </a:prstGeom>
          <a:solidFill>
            <a:srgbClr val="2469AA"/>
          </a:solidFill>
          <a:ln w="6350">
            <a:solidFill>
              <a:srgbClr val="2469A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004304" y="4334256"/>
            <a:ext cx="4261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4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Действующие кредитные обязательства — уточнить</a:t>
            </a:r>
            <a:endParaRPr lang="ru-RU" sz="1040" dirty="0"/>
          </a:p>
        </p:txBody>
      </p:sp>
      <p:sp>
        <p:nvSpPr>
          <p:cNvPr id="93" name="Shape 91"/>
          <p:cNvSpPr/>
          <p:nvPr/>
        </p:nvSpPr>
        <p:spPr>
          <a:xfrm>
            <a:off x="594360" y="5294376"/>
            <a:ext cx="11000232" cy="9144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94360" y="5294376"/>
            <a:ext cx="64008" cy="914400"/>
          </a:xfrm>
          <a:prstGeom prst="rect">
            <a:avLst/>
          </a:prstGeom>
          <a:solidFill>
            <a:srgbClr val="2469AA"/>
          </a:solidFill>
          <a:ln w="12700">
            <a:solidFill>
              <a:srgbClr val="2469A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86384" y="5394960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 по финансовому состоянию</a:t>
            </a:r>
            <a:endParaRPr lang="ru-RU" sz="1200" dirty="0"/>
          </a:p>
        </p:txBody>
      </p:sp>
      <p:sp>
        <p:nvSpPr>
          <p:cNvPr id="96" name="Text 94"/>
          <p:cNvSpPr/>
          <p:nvPr/>
        </p:nvSpPr>
        <p:spPr>
          <a:xfrm>
            <a:off x="786384" y="566928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Вставить подтверждённую оценку динамики бизнеса, долговой нагрузки и качества обслуживания долга.</a:t>
            </a:r>
            <a:endParaRPr lang="ru-RU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142857"/>
            </a:avLst>
          </a:prstGeom>
          <a:solidFill>
            <a:srgbClr val="0D2A4F"/>
          </a:solidFill>
          <a:ln w="12700">
            <a:solidFill>
              <a:srgbClr val="0D2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65176"/>
            <a:ext cx="640080" cy="667512"/>
          </a:xfrm>
          <a:prstGeom prst="roundRect">
            <a:avLst>
              <a:gd name="adj" fmla="val 8571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429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02/03</a:t>
            </a:r>
            <a:endParaRPr lang="ru-RU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246888"/>
            <a:ext cx="10405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3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Экономическая целесообразность сделки</a:t>
            </a:r>
            <a:endParaRPr lang="ru-RU" sz="2300" dirty="0"/>
          </a:p>
        </p:txBody>
      </p:sp>
      <p:sp>
        <p:nvSpPr>
          <p:cNvPr id="6" name="Text 4"/>
          <p:cNvSpPr/>
          <p:nvPr/>
        </p:nvSpPr>
        <p:spPr>
          <a:xfrm>
            <a:off x="1252728" y="74066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сохранения кредитования с размещением избыточной ликвидности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1311128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8056" y="6556248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ВАРИАНТ А  |  ДЕМОНСТРАЦИОННЫЙ МАКЕТ: цифры, ставки и выводы подлежат подтверждению</a:t>
            </a:r>
            <a:endParaRPr lang="ru-RU" sz="800" dirty="0"/>
          </a:p>
        </p:txBody>
      </p:sp>
      <p:sp>
        <p:nvSpPr>
          <p:cNvPr id="9" name="Text 7"/>
          <p:cNvSpPr/>
          <p:nvPr/>
        </p:nvSpPr>
        <p:spPr>
          <a:xfrm>
            <a:off x="11027664" y="65471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7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2/3</a:t>
            </a:r>
            <a:endParaRPr lang="ru-RU" sz="870" dirty="0"/>
          </a:p>
        </p:txBody>
      </p:sp>
      <p:sp>
        <p:nvSpPr>
          <p:cNvPr id="10" name="Shape 8"/>
          <p:cNvSpPr/>
          <p:nvPr/>
        </p:nvSpPr>
        <p:spPr>
          <a:xfrm>
            <a:off x="566928" y="1362456"/>
            <a:ext cx="11027664" cy="1252728"/>
          </a:xfrm>
          <a:prstGeom prst="roundRect">
            <a:avLst>
              <a:gd name="adj" fmla="val 8759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627632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млн USD</a:t>
            </a:r>
            <a:endParaRPr lang="ru-RU" sz="2200" dirty="0"/>
          </a:p>
        </p:txBody>
      </p:sp>
      <p:sp>
        <p:nvSpPr>
          <p:cNvPr id="12" name="Text 10"/>
          <p:cNvSpPr/>
          <p:nvPr/>
        </p:nvSpPr>
        <p:spPr>
          <a:xfrm>
            <a:off x="758952" y="2057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3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Сумма сделки</a:t>
            </a:r>
            <a:endParaRPr lang="ru-RU" sz="1030" dirty="0"/>
          </a:p>
        </p:txBody>
      </p:sp>
      <p:sp>
        <p:nvSpPr>
          <p:cNvPr id="13" name="Shape 11"/>
          <p:cNvSpPr/>
          <p:nvPr/>
        </p:nvSpPr>
        <p:spPr>
          <a:xfrm>
            <a:off x="3300984" y="1572768"/>
            <a:ext cx="0" cy="813816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3529584" y="1627632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1 года</a:t>
            </a:r>
            <a:endParaRPr lang="ru-RU" sz="2200" dirty="0"/>
          </a:p>
        </p:txBody>
      </p:sp>
      <p:sp>
        <p:nvSpPr>
          <p:cNvPr id="15" name="Text 13"/>
          <p:cNvSpPr/>
          <p:nvPr/>
        </p:nvSpPr>
        <p:spPr>
          <a:xfrm>
            <a:off x="3529584" y="2057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3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Срок финансирования</a:t>
            </a:r>
            <a:endParaRPr lang="ru-RU" sz="1030" dirty="0"/>
          </a:p>
        </p:txBody>
      </p:sp>
      <p:sp>
        <p:nvSpPr>
          <p:cNvPr id="16" name="Shape 14"/>
          <p:cNvSpPr/>
          <p:nvPr/>
        </p:nvSpPr>
        <p:spPr>
          <a:xfrm>
            <a:off x="6071616" y="1572768"/>
            <a:ext cx="0" cy="813816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300216" y="1627632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9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Корсчета</a:t>
            </a:r>
            <a:endParaRPr lang="ru-RU" sz="1900" dirty="0"/>
          </a:p>
        </p:txBody>
      </p:sp>
      <p:sp>
        <p:nvSpPr>
          <p:cNvPr id="18" name="Text 16"/>
          <p:cNvSpPr/>
          <p:nvPr/>
        </p:nvSpPr>
        <p:spPr>
          <a:xfrm>
            <a:off x="6300216" y="2057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3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Альтернатива</a:t>
            </a:r>
            <a:endParaRPr lang="ru-RU" sz="1030" dirty="0"/>
          </a:p>
        </p:txBody>
      </p:sp>
      <p:sp>
        <p:nvSpPr>
          <p:cNvPr id="19" name="Shape 17"/>
          <p:cNvSpPr/>
          <p:nvPr/>
        </p:nvSpPr>
        <p:spPr>
          <a:xfrm>
            <a:off x="8842248" y="1572768"/>
            <a:ext cx="0" cy="813816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9070848" y="1627632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b="1" dirty="0">
                <a:solidFill>
                  <a:srgbClr val="BA7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ru-RU" sz="2200" dirty="0"/>
          </a:p>
        </p:txBody>
      </p:sp>
      <p:sp>
        <p:nvSpPr>
          <p:cNvPr id="21" name="Text 19"/>
          <p:cNvSpPr/>
          <p:nvPr/>
        </p:nvSpPr>
        <p:spPr>
          <a:xfrm>
            <a:off x="9070848" y="2057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3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Доходность альтернативы*</a:t>
            </a:r>
            <a:endParaRPr lang="ru-RU" sz="1030" dirty="0"/>
          </a:p>
        </p:txBody>
      </p:sp>
      <p:sp>
        <p:nvSpPr>
          <p:cNvPr id="22" name="Text 20"/>
          <p:cNvSpPr/>
          <p:nvPr/>
        </p:nvSpPr>
        <p:spPr>
          <a:xfrm>
            <a:off x="667512" y="2816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вариантов размещения 30 млн USD</a:t>
            </a:r>
            <a:endParaRPr lang="ru-RU" sz="1250" dirty="0"/>
          </a:p>
        </p:txBody>
      </p:sp>
      <p:sp>
        <p:nvSpPr>
          <p:cNvPr id="23" name="Shape 21"/>
          <p:cNvSpPr/>
          <p:nvPr/>
        </p:nvSpPr>
        <p:spPr>
          <a:xfrm>
            <a:off x="658368" y="3182112"/>
            <a:ext cx="5001219" cy="484632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" y="3223260"/>
            <a:ext cx="48274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9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Показатель</a:t>
            </a:r>
            <a:endParaRPr lang="ru-RU" sz="1090" dirty="0"/>
          </a:p>
        </p:txBody>
      </p:sp>
      <p:sp>
        <p:nvSpPr>
          <p:cNvPr id="25" name="Shape 23"/>
          <p:cNvSpPr/>
          <p:nvPr/>
        </p:nvSpPr>
        <p:spPr>
          <a:xfrm>
            <a:off x="5659587" y="3182112"/>
            <a:ext cx="2935498" cy="484632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6455" y="3223260"/>
            <a:ext cx="27617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9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Продление сделки</a:t>
            </a:r>
            <a:endParaRPr lang="ru-RU" sz="1090" dirty="0"/>
          </a:p>
        </p:txBody>
      </p:sp>
      <p:sp>
        <p:nvSpPr>
          <p:cNvPr id="27" name="Shape 25"/>
          <p:cNvSpPr/>
          <p:nvPr/>
        </p:nvSpPr>
        <p:spPr>
          <a:xfrm>
            <a:off x="8595086" y="3182112"/>
            <a:ext cx="2935498" cy="484632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1954" y="3223260"/>
            <a:ext cx="27617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9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Корсчета</a:t>
            </a:r>
            <a:endParaRPr lang="ru-RU" sz="1090" dirty="0"/>
          </a:p>
        </p:txBody>
      </p:sp>
      <p:sp>
        <p:nvSpPr>
          <p:cNvPr id="29" name="Shape 27"/>
          <p:cNvSpPr/>
          <p:nvPr/>
        </p:nvSpPr>
        <p:spPr>
          <a:xfrm>
            <a:off x="658368" y="3666744"/>
            <a:ext cx="5001219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" y="3707892"/>
            <a:ext cx="48274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Сумма финансирования</a:t>
            </a:r>
            <a:endParaRPr lang="ru-RU" sz="1100" dirty="0"/>
          </a:p>
        </p:txBody>
      </p:sp>
      <p:sp>
        <p:nvSpPr>
          <p:cNvPr id="31" name="Shape 29"/>
          <p:cNvSpPr/>
          <p:nvPr/>
        </p:nvSpPr>
        <p:spPr>
          <a:xfrm>
            <a:off x="5659587" y="3666744"/>
            <a:ext cx="2935498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6455" y="3707892"/>
            <a:ext cx="27617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млн USD</a:t>
            </a:r>
            <a:endParaRPr lang="ru-RU" sz="1100" dirty="0"/>
          </a:p>
        </p:txBody>
      </p:sp>
      <p:sp>
        <p:nvSpPr>
          <p:cNvPr id="33" name="Shape 31"/>
          <p:cNvSpPr/>
          <p:nvPr/>
        </p:nvSpPr>
        <p:spPr>
          <a:xfrm>
            <a:off x="8595086" y="3666744"/>
            <a:ext cx="2935498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1954" y="3707892"/>
            <a:ext cx="27617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млн USD</a:t>
            </a:r>
            <a:endParaRPr lang="ru-RU" sz="1100" dirty="0"/>
          </a:p>
        </p:txBody>
      </p:sp>
      <p:sp>
        <p:nvSpPr>
          <p:cNvPr id="35" name="Shape 33"/>
          <p:cNvSpPr/>
          <p:nvPr/>
        </p:nvSpPr>
        <p:spPr>
          <a:xfrm>
            <a:off x="658368" y="4151376"/>
            <a:ext cx="5001219" cy="484632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" y="4192524"/>
            <a:ext cx="48274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Срок</a:t>
            </a:r>
            <a:endParaRPr lang="ru-RU" sz="1100" dirty="0"/>
          </a:p>
        </p:txBody>
      </p:sp>
      <p:sp>
        <p:nvSpPr>
          <p:cNvPr id="37" name="Shape 35"/>
          <p:cNvSpPr/>
          <p:nvPr/>
        </p:nvSpPr>
        <p:spPr>
          <a:xfrm>
            <a:off x="5659587" y="4151376"/>
            <a:ext cx="2935498" cy="484632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6455" y="4192524"/>
            <a:ext cx="27617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1 года</a:t>
            </a:r>
            <a:endParaRPr lang="ru-RU" sz="1100" dirty="0"/>
          </a:p>
        </p:txBody>
      </p:sp>
      <p:sp>
        <p:nvSpPr>
          <p:cNvPr id="39" name="Shape 37"/>
          <p:cNvSpPr/>
          <p:nvPr/>
        </p:nvSpPr>
        <p:spPr>
          <a:xfrm>
            <a:off x="8595086" y="4151376"/>
            <a:ext cx="2935498" cy="484632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1954" y="4192524"/>
            <a:ext cx="27617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1 года</a:t>
            </a:r>
            <a:endParaRPr lang="ru-RU" sz="1100" dirty="0"/>
          </a:p>
        </p:txBody>
      </p:sp>
      <p:sp>
        <p:nvSpPr>
          <p:cNvPr id="41" name="Shape 39"/>
          <p:cNvSpPr/>
          <p:nvPr/>
        </p:nvSpPr>
        <p:spPr>
          <a:xfrm>
            <a:off x="658368" y="4636008"/>
            <a:ext cx="5001219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" y="4677156"/>
            <a:ext cx="48274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Доходность</a:t>
            </a:r>
            <a:endParaRPr lang="ru-RU" sz="1100" dirty="0"/>
          </a:p>
        </p:txBody>
      </p:sp>
      <p:sp>
        <p:nvSpPr>
          <p:cNvPr id="43" name="Shape 41"/>
          <p:cNvSpPr/>
          <p:nvPr/>
        </p:nvSpPr>
        <p:spPr>
          <a:xfrm>
            <a:off x="5659587" y="4636008"/>
            <a:ext cx="2935498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46455" y="4677156"/>
            <a:ext cx="27617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6,0% (пример)</a:t>
            </a:r>
            <a:endParaRPr lang="ru-RU" sz="1100" dirty="0"/>
          </a:p>
        </p:txBody>
      </p:sp>
      <p:sp>
        <p:nvSpPr>
          <p:cNvPr id="45" name="Shape 43"/>
          <p:cNvSpPr/>
          <p:nvPr/>
        </p:nvSpPr>
        <p:spPr>
          <a:xfrm>
            <a:off x="8595086" y="4636008"/>
            <a:ext cx="2935498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1954" y="4677156"/>
            <a:ext cx="27617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 (со слов инициатора)</a:t>
            </a:r>
            <a:endParaRPr lang="ru-RU" sz="1100" dirty="0"/>
          </a:p>
        </p:txBody>
      </p:sp>
      <p:sp>
        <p:nvSpPr>
          <p:cNvPr id="47" name="Shape 45"/>
          <p:cNvSpPr/>
          <p:nvPr/>
        </p:nvSpPr>
        <p:spPr>
          <a:xfrm>
            <a:off x="658368" y="5129784"/>
            <a:ext cx="5001219" cy="502920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" y="5170932"/>
            <a:ext cx="48274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Валовой процентный доход за год</a:t>
            </a:r>
            <a:endParaRPr lang="ru-RU" sz="1100" dirty="0"/>
          </a:p>
        </p:txBody>
      </p:sp>
      <p:sp>
        <p:nvSpPr>
          <p:cNvPr id="49" name="Shape 47"/>
          <p:cNvSpPr/>
          <p:nvPr/>
        </p:nvSpPr>
        <p:spPr>
          <a:xfrm>
            <a:off x="5659587" y="5129784"/>
            <a:ext cx="2935498" cy="502920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46455" y="5170932"/>
            <a:ext cx="2761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1,8 млн USD (пример)</a:t>
            </a:r>
            <a:endParaRPr lang="ru-RU" sz="1100" dirty="0"/>
          </a:p>
        </p:txBody>
      </p:sp>
      <p:sp>
        <p:nvSpPr>
          <p:cNvPr id="51" name="Shape 49"/>
          <p:cNvSpPr/>
          <p:nvPr/>
        </p:nvSpPr>
        <p:spPr>
          <a:xfrm>
            <a:off x="8595086" y="5129784"/>
            <a:ext cx="2935498" cy="502920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1954" y="5170932"/>
            <a:ext cx="2761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USD</a:t>
            </a:r>
            <a:endParaRPr lang="ru-RU" sz="1100" dirty="0"/>
          </a:p>
        </p:txBody>
      </p:sp>
      <p:sp>
        <p:nvSpPr>
          <p:cNvPr id="53" name="Shape 51"/>
          <p:cNvSpPr/>
          <p:nvPr/>
        </p:nvSpPr>
        <p:spPr>
          <a:xfrm>
            <a:off x="658368" y="5632704"/>
            <a:ext cx="5001219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" y="5673852"/>
            <a:ext cx="48274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Кредитный риск</a:t>
            </a:r>
            <a:endParaRPr lang="ru-RU" sz="1100" dirty="0"/>
          </a:p>
        </p:txBody>
      </p:sp>
      <p:sp>
        <p:nvSpPr>
          <p:cNvPr id="55" name="Shape 53"/>
          <p:cNvSpPr/>
          <p:nvPr/>
        </p:nvSpPr>
        <p:spPr>
          <a:xfrm>
            <a:off x="5659587" y="5632704"/>
            <a:ext cx="2935498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46455" y="5673852"/>
            <a:ext cx="2761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 кредитополучателя</a:t>
            </a:r>
            <a:endParaRPr lang="ru-RU" sz="1100" dirty="0"/>
          </a:p>
        </p:txBody>
      </p:sp>
      <p:sp>
        <p:nvSpPr>
          <p:cNvPr id="57" name="Shape 55"/>
          <p:cNvSpPr/>
          <p:nvPr/>
        </p:nvSpPr>
        <p:spPr>
          <a:xfrm>
            <a:off x="8595086" y="5632704"/>
            <a:ext cx="2935498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81954" y="5673852"/>
            <a:ext cx="2761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 банка-корреспондента</a:t>
            </a:r>
            <a:endParaRPr lang="ru-RU" sz="1100" dirty="0"/>
          </a:p>
        </p:txBody>
      </p:sp>
      <p:sp>
        <p:nvSpPr>
          <p:cNvPr id="59" name="Shape 57"/>
          <p:cNvSpPr/>
          <p:nvPr/>
        </p:nvSpPr>
        <p:spPr>
          <a:xfrm>
            <a:off x="658368" y="5843016"/>
            <a:ext cx="10872216" cy="512064"/>
          </a:xfrm>
          <a:prstGeom prst="roundRect">
            <a:avLst>
              <a:gd name="adj" fmla="val 21429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8368" y="5843016"/>
            <a:ext cx="64008" cy="512064"/>
          </a:xfrm>
          <a:prstGeom prst="rect">
            <a:avLst/>
          </a:prstGeom>
          <a:solidFill>
            <a:srgbClr val="2469AA"/>
          </a:solidFill>
          <a:ln w="12700">
            <a:solidFill>
              <a:srgbClr val="2469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0392" y="5943600"/>
            <a:ext cx="10506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Экономическое обоснование</a:t>
            </a:r>
            <a:endParaRPr lang="ru-RU" sz="1200" dirty="0"/>
          </a:p>
        </p:txBody>
      </p:sp>
      <p:sp>
        <p:nvSpPr>
          <p:cNvPr id="62" name="Text 60"/>
          <p:cNvSpPr/>
          <p:nvPr/>
        </p:nvSpPr>
        <p:spPr>
          <a:xfrm>
            <a:off x="850392" y="6217920"/>
            <a:ext cx="104790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Сохранение кредитования потенциально позволяет получать процентный доход при наличии избыточной долларовой ликвидности. Чистый эффект требует учёта стоимости фондирования и изменения резервов.</a:t>
            </a:r>
            <a:endParaRPr lang="ru-RU" sz="1050" dirty="0"/>
          </a:p>
        </p:txBody>
      </p:sp>
      <p:sp>
        <p:nvSpPr>
          <p:cNvPr id="63" name="Text 61"/>
          <p:cNvSpPr/>
          <p:nvPr/>
        </p:nvSpPr>
        <p:spPr>
          <a:xfrm>
            <a:off x="704088" y="6391656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6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Доходность размещения на корсчетах необходимо подтвердить у казначейства.</a:t>
            </a:r>
            <a:endParaRPr lang="ru-RU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142857"/>
            </a:avLst>
          </a:prstGeom>
          <a:solidFill>
            <a:srgbClr val="0D2A4F"/>
          </a:solidFill>
          <a:ln w="12700">
            <a:solidFill>
              <a:srgbClr val="0D2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65176"/>
            <a:ext cx="640080" cy="667512"/>
          </a:xfrm>
          <a:prstGeom prst="roundRect">
            <a:avLst>
              <a:gd name="adj" fmla="val 8571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429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03/03</a:t>
            </a:r>
            <a:endParaRPr lang="ru-RU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246888"/>
            <a:ext cx="10405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3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Предложение по решению вопроса</a:t>
            </a:r>
            <a:endParaRPr lang="ru-RU" sz="2300" dirty="0"/>
          </a:p>
        </p:txBody>
      </p:sp>
      <p:sp>
        <p:nvSpPr>
          <p:cNvPr id="6" name="Text 4"/>
          <p:cNvSpPr/>
          <p:nvPr/>
        </p:nvSpPr>
        <p:spPr>
          <a:xfrm>
            <a:off x="1252728" y="74066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Сопоставление действующей и предлагаемой редакций решения Наблюдательного совета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1311128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8056" y="6556248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ВАРИАНТ А  |  ДЕМОНСТРАЦИОННЫЙ МАКЕТ: цифры, ставки и выводы подлежат подтверждению</a:t>
            </a:r>
            <a:endParaRPr lang="ru-RU" sz="800" dirty="0"/>
          </a:p>
        </p:txBody>
      </p:sp>
      <p:sp>
        <p:nvSpPr>
          <p:cNvPr id="9" name="Text 7"/>
          <p:cNvSpPr/>
          <p:nvPr/>
        </p:nvSpPr>
        <p:spPr>
          <a:xfrm>
            <a:off x="11027664" y="65471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7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3/3</a:t>
            </a:r>
            <a:endParaRPr lang="ru-RU" sz="870" dirty="0"/>
          </a:p>
        </p:txBody>
      </p:sp>
      <p:sp>
        <p:nvSpPr>
          <p:cNvPr id="10" name="Shape 8"/>
          <p:cNvSpPr/>
          <p:nvPr/>
        </p:nvSpPr>
        <p:spPr>
          <a:xfrm>
            <a:off x="621792" y="1417320"/>
            <a:ext cx="10945368" cy="1645920"/>
          </a:xfrm>
          <a:prstGeom prst="roundRect">
            <a:avLst>
              <a:gd name="adj" fmla="val 6667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618488"/>
            <a:ext cx="2606040" cy="274320"/>
          </a:xfrm>
          <a:prstGeom prst="roundRect">
            <a:avLst>
              <a:gd name="adj" fmla="val 26667"/>
            </a:avLst>
          </a:prstGeom>
          <a:solidFill>
            <a:srgbClr val="D9E4E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6184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ДЕЙСТВУЮЩАЯ РЕДАКЦИЯ</a:t>
            </a:r>
            <a:endParaRPr lang="ru-RU" sz="900" dirty="0"/>
          </a:p>
        </p:txBody>
      </p:sp>
      <p:sp>
        <p:nvSpPr>
          <p:cNvPr id="13" name="Text 11"/>
          <p:cNvSpPr/>
          <p:nvPr/>
        </p:nvSpPr>
        <p:spPr>
          <a:xfrm>
            <a:off x="905256" y="2148840"/>
            <a:ext cx="10314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Уточняется по проекту решения / ранее принятому решению Наблюдательного совета.</a:t>
            </a:r>
            <a:endParaRPr lang="ru-RU" sz="1500" dirty="0"/>
          </a:p>
        </p:txBody>
      </p:sp>
      <p:sp>
        <p:nvSpPr>
          <p:cNvPr id="14" name="Text 12"/>
          <p:cNvSpPr/>
          <p:nvPr/>
        </p:nvSpPr>
        <p:spPr>
          <a:xfrm>
            <a:off x="5440680" y="31455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2900" dirty="0">
                <a:solidFill>
                  <a:srgbClr val="3987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ru-RU" sz="2900" dirty="0"/>
          </a:p>
        </p:txBody>
      </p:sp>
      <p:sp>
        <p:nvSpPr>
          <p:cNvPr id="15" name="Shape 13"/>
          <p:cNvSpPr/>
          <p:nvPr/>
        </p:nvSpPr>
        <p:spPr>
          <a:xfrm>
            <a:off x="621792" y="3666744"/>
            <a:ext cx="10945368" cy="1664208"/>
          </a:xfrm>
          <a:prstGeom prst="roundRect">
            <a:avLst>
              <a:gd name="adj" fmla="val 6593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858768"/>
            <a:ext cx="2935224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5876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ПРЕДЛАГАЕМАЯ РЕДАКЦИЯ</a:t>
            </a:r>
            <a:endParaRPr lang="ru-RU" sz="900" dirty="0"/>
          </a:p>
        </p:txBody>
      </p:sp>
      <p:sp>
        <p:nvSpPr>
          <p:cNvPr id="18" name="Text 16"/>
          <p:cNvSpPr/>
          <p:nvPr/>
        </p:nvSpPr>
        <p:spPr>
          <a:xfrm>
            <a:off x="905256" y="4325112"/>
            <a:ext cx="10241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41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Рассмотреть возможность сохранения финансирования в сумме до 30 млн USD на срок до одного года с учётом финансового состояния кредитополучателя, экономического эффекта и кредитного риска.</a:t>
            </a:r>
            <a:endParaRPr lang="ru-RU" sz="1410" dirty="0"/>
          </a:p>
        </p:txBody>
      </p:sp>
      <p:sp>
        <p:nvSpPr>
          <p:cNvPr id="19" name="Shape 17"/>
          <p:cNvSpPr/>
          <p:nvPr/>
        </p:nvSpPr>
        <p:spPr>
          <a:xfrm>
            <a:off x="630936" y="5577840"/>
            <a:ext cx="10927080" cy="658368"/>
          </a:xfrm>
          <a:prstGeom prst="roundRect">
            <a:avLst>
              <a:gd name="adj" fmla="val 16667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" y="5577840"/>
            <a:ext cx="64008" cy="658368"/>
          </a:xfrm>
          <a:prstGeom prst="rect">
            <a:avLst/>
          </a:prstGeom>
          <a:solidFill>
            <a:srgbClr val="3987CA"/>
          </a:solidFill>
          <a:ln w="8890">
            <a:solidFill>
              <a:srgbClr val="2469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678424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 решения</a:t>
            </a:r>
            <a:endParaRPr lang="ru-RU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952744"/>
            <a:ext cx="10533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Текст носит предварительный характер. После получения проекта решения необходимо заменить обе редакции без смысловых изменений.</a:t>
            </a:r>
            <a:endParaRPr lang="ru-RU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142857"/>
            </a:avLst>
          </a:prstGeom>
          <a:solidFill>
            <a:srgbClr val="0D2A4F"/>
          </a:solidFill>
          <a:ln w="12700">
            <a:solidFill>
              <a:srgbClr val="0D2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65176"/>
            <a:ext cx="640080" cy="667512"/>
          </a:xfrm>
          <a:prstGeom prst="roundRect">
            <a:avLst>
              <a:gd name="adj" fmla="val 8571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429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01/04</a:t>
            </a:r>
            <a:endParaRPr lang="ru-RU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246888"/>
            <a:ext cx="10405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3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Финансовое состояние кредитополучателя</a:t>
            </a:r>
            <a:endParaRPr lang="ru-RU" sz="2300" dirty="0"/>
          </a:p>
        </p:txBody>
      </p:sp>
      <p:sp>
        <p:nvSpPr>
          <p:cNvPr id="6" name="Text 4"/>
          <p:cNvSpPr/>
          <p:nvPr/>
        </p:nvSpPr>
        <p:spPr>
          <a:xfrm>
            <a:off x="1252728" y="74066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Операционные результаты, долговая нагрузка и кредитная история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1311128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8056" y="6556248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ВАРИАНТ Б  |  ДЕМОНСТРАЦИОННЫЙ МАКЕТ: цифры, ставки и выводы подлежат подтверждению</a:t>
            </a:r>
            <a:endParaRPr lang="ru-RU" sz="800" dirty="0"/>
          </a:p>
        </p:txBody>
      </p:sp>
      <p:sp>
        <p:nvSpPr>
          <p:cNvPr id="9" name="Text 7"/>
          <p:cNvSpPr/>
          <p:nvPr/>
        </p:nvSpPr>
        <p:spPr>
          <a:xfrm>
            <a:off x="11027664" y="65471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7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</a:t>
            </a:r>
            <a:endParaRPr lang="ru-RU" sz="870" dirty="0"/>
          </a:p>
        </p:txBody>
      </p:sp>
      <p:sp>
        <p:nvSpPr>
          <p:cNvPr id="10" name="Text 8"/>
          <p:cNvSpPr/>
          <p:nvPr/>
        </p:nvSpPr>
        <p:spPr>
          <a:xfrm>
            <a:off x="612648" y="15819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Выручка и EBITDA, млн USD</a:t>
            </a:r>
            <a:endParaRPr lang="ru-RU" sz="1250" dirty="0"/>
          </a:p>
        </p:txBody>
      </p:sp>
      <p:sp>
        <p:nvSpPr>
          <p:cNvPr id="11" name="Shape 9"/>
          <p:cNvSpPr/>
          <p:nvPr/>
        </p:nvSpPr>
        <p:spPr>
          <a:xfrm>
            <a:off x="1060704" y="4005072"/>
            <a:ext cx="5385816" cy="0"/>
          </a:xfrm>
          <a:prstGeom prst="line">
            <a:avLst/>
          </a:prstGeom>
          <a:noFill/>
          <a:ln w="1143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051560" y="4005072"/>
            <a:ext cx="5394960" cy="0"/>
          </a:xfrm>
          <a:prstGeom prst="line">
            <a:avLst/>
          </a:prstGeom>
          <a:noFill/>
          <a:ln w="698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612648" y="3931920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5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ru-RU" sz="850" dirty="0"/>
          </a:p>
        </p:txBody>
      </p:sp>
      <p:sp>
        <p:nvSpPr>
          <p:cNvPr id="14" name="Shape 12"/>
          <p:cNvSpPr/>
          <p:nvPr/>
        </p:nvSpPr>
        <p:spPr>
          <a:xfrm>
            <a:off x="1051560" y="3506724"/>
            <a:ext cx="5394960" cy="0"/>
          </a:xfrm>
          <a:prstGeom prst="line">
            <a:avLst/>
          </a:prstGeom>
          <a:noFill/>
          <a:ln w="698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612648" y="3433572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5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ru-RU" sz="850" dirty="0"/>
          </a:p>
        </p:txBody>
      </p:sp>
      <p:sp>
        <p:nvSpPr>
          <p:cNvPr id="16" name="Shape 14"/>
          <p:cNvSpPr/>
          <p:nvPr/>
        </p:nvSpPr>
        <p:spPr>
          <a:xfrm>
            <a:off x="1051560" y="3008376"/>
            <a:ext cx="5394960" cy="0"/>
          </a:xfrm>
          <a:prstGeom prst="line">
            <a:avLst/>
          </a:prstGeom>
          <a:noFill/>
          <a:ln w="698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12648" y="2935224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5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ru-RU" sz="850" dirty="0"/>
          </a:p>
        </p:txBody>
      </p:sp>
      <p:sp>
        <p:nvSpPr>
          <p:cNvPr id="18" name="Shape 16"/>
          <p:cNvSpPr/>
          <p:nvPr/>
        </p:nvSpPr>
        <p:spPr>
          <a:xfrm>
            <a:off x="1051560" y="2510028"/>
            <a:ext cx="5394960" cy="0"/>
          </a:xfrm>
          <a:prstGeom prst="line">
            <a:avLst/>
          </a:prstGeom>
          <a:noFill/>
          <a:ln w="698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612648" y="2436876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5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</a:t>
            </a:r>
            <a:endParaRPr lang="ru-RU" sz="850" dirty="0"/>
          </a:p>
        </p:txBody>
      </p:sp>
      <p:sp>
        <p:nvSpPr>
          <p:cNvPr id="20" name="Shape 18"/>
          <p:cNvSpPr/>
          <p:nvPr/>
        </p:nvSpPr>
        <p:spPr>
          <a:xfrm>
            <a:off x="1051560" y="2011680"/>
            <a:ext cx="5394960" cy="0"/>
          </a:xfrm>
          <a:prstGeom prst="line">
            <a:avLst/>
          </a:prstGeom>
          <a:noFill/>
          <a:ln w="698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612648" y="1938528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5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</a:t>
            </a:r>
            <a:endParaRPr lang="ru-RU" sz="850" dirty="0"/>
          </a:p>
        </p:txBody>
      </p:sp>
      <p:sp>
        <p:nvSpPr>
          <p:cNvPr id="22" name="Shape 20"/>
          <p:cNvSpPr/>
          <p:nvPr/>
        </p:nvSpPr>
        <p:spPr>
          <a:xfrm>
            <a:off x="1573911" y="2988442"/>
            <a:ext cx="402336" cy="1016630"/>
          </a:xfrm>
          <a:prstGeom prst="rect">
            <a:avLst/>
          </a:prstGeom>
          <a:solidFill>
            <a:srgbClr val="8FBCE2"/>
          </a:solidFill>
          <a:ln w="12700">
            <a:solidFill>
              <a:srgbClr val="8FBC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19047" y="277813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</a:t>
            </a:r>
            <a:endParaRPr lang="ru-RU" sz="880" dirty="0"/>
          </a:p>
        </p:txBody>
      </p:sp>
      <p:sp>
        <p:nvSpPr>
          <p:cNvPr id="24" name="Text 22"/>
          <p:cNvSpPr/>
          <p:nvPr/>
        </p:nvSpPr>
        <p:spPr>
          <a:xfrm>
            <a:off x="1106424" y="4123944"/>
            <a:ext cx="133731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7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</a:t>
            </a:r>
            <a:endParaRPr lang="ru-RU" sz="870" dirty="0"/>
          </a:p>
        </p:txBody>
      </p:sp>
      <p:sp>
        <p:nvSpPr>
          <p:cNvPr id="25" name="Shape 23"/>
          <p:cNvSpPr/>
          <p:nvPr/>
        </p:nvSpPr>
        <p:spPr>
          <a:xfrm>
            <a:off x="2911221" y="2739268"/>
            <a:ext cx="402336" cy="1265804"/>
          </a:xfrm>
          <a:prstGeom prst="rect">
            <a:avLst/>
          </a:prstGeom>
          <a:solidFill>
            <a:srgbClr val="8FBCE2"/>
          </a:solidFill>
          <a:ln w="12700">
            <a:solidFill>
              <a:srgbClr val="8FBC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6357" y="25289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127</a:t>
            </a:r>
            <a:endParaRPr lang="ru-RU" sz="880" dirty="0"/>
          </a:p>
        </p:txBody>
      </p:sp>
      <p:sp>
        <p:nvSpPr>
          <p:cNvPr id="27" name="Text 25"/>
          <p:cNvSpPr/>
          <p:nvPr/>
        </p:nvSpPr>
        <p:spPr>
          <a:xfrm>
            <a:off x="2443734" y="4123944"/>
            <a:ext cx="133731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7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</a:t>
            </a:r>
            <a:endParaRPr lang="ru-RU" sz="870" dirty="0"/>
          </a:p>
        </p:txBody>
      </p:sp>
      <p:sp>
        <p:nvSpPr>
          <p:cNvPr id="28" name="Shape 26"/>
          <p:cNvSpPr/>
          <p:nvPr/>
        </p:nvSpPr>
        <p:spPr>
          <a:xfrm>
            <a:off x="4248531" y="2450226"/>
            <a:ext cx="402336" cy="1554846"/>
          </a:xfrm>
          <a:prstGeom prst="rect">
            <a:avLst/>
          </a:prstGeom>
          <a:solidFill>
            <a:srgbClr val="8FBCE2"/>
          </a:solidFill>
          <a:ln w="12700">
            <a:solidFill>
              <a:srgbClr val="8FBC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93667" y="223991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156</a:t>
            </a:r>
            <a:endParaRPr lang="ru-RU" sz="880" dirty="0"/>
          </a:p>
        </p:txBody>
      </p:sp>
      <p:sp>
        <p:nvSpPr>
          <p:cNvPr id="30" name="Text 28"/>
          <p:cNvSpPr/>
          <p:nvPr/>
        </p:nvSpPr>
        <p:spPr>
          <a:xfrm>
            <a:off x="3781044" y="4123944"/>
            <a:ext cx="133731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7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</a:t>
            </a:r>
            <a:endParaRPr lang="ru-RU" sz="870" dirty="0"/>
          </a:p>
        </p:txBody>
      </p:sp>
      <p:sp>
        <p:nvSpPr>
          <p:cNvPr id="31" name="Shape 29"/>
          <p:cNvSpPr/>
          <p:nvPr/>
        </p:nvSpPr>
        <p:spPr>
          <a:xfrm>
            <a:off x="5585841" y="2290755"/>
            <a:ext cx="402336" cy="1714317"/>
          </a:xfrm>
          <a:prstGeom prst="rect">
            <a:avLst/>
          </a:prstGeom>
          <a:solidFill>
            <a:srgbClr val="8FBCE2"/>
          </a:solidFill>
          <a:ln w="12700">
            <a:solidFill>
              <a:srgbClr val="8FBC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0977" y="2080443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172</a:t>
            </a:r>
            <a:endParaRPr lang="ru-RU" sz="880" dirty="0"/>
          </a:p>
        </p:txBody>
      </p:sp>
      <p:sp>
        <p:nvSpPr>
          <p:cNvPr id="33" name="Text 31"/>
          <p:cNvSpPr/>
          <p:nvPr/>
        </p:nvSpPr>
        <p:spPr>
          <a:xfrm>
            <a:off x="5118354" y="4123944"/>
            <a:ext cx="133731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7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ru-RU" sz="870" dirty="0"/>
          </a:p>
        </p:txBody>
      </p:sp>
      <p:sp>
        <p:nvSpPr>
          <p:cNvPr id="34" name="Shape 32"/>
          <p:cNvSpPr/>
          <p:nvPr/>
        </p:nvSpPr>
        <p:spPr>
          <a:xfrm>
            <a:off x="1738503" y="3587406"/>
            <a:ext cx="73152" cy="73152"/>
          </a:xfrm>
          <a:prstGeom prst="ellipse">
            <a:avLst/>
          </a:prstGeom>
          <a:solidFill>
            <a:srgbClr val="133B65"/>
          </a:solidFill>
          <a:ln w="6350">
            <a:solidFill>
              <a:srgbClr val="133B6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64767" y="3413670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50" b="1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ru-RU" sz="850" dirty="0"/>
          </a:p>
        </p:txBody>
      </p:sp>
      <p:sp>
        <p:nvSpPr>
          <p:cNvPr id="36" name="Shape 34"/>
          <p:cNvSpPr/>
          <p:nvPr/>
        </p:nvSpPr>
        <p:spPr>
          <a:xfrm>
            <a:off x="3075813" y="3460376"/>
            <a:ext cx="73152" cy="73152"/>
          </a:xfrm>
          <a:prstGeom prst="ellipse">
            <a:avLst/>
          </a:prstGeom>
          <a:solidFill>
            <a:srgbClr val="133B65"/>
          </a:solidFill>
          <a:ln w="6350">
            <a:solidFill>
              <a:srgbClr val="133B6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02077" y="3286640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50" b="1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ru-RU" sz="850" dirty="0"/>
          </a:p>
        </p:txBody>
      </p:sp>
      <p:sp>
        <p:nvSpPr>
          <p:cNvPr id="38" name="Shape 36"/>
          <p:cNvSpPr/>
          <p:nvPr/>
        </p:nvSpPr>
        <p:spPr>
          <a:xfrm>
            <a:off x="4413123" y="3291003"/>
            <a:ext cx="73152" cy="73152"/>
          </a:xfrm>
          <a:prstGeom prst="ellipse">
            <a:avLst/>
          </a:prstGeom>
          <a:solidFill>
            <a:srgbClr val="133B65"/>
          </a:solidFill>
          <a:ln w="6350">
            <a:solidFill>
              <a:srgbClr val="133B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39387" y="3117267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50" b="1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ru-RU" sz="850" dirty="0"/>
          </a:p>
        </p:txBody>
      </p:sp>
      <p:sp>
        <p:nvSpPr>
          <p:cNvPr id="40" name="Shape 38"/>
          <p:cNvSpPr/>
          <p:nvPr/>
        </p:nvSpPr>
        <p:spPr>
          <a:xfrm>
            <a:off x="5750433" y="3206317"/>
            <a:ext cx="73152" cy="73152"/>
          </a:xfrm>
          <a:prstGeom prst="ellipse">
            <a:avLst/>
          </a:prstGeom>
          <a:solidFill>
            <a:srgbClr val="133B65"/>
          </a:solidFill>
          <a:ln w="6350">
            <a:solidFill>
              <a:srgbClr val="133B6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6697" y="3032581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50" b="1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ru-RU" sz="850" dirty="0"/>
          </a:p>
        </p:txBody>
      </p:sp>
      <p:sp>
        <p:nvSpPr>
          <p:cNvPr id="42" name="Shape 40"/>
          <p:cNvSpPr/>
          <p:nvPr/>
        </p:nvSpPr>
        <p:spPr>
          <a:xfrm>
            <a:off x="1775079" y="3623982"/>
            <a:ext cx="1337310" cy="-127030"/>
          </a:xfrm>
          <a:prstGeom prst="line">
            <a:avLst/>
          </a:prstGeom>
          <a:noFill/>
          <a:ln w="25400">
            <a:solidFill>
              <a:srgbClr val="133B65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3112389" y="3496952"/>
            <a:ext cx="1337310" cy="-169373"/>
          </a:xfrm>
          <a:prstGeom prst="line">
            <a:avLst/>
          </a:prstGeom>
          <a:noFill/>
          <a:ln w="25400">
            <a:solidFill>
              <a:srgbClr val="133B65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4449699" y="3327579"/>
            <a:ext cx="1337310" cy="-84687"/>
          </a:xfrm>
          <a:prstGeom prst="line">
            <a:avLst/>
          </a:prstGeom>
          <a:noFill/>
          <a:ln w="25400">
            <a:solidFill>
              <a:srgbClr val="133B65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822960" y="4370832"/>
            <a:ext cx="1234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40" dirty="0">
                <a:solidFill>
                  <a:srgbClr val="3987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■ Выручка</a:t>
            </a:r>
            <a:endParaRPr lang="ru-RU" sz="940" dirty="0"/>
          </a:p>
        </p:txBody>
      </p:sp>
      <p:sp>
        <p:nvSpPr>
          <p:cNvPr id="46" name="Text 44"/>
          <p:cNvSpPr/>
          <p:nvPr/>
        </p:nvSpPr>
        <p:spPr>
          <a:xfrm>
            <a:off x="2203704" y="4370832"/>
            <a:ext cx="1234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40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EBITDA</a:t>
            </a:r>
            <a:endParaRPr lang="ru-RU" sz="940" dirty="0"/>
          </a:p>
        </p:txBody>
      </p:sp>
      <p:sp>
        <p:nvSpPr>
          <p:cNvPr id="47" name="Text 45"/>
          <p:cNvSpPr/>
          <p:nvPr/>
        </p:nvSpPr>
        <p:spPr>
          <a:xfrm>
            <a:off x="6858000" y="1609344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Ключевые показатели</a:t>
            </a:r>
            <a:endParaRPr lang="ru-RU" sz="1250" dirty="0"/>
          </a:p>
        </p:txBody>
      </p:sp>
      <p:sp>
        <p:nvSpPr>
          <p:cNvPr id="48" name="Shape 46"/>
          <p:cNvSpPr/>
          <p:nvPr/>
        </p:nvSpPr>
        <p:spPr>
          <a:xfrm>
            <a:off x="6848856" y="1965960"/>
            <a:ext cx="2072030" cy="484632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35724" y="2007108"/>
            <a:ext cx="18982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1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Показатель</a:t>
            </a:r>
            <a:endParaRPr lang="ru-RU" sz="1010" dirty="0"/>
          </a:p>
        </p:txBody>
      </p:sp>
      <p:sp>
        <p:nvSpPr>
          <p:cNvPr id="50" name="Shape 48"/>
          <p:cNvSpPr/>
          <p:nvPr/>
        </p:nvSpPr>
        <p:spPr>
          <a:xfrm>
            <a:off x="8920886" y="1965960"/>
            <a:ext cx="880613" cy="484632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07754" y="2007108"/>
            <a:ext cx="7068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1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</a:t>
            </a:r>
            <a:endParaRPr lang="ru-RU" sz="1010" dirty="0"/>
          </a:p>
        </p:txBody>
      </p:sp>
      <p:sp>
        <p:nvSpPr>
          <p:cNvPr id="52" name="Shape 50"/>
          <p:cNvSpPr/>
          <p:nvPr/>
        </p:nvSpPr>
        <p:spPr>
          <a:xfrm>
            <a:off x="9801499" y="1965960"/>
            <a:ext cx="880613" cy="484632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88367" y="2007108"/>
            <a:ext cx="7068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1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</a:t>
            </a:r>
            <a:endParaRPr lang="ru-RU" sz="1010" dirty="0"/>
          </a:p>
        </p:txBody>
      </p:sp>
      <p:sp>
        <p:nvSpPr>
          <p:cNvPr id="54" name="Shape 52"/>
          <p:cNvSpPr/>
          <p:nvPr/>
        </p:nvSpPr>
        <p:spPr>
          <a:xfrm>
            <a:off x="10682112" y="1965960"/>
            <a:ext cx="875904" cy="484632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68980" y="2007108"/>
            <a:ext cx="702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1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ru-RU" sz="1010" dirty="0"/>
          </a:p>
        </p:txBody>
      </p:sp>
      <p:sp>
        <p:nvSpPr>
          <p:cNvPr id="56" name="Shape 54"/>
          <p:cNvSpPr/>
          <p:nvPr/>
        </p:nvSpPr>
        <p:spPr>
          <a:xfrm>
            <a:off x="6848856" y="2450592"/>
            <a:ext cx="207203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35724" y="2491740"/>
            <a:ext cx="18982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Выручка, млн USD</a:t>
            </a:r>
            <a:endParaRPr lang="ru-RU" sz="1020" dirty="0"/>
          </a:p>
        </p:txBody>
      </p:sp>
      <p:sp>
        <p:nvSpPr>
          <p:cNvPr id="58" name="Shape 56"/>
          <p:cNvSpPr/>
          <p:nvPr/>
        </p:nvSpPr>
        <p:spPr>
          <a:xfrm>
            <a:off x="8920886" y="2450592"/>
            <a:ext cx="880613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07754" y="2491740"/>
            <a:ext cx="70687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127</a:t>
            </a:r>
            <a:endParaRPr lang="ru-RU" sz="1020" dirty="0"/>
          </a:p>
        </p:txBody>
      </p:sp>
      <p:sp>
        <p:nvSpPr>
          <p:cNvPr id="60" name="Shape 58"/>
          <p:cNvSpPr/>
          <p:nvPr/>
        </p:nvSpPr>
        <p:spPr>
          <a:xfrm>
            <a:off x="9801499" y="2450592"/>
            <a:ext cx="880613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88367" y="2491740"/>
            <a:ext cx="70687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156</a:t>
            </a:r>
            <a:endParaRPr lang="ru-RU" sz="1020" dirty="0"/>
          </a:p>
        </p:txBody>
      </p:sp>
      <p:sp>
        <p:nvSpPr>
          <p:cNvPr id="62" name="Shape 60"/>
          <p:cNvSpPr/>
          <p:nvPr/>
        </p:nvSpPr>
        <p:spPr>
          <a:xfrm>
            <a:off x="10682112" y="2450592"/>
            <a:ext cx="875904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768980" y="2491740"/>
            <a:ext cx="7021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172</a:t>
            </a:r>
            <a:endParaRPr lang="ru-RU" sz="1020" dirty="0"/>
          </a:p>
        </p:txBody>
      </p:sp>
      <p:sp>
        <p:nvSpPr>
          <p:cNvPr id="64" name="Shape 62"/>
          <p:cNvSpPr/>
          <p:nvPr/>
        </p:nvSpPr>
        <p:spPr>
          <a:xfrm>
            <a:off x="6848856" y="2962656"/>
            <a:ext cx="2072030" cy="512064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35724" y="3003804"/>
            <a:ext cx="18982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EBITDA, млн USD</a:t>
            </a:r>
            <a:endParaRPr lang="ru-RU" sz="1020" dirty="0"/>
          </a:p>
        </p:txBody>
      </p:sp>
      <p:sp>
        <p:nvSpPr>
          <p:cNvPr id="66" name="Shape 64"/>
          <p:cNvSpPr/>
          <p:nvPr/>
        </p:nvSpPr>
        <p:spPr>
          <a:xfrm>
            <a:off x="8920886" y="2962656"/>
            <a:ext cx="880613" cy="512064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07754" y="3003804"/>
            <a:ext cx="70687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ru-RU" sz="1020" dirty="0"/>
          </a:p>
        </p:txBody>
      </p:sp>
      <p:sp>
        <p:nvSpPr>
          <p:cNvPr id="68" name="Shape 66"/>
          <p:cNvSpPr/>
          <p:nvPr/>
        </p:nvSpPr>
        <p:spPr>
          <a:xfrm>
            <a:off x="9801499" y="2962656"/>
            <a:ext cx="880613" cy="512064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88367" y="3003804"/>
            <a:ext cx="70687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ru-RU" sz="1020" dirty="0"/>
          </a:p>
        </p:txBody>
      </p:sp>
      <p:sp>
        <p:nvSpPr>
          <p:cNvPr id="70" name="Shape 68"/>
          <p:cNvSpPr/>
          <p:nvPr/>
        </p:nvSpPr>
        <p:spPr>
          <a:xfrm>
            <a:off x="10682112" y="2962656"/>
            <a:ext cx="875904" cy="512064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768980" y="3003804"/>
            <a:ext cx="7021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ru-RU" sz="1020" dirty="0"/>
          </a:p>
        </p:txBody>
      </p:sp>
      <p:sp>
        <p:nvSpPr>
          <p:cNvPr id="72" name="Shape 70"/>
          <p:cNvSpPr/>
          <p:nvPr/>
        </p:nvSpPr>
        <p:spPr>
          <a:xfrm>
            <a:off x="6848856" y="3474720"/>
            <a:ext cx="207203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35724" y="3515868"/>
            <a:ext cx="18982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Рентабельность EBITDA</a:t>
            </a:r>
            <a:endParaRPr lang="ru-RU" sz="1020" dirty="0"/>
          </a:p>
        </p:txBody>
      </p:sp>
      <p:sp>
        <p:nvSpPr>
          <p:cNvPr id="74" name="Shape 72"/>
          <p:cNvSpPr/>
          <p:nvPr/>
        </p:nvSpPr>
        <p:spPr>
          <a:xfrm>
            <a:off x="8920886" y="3474720"/>
            <a:ext cx="880613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07754" y="3515868"/>
            <a:ext cx="70687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18,9%</a:t>
            </a:r>
            <a:endParaRPr lang="ru-RU" sz="1020" dirty="0"/>
          </a:p>
        </p:txBody>
      </p:sp>
      <p:sp>
        <p:nvSpPr>
          <p:cNvPr id="76" name="Shape 74"/>
          <p:cNvSpPr/>
          <p:nvPr/>
        </p:nvSpPr>
        <p:spPr>
          <a:xfrm>
            <a:off x="9801499" y="3474720"/>
            <a:ext cx="880613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88367" y="3515868"/>
            <a:ext cx="70687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20,5%</a:t>
            </a:r>
            <a:endParaRPr lang="ru-RU" sz="1020" dirty="0"/>
          </a:p>
        </p:txBody>
      </p:sp>
      <p:sp>
        <p:nvSpPr>
          <p:cNvPr id="78" name="Shape 76"/>
          <p:cNvSpPr/>
          <p:nvPr/>
        </p:nvSpPr>
        <p:spPr>
          <a:xfrm>
            <a:off x="10682112" y="3474720"/>
            <a:ext cx="875904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768980" y="3515868"/>
            <a:ext cx="7021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20,9%</a:t>
            </a:r>
            <a:endParaRPr lang="ru-RU" sz="1020" dirty="0"/>
          </a:p>
        </p:txBody>
      </p:sp>
      <p:sp>
        <p:nvSpPr>
          <p:cNvPr id="80" name="Shape 78"/>
          <p:cNvSpPr/>
          <p:nvPr/>
        </p:nvSpPr>
        <p:spPr>
          <a:xfrm>
            <a:off x="6848856" y="3986784"/>
            <a:ext cx="2072030" cy="512064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35724" y="4027932"/>
            <a:ext cx="18982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Чистый долг / EBITDA</a:t>
            </a:r>
            <a:endParaRPr lang="ru-RU" sz="1020" dirty="0"/>
          </a:p>
        </p:txBody>
      </p:sp>
      <p:sp>
        <p:nvSpPr>
          <p:cNvPr id="82" name="Shape 80"/>
          <p:cNvSpPr/>
          <p:nvPr/>
        </p:nvSpPr>
        <p:spPr>
          <a:xfrm>
            <a:off x="8920886" y="3986784"/>
            <a:ext cx="880613" cy="512064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007754" y="4027932"/>
            <a:ext cx="70687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2,8x</a:t>
            </a:r>
            <a:endParaRPr lang="ru-RU" sz="1020" dirty="0"/>
          </a:p>
        </p:txBody>
      </p:sp>
      <p:sp>
        <p:nvSpPr>
          <p:cNvPr id="84" name="Shape 82"/>
          <p:cNvSpPr/>
          <p:nvPr/>
        </p:nvSpPr>
        <p:spPr>
          <a:xfrm>
            <a:off x="9801499" y="3986784"/>
            <a:ext cx="880613" cy="512064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888367" y="4027932"/>
            <a:ext cx="70687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2,3x</a:t>
            </a:r>
            <a:endParaRPr lang="ru-RU" sz="1020" dirty="0"/>
          </a:p>
        </p:txBody>
      </p:sp>
      <p:sp>
        <p:nvSpPr>
          <p:cNvPr id="86" name="Shape 84"/>
          <p:cNvSpPr/>
          <p:nvPr/>
        </p:nvSpPr>
        <p:spPr>
          <a:xfrm>
            <a:off x="10682112" y="3986784"/>
            <a:ext cx="875904" cy="512064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768980" y="4027932"/>
            <a:ext cx="7021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2,1x</a:t>
            </a:r>
            <a:endParaRPr lang="ru-RU" sz="1020" dirty="0"/>
          </a:p>
        </p:txBody>
      </p:sp>
      <p:sp>
        <p:nvSpPr>
          <p:cNvPr id="88" name="Shape 86"/>
          <p:cNvSpPr/>
          <p:nvPr/>
        </p:nvSpPr>
        <p:spPr>
          <a:xfrm>
            <a:off x="649224" y="4837176"/>
            <a:ext cx="5266944" cy="1124712"/>
          </a:xfrm>
          <a:prstGeom prst="roundRect">
            <a:avLst>
              <a:gd name="adj" fmla="val 8130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59536" y="499262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Кредитная история</a:t>
            </a:r>
            <a:endParaRPr lang="ru-RU" sz="1250" dirty="0"/>
          </a:p>
        </p:txBody>
      </p:sp>
      <p:sp>
        <p:nvSpPr>
          <p:cNvPr id="90" name="Shape 88"/>
          <p:cNvSpPr/>
          <p:nvPr/>
        </p:nvSpPr>
        <p:spPr>
          <a:xfrm>
            <a:off x="914400" y="5477256"/>
            <a:ext cx="59436" cy="59436"/>
          </a:xfrm>
          <a:prstGeom prst="ellipse">
            <a:avLst/>
          </a:prstGeom>
          <a:solidFill>
            <a:srgbClr val="2469AA"/>
          </a:solidFill>
          <a:ln w="6350">
            <a:solidFill>
              <a:srgbClr val="2469A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69848" y="5367528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История обслуживания задолженности — запросить</a:t>
            </a:r>
            <a:endParaRPr lang="ru-RU" sz="1020" dirty="0"/>
          </a:p>
        </p:txBody>
      </p:sp>
      <p:sp>
        <p:nvSpPr>
          <p:cNvPr id="92" name="Shape 90"/>
          <p:cNvSpPr/>
          <p:nvPr/>
        </p:nvSpPr>
        <p:spPr>
          <a:xfrm>
            <a:off x="6117336" y="4837176"/>
            <a:ext cx="5431536" cy="1124712"/>
          </a:xfrm>
          <a:prstGeom prst="roundRect">
            <a:avLst>
              <a:gd name="adj" fmla="val 813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327648" y="49926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</a:t>
            </a:r>
            <a:endParaRPr lang="ru-RU" sz="1250" dirty="0"/>
          </a:p>
        </p:txBody>
      </p:sp>
      <p:sp>
        <p:nvSpPr>
          <p:cNvPr id="94" name="Text 92"/>
          <p:cNvSpPr/>
          <p:nvPr/>
        </p:nvSpPr>
        <p:spPr>
          <a:xfrm>
            <a:off x="6345936" y="5330952"/>
            <a:ext cx="4892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9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основании подтверждённых финансовых данных сформулировать оценку динамики и кредитного риска.</a:t>
            </a:r>
            <a:endParaRPr lang="ru-RU" sz="10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142857"/>
            </a:avLst>
          </a:prstGeom>
          <a:solidFill>
            <a:srgbClr val="0D2A4F"/>
          </a:solidFill>
          <a:ln w="12700">
            <a:solidFill>
              <a:srgbClr val="0D2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65176"/>
            <a:ext cx="640080" cy="667512"/>
          </a:xfrm>
          <a:prstGeom prst="roundRect">
            <a:avLst>
              <a:gd name="adj" fmla="val 8571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429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02/04</a:t>
            </a:r>
            <a:endParaRPr lang="ru-RU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246888"/>
            <a:ext cx="10405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3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Экономическое обоснование сделки</a:t>
            </a:r>
            <a:endParaRPr lang="ru-RU" sz="2300" dirty="0"/>
          </a:p>
        </p:txBody>
      </p:sp>
      <p:sp>
        <p:nvSpPr>
          <p:cNvPr id="6" name="Text 4"/>
          <p:cNvSpPr/>
          <p:nvPr/>
        </p:nvSpPr>
        <p:spPr>
          <a:xfrm>
            <a:off x="1252728" y="74066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Использование избыточной долларовой ликвидности и сравнение альтернатив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1311128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8056" y="6556248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ВАРИАНТ Б  |  ДЕМОНСТРАЦИОННЫЙ МАКЕТ: цифры, ставки и выводы подлежат подтверждению</a:t>
            </a:r>
            <a:endParaRPr lang="ru-RU" sz="800" dirty="0"/>
          </a:p>
        </p:txBody>
      </p:sp>
      <p:sp>
        <p:nvSpPr>
          <p:cNvPr id="9" name="Text 7"/>
          <p:cNvSpPr/>
          <p:nvPr/>
        </p:nvSpPr>
        <p:spPr>
          <a:xfrm>
            <a:off x="11027664" y="65471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7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</a:t>
            </a:r>
            <a:endParaRPr lang="ru-RU" sz="870" dirty="0"/>
          </a:p>
        </p:txBody>
      </p:sp>
      <p:sp>
        <p:nvSpPr>
          <p:cNvPr id="10" name="Shape 8"/>
          <p:cNvSpPr/>
          <p:nvPr/>
        </p:nvSpPr>
        <p:spPr>
          <a:xfrm>
            <a:off x="713232" y="1536192"/>
            <a:ext cx="548640" cy="557784"/>
          </a:xfrm>
          <a:prstGeom prst="roundRect">
            <a:avLst>
              <a:gd name="adj" fmla="val 16667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7335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</a:t>
            </a:r>
            <a:endParaRPr lang="ru-RU" sz="1200" dirty="0"/>
          </a:p>
        </p:txBody>
      </p:sp>
      <p:sp>
        <p:nvSpPr>
          <p:cNvPr id="12" name="Text 10"/>
          <p:cNvSpPr/>
          <p:nvPr/>
        </p:nvSpPr>
        <p:spPr>
          <a:xfrm>
            <a:off x="1435608" y="1563624"/>
            <a:ext cx="4480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4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млн USD</a:t>
            </a:r>
            <a:endParaRPr lang="ru-RU" sz="1240" dirty="0"/>
          </a:p>
        </p:txBody>
      </p:sp>
      <p:sp>
        <p:nvSpPr>
          <p:cNvPr id="13" name="Text 11"/>
          <p:cNvSpPr/>
          <p:nvPr/>
        </p:nvSpPr>
        <p:spPr>
          <a:xfrm>
            <a:off x="1444752" y="1847088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Сумма кредитной сделки</a:t>
            </a:r>
            <a:endParaRPr lang="ru-RU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496312"/>
            <a:ext cx="548640" cy="557784"/>
          </a:xfrm>
          <a:prstGeom prst="roundRect">
            <a:avLst>
              <a:gd name="adj" fmla="val 16667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3347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ru-RU" sz="1200" dirty="0"/>
          </a:p>
        </p:txBody>
      </p:sp>
      <p:sp>
        <p:nvSpPr>
          <p:cNvPr id="16" name="Text 14"/>
          <p:cNvSpPr/>
          <p:nvPr/>
        </p:nvSpPr>
        <p:spPr>
          <a:xfrm>
            <a:off x="1435608" y="2523744"/>
            <a:ext cx="4480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4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1 года</a:t>
            </a:r>
            <a:endParaRPr lang="ru-RU" sz="1240" dirty="0"/>
          </a:p>
        </p:txBody>
      </p:sp>
      <p:sp>
        <p:nvSpPr>
          <p:cNvPr id="17" name="Text 15"/>
          <p:cNvSpPr/>
          <p:nvPr/>
        </p:nvSpPr>
        <p:spPr>
          <a:xfrm>
            <a:off x="1444752" y="2807208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Предлагаемый срок финансирования</a:t>
            </a:r>
            <a:endParaRPr lang="ru-RU" sz="1050" dirty="0"/>
          </a:p>
        </p:txBody>
      </p:sp>
      <p:sp>
        <p:nvSpPr>
          <p:cNvPr id="18" name="Shape 16"/>
          <p:cNvSpPr/>
          <p:nvPr/>
        </p:nvSpPr>
        <p:spPr>
          <a:xfrm>
            <a:off x="713232" y="3456432"/>
            <a:ext cx="548640" cy="557784"/>
          </a:xfrm>
          <a:prstGeom prst="roundRect">
            <a:avLst>
              <a:gd name="adj" fmla="val 16667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9359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ru-RU" sz="1200" dirty="0"/>
          </a:p>
        </p:txBody>
      </p:sp>
      <p:sp>
        <p:nvSpPr>
          <p:cNvPr id="20" name="Text 18"/>
          <p:cNvSpPr/>
          <p:nvPr/>
        </p:nvSpPr>
        <p:spPr>
          <a:xfrm>
            <a:off x="1435608" y="3483864"/>
            <a:ext cx="4480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4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Избыточная долларовая ликвидность</a:t>
            </a:r>
            <a:endParaRPr lang="ru-RU" sz="1240" dirty="0"/>
          </a:p>
        </p:txBody>
      </p:sp>
      <p:sp>
        <p:nvSpPr>
          <p:cNvPr id="21" name="Text 19"/>
          <p:cNvSpPr/>
          <p:nvPr/>
        </p:nvSpPr>
        <p:spPr>
          <a:xfrm>
            <a:off x="1444752" y="3767328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Возможное использование после погашения</a:t>
            </a:r>
            <a:endParaRPr lang="ru-RU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4416552"/>
            <a:ext cx="548640" cy="557784"/>
          </a:xfrm>
          <a:prstGeom prst="roundRect">
            <a:avLst>
              <a:gd name="adj" fmla="val 16667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55371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ru-RU" sz="1200" dirty="0"/>
          </a:p>
        </p:txBody>
      </p:sp>
      <p:sp>
        <p:nvSpPr>
          <p:cNvPr id="24" name="Text 22"/>
          <p:cNvSpPr/>
          <p:nvPr/>
        </p:nvSpPr>
        <p:spPr>
          <a:xfrm>
            <a:off x="1435608" y="4443984"/>
            <a:ext cx="4480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4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Корсчета — 0% годовых</a:t>
            </a:r>
            <a:endParaRPr lang="ru-RU" sz="1240" dirty="0"/>
          </a:p>
        </p:txBody>
      </p:sp>
      <p:sp>
        <p:nvSpPr>
          <p:cNvPr id="25" name="Text 23"/>
          <p:cNvSpPr/>
          <p:nvPr/>
        </p:nvSpPr>
        <p:spPr>
          <a:xfrm>
            <a:off x="1444752" y="4727448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Доходность нуждается в подтверждении</a:t>
            </a:r>
            <a:endParaRPr lang="ru-RU" sz="1050" dirty="0"/>
          </a:p>
        </p:txBody>
      </p:sp>
      <p:sp>
        <p:nvSpPr>
          <p:cNvPr id="26" name="Shape 24"/>
          <p:cNvSpPr/>
          <p:nvPr/>
        </p:nvSpPr>
        <p:spPr>
          <a:xfrm>
            <a:off x="6089904" y="1444752"/>
            <a:ext cx="0" cy="461772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373368" y="1545336"/>
            <a:ext cx="5047488" cy="3163824"/>
          </a:xfrm>
          <a:prstGeom prst="roundRect">
            <a:avLst>
              <a:gd name="adj" fmla="val 3468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1773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Доходность размещения, % годовых</a:t>
            </a:r>
            <a:endParaRPr lang="ru-RU" sz="1250" dirty="0"/>
          </a:p>
        </p:txBody>
      </p:sp>
      <p:sp>
        <p:nvSpPr>
          <p:cNvPr id="29" name="Shape 27"/>
          <p:cNvSpPr/>
          <p:nvPr/>
        </p:nvSpPr>
        <p:spPr>
          <a:xfrm>
            <a:off x="6885432" y="4105656"/>
            <a:ext cx="923544" cy="41148"/>
          </a:xfrm>
          <a:prstGeom prst="rect">
            <a:avLst/>
          </a:prstGeom>
          <a:solidFill>
            <a:srgbClr val="8FBCE2"/>
          </a:solidFill>
          <a:ln w="12700">
            <a:solidFill>
              <a:srgbClr val="8FBC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3849624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4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ru-RU" sz="1240" dirty="0"/>
          </a:p>
        </p:txBody>
      </p:sp>
      <p:sp>
        <p:nvSpPr>
          <p:cNvPr id="31" name="Text 29"/>
          <p:cNvSpPr/>
          <p:nvPr/>
        </p:nvSpPr>
        <p:spPr>
          <a:xfrm>
            <a:off x="6711696" y="4251960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96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Корсчета</a:t>
            </a:r>
            <a:endParaRPr lang="ru-RU" sz="960" dirty="0"/>
          </a:p>
        </p:txBody>
      </p:sp>
      <p:sp>
        <p:nvSpPr>
          <p:cNvPr id="32" name="Shape 30"/>
          <p:cNvSpPr/>
          <p:nvPr/>
        </p:nvSpPr>
        <p:spPr>
          <a:xfrm>
            <a:off x="8257032" y="3511296"/>
            <a:ext cx="923544" cy="594360"/>
          </a:xfrm>
          <a:prstGeom prst="rect">
            <a:avLst/>
          </a:prstGeom>
          <a:solidFill>
            <a:srgbClr val="8FBCE2"/>
          </a:solidFill>
          <a:ln w="12700">
            <a:solidFill>
              <a:srgbClr val="8FBC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0" y="3255264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4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2–3%</a:t>
            </a:r>
            <a:endParaRPr lang="ru-RU" sz="1240" dirty="0"/>
          </a:p>
        </p:txBody>
      </p:sp>
      <p:sp>
        <p:nvSpPr>
          <p:cNvPr id="34" name="Text 32"/>
          <p:cNvSpPr/>
          <p:nvPr/>
        </p:nvSpPr>
        <p:spPr>
          <a:xfrm>
            <a:off x="8083296" y="4251960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96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Другие инструменты</a:t>
            </a:r>
            <a:endParaRPr lang="ru-RU" sz="960" dirty="0"/>
          </a:p>
        </p:txBody>
      </p:sp>
      <p:sp>
        <p:nvSpPr>
          <p:cNvPr id="35" name="Shape 33"/>
          <p:cNvSpPr/>
          <p:nvPr/>
        </p:nvSpPr>
        <p:spPr>
          <a:xfrm>
            <a:off x="9646920" y="2679192"/>
            <a:ext cx="923544" cy="1426464"/>
          </a:xfrm>
          <a:prstGeom prst="rect">
            <a:avLst/>
          </a:prstGeom>
          <a:solidFill>
            <a:srgbClr val="2469AA"/>
          </a:solidFill>
          <a:ln w="12700">
            <a:solidFill>
              <a:srgbClr val="2469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73768" y="2423160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4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5–7%</a:t>
            </a:r>
            <a:endParaRPr lang="ru-RU" sz="1240" dirty="0"/>
          </a:p>
        </p:txBody>
      </p:sp>
      <p:sp>
        <p:nvSpPr>
          <p:cNvPr id="37" name="Text 35"/>
          <p:cNvSpPr/>
          <p:nvPr/>
        </p:nvSpPr>
        <p:spPr>
          <a:xfrm>
            <a:off x="9473184" y="4251960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96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Кредитная сделка</a:t>
            </a:r>
            <a:endParaRPr lang="ru-RU" sz="960" dirty="0"/>
          </a:p>
        </p:txBody>
      </p:sp>
      <p:sp>
        <p:nvSpPr>
          <p:cNvPr id="38" name="Shape 36"/>
          <p:cNvSpPr/>
          <p:nvPr/>
        </p:nvSpPr>
        <p:spPr>
          <a:xfrm>
            <a:off x="6373368" y="4910328"/>
            <a:ext cx="5047488" cy="1005840"/>
          </a:xfrm>
          <a:prstGeom prst="roundRect">
            <a:avLst>
              <a:gd name="adj" fmla="val 10909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3368" y="4910328"/>
            <a:ext cx="64008" cy="1005840"/>
          </a:xfrm>
          <a:prstGeom prst="rect">
            <a:avLst/>
          </a:prstGeom>
          <a:solidFill>
            <a:srgbClr val="2469AA"/>
          </a:solidFill>
          <a:ln w="12700">
            <a:solidFill>
              <a:srgbClr val="2469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5010912"/>
            <a:ext cx="468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Смысл предлагаемой сделки</a:t>
            </a:r>
            <a:endParaRPr lang="ru-RU" sz="1200" dirty="0"/>
          </a:p>
        </p:txBody>
      </p:sp>
      <p:sp>
        <p:nvSpPr>
          <p:cNvPr id="41" name="Text 39"/>
          <p:cNvSpPr/>
          <p:nvPr/>
        </p:nvSpPr>
        <p:spPr>
          <a:xfrm>
            <a:off x="6565392" y="5285232"/>
            <a:ext cx="4654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условиях отсутствия подтверждённых альтернатив долларового кредитования сделка может сохранять доходность банковских активов.</a:t>
            </a:r>
            <a:endParaRPr lang="ru-RU" sz="1050" dirty="0"/>
          </a:p>
        </p:txBody>
      </p:sp>
      <p:sp>
        <p:nvSpPr>
          <p:cNvPr id="42" name="Text 40"/>
          <p:cNvSpPr/>
          <p:nvPr/>
        </p:nvSpPr>
        <p:spPr>
          <a:xfrm>
            <a:off x="740664" y="6236208"/>
            <a:ext cx="10716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Примечание: диапазоны 2–3% и 5–7% на диаграмме — условные для макета; заменить фактическими ставками.</a:t>
            </a:r>
            <a:endParaRPr lang="ru-RU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142857"/>
            </a:avLst>
          </a:prstGeom>
          <a:solidFill>
            <a:srgbClr val="0D2A4F"/>
          </a:solidFill>
          <a:ln w="12700">
            <a:solidFill>
              <a:srgbClr val="0D2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65176"/>
            <a:ext cx="640080" cy="667512"/>
          </a:xfrm>
          <a:prstGeom prst="roundRect">
            <a:avLst>
              <a:gd name="adj" fmla="val 8571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429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03/04</a:t>
            </a:r>
            <a:endParaRPr lang="ru-RU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246888"/>
            <a:ext cx="10405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3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Риски, резервирование и варианты</a:t>
            </a:r>
            <a:endParaRPr lang="ru-RU" sz="2300" dirty="0"/>
          </a:p>
        </p:txBody>
      </p:sp>
      <p:sp>
        <p:nvSpPr>
          <p:cNvPr id="6" name="Text 4"/>
          <p:cNvSpPr/>
          <p:nvPr/>
        </p:nvSpPr>
        <p:spPr>
          <a:xfrm>
            <a:off x="1252728" y="74066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сценариев с учётом резервов и ликвидности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1311128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8056" y="6556248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ВАРИАНТ Б  |  ДЕМОНСТРАЦИОННЫЙ МАКЕТ: цифры, ставки и выводы подлежат подтверждению</a:t>
            </a:r>
            <a:endParaRPr lang="ru-RU" sz="800" dirty="0"/>
          </a:p>
        </p:txBody>
      </p:sp>
      <p:sp>
        <p:nvSpPr>
          <p:cNvPr id="9" name="Text 7"/>
          <p:cNvSpPr/>
          <p:nvPr/>
        </p:nvSpPr>
        <p:spPr>
          <a:xfrm>
            <a:off x="11027664" y="65471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7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3/4</a:t>
            </a:r>
            <a:endParaRPr lang="ru-RU" sz="870" dirty="0"/>
          </a:p>
        </p:txBody>
      </p:sp>
      <p:sp>
        <p:nvSpPr>
          <p:cNvPr id="10" name="Text 8"/>
          <p:cNvSpPr/>
          <p:nvPr/>
        </p:nvSpPr>
        <p:spPr>
          <a:xfrm>
            <a:off x="658368" y="1490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Сценарии реализации сделки</a:t>
            </a:r>
            <a:endParaRPr lang="ru-RU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1901952"/>
            <a:ext cx="1830263" cy="512064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" y="1943100"/>
            <a:ext cx="16565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Сценарий</a:t>
            </a:r>
            <a:endParaRPr lang="ru-RU" sz="960" dirty="0"/>
          </a:p>
        </p:txBody>
      </p:sp>
      <p:sp>
        <p:nvSpPr>
          <p:cNvPr id="13" name="Shape 11"/>
          <p:cNvSpPr/>
          <p:nvPr/>
        </p:nvSpPr>
        <p:spPr>
          <a:xfrm>
            <a:off x="2488631" y="1901952"/>
            <a:ext cx="3050438" cy="512064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5499" y="1943100"/>
            <a:ext cx="287670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Описание</a:t>
            </a:r>
            <a:endParaRPr lang="ru-RU" sz="960" dirty="0"/>
          </a:p>
        </p:txBody>
      </p:sp>
      <p:sp>
        <p:nvSpPr>
          <p:cNvPr id="15" name="Shape 13"/>
          <p:cNvSpPr/>
          <p:nvPr/>
        </p:nvSpPr>
        <p:spPr>
          <a:xfrm>
            <a:off x="5539069" y="1901952"/>
            <a:ext cx="2745395" cy="512064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5937" y="1943100"/>
            <a:ext cx="257165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6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Оценка финансового эффекта</a:t>
            </a:r>
            <a:endParaRPr lang="ru-RU" sz="960" dirty="0"/>
          </a:p>
        </p:txBody>
      </p:sp>
      <p:sp>
        <p:nvSpPr>
          <p:cNvPr id="17" name="Shape 15"/>
          <p:cNvSpPr/>
          <p:nvPr/>
        </p:nvSpPr>
        <p:spPr>
          <a:xfrm>
            <a:off x="658368" y="2414016"/>
            <a:ext cx="1830263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" y="2455164"/>
            <a:ext cx="1656527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7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Погашение в ноябре</a:t>
            </a:r>
            <a:endParaRPr lang="ru-RU" sz="970" dirty="0"/>
          </a:p>
        </p:txBody>
      </p:sp>
      <p:sp>
        <p:nvSpPr>
          <p:cNvPr id="19" name="Shape 17"/>
          <p:cNvSpPr/>
          <p:nvPr/>
        </p:nvSpPr>
        <p:spPr>
          <a:xfrm>
            <a:off x="2488631" y="2414016"/>
            <a:ext cx="3050438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5499" y="2455164"/>
            <a:ext cx="287670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7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Возврат задолженности и размещение на корсчетах</a:t>
            </a:r>
            <a:endParaRPr lang="ru-RU" sz="970" dirty="0"/>
          </a:p>
        </p:txBody>
      </p:sp>
      <p:sp>
        <p:nvSpPr>
          <p:cNvPr id="21" name="Shape 19"/>
          <p:cNvSpPr/>
          <p:nvPr/>
        </p:nvSpPr>
        <p:spPr>
          <a:xfrm>
            <a:off x="5539069" y="2414016"/>
            <a:ext cx="2745395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5937" y="2455164"/>
            <a:ext cx="257165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7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Потеря процентного дохода; изменение резервов</a:t>
            </a:r>
            <a:endParaRPr lang="ru-RU" sz="970" dirty="0"/>
          </a:p>
        </p:txBody>
      </p:sp>
      <p:sp>
        <p:nvSpPr>
          <p:cNvPr id="23" name="Shape 21"/>
          <p:cNvSpPr/>
          <p:nvPr/>
        </p:nvSpPr>
        <p:spPr>
          <a:xfrm>
            <a:off x="658368" y="3200400"/>
            <a:ext cx="1830263" cy="804672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" y="3241548"/>
            <a:ext cx="165652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7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Продление договора</a:t>
            </a:r>
            <a:endParaRPr lang="ru-RU" sz="970" dirty="0"/>
          </a:p>
        </p:txBody>
      </p:sp>
      <p:sp>
        <p:nvSpPr>
          <p:cNvPr id="25" name="Shape 23"/>
          <p:cNvSpPr/>
          <p:nvPr/>
        </p:nvSpPr>
        <p:spPr>
          <a:xfrm>
            <a:off x="2488631" y="3200400"/>
            <a:ext cx="3050438" cy="804672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5499" y="3241548"/>
            <a:ext cx="287670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7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Сохранение финансирования до одного года</a:t>
            </a:r>
            <a:endParaRPr lang="ru-RU" sz="970" dirty="0"/>
          </a:p>
        </p:txBody>
      </p:sp>
      <p:sp>
        <p:nvSpPr>
          <p:cNvPr id="27" name="Shape 25"/>
          <p:cNvSpPr/>
          <p:nvPr/>
        </p:nvSpPr>
        <p:spPr>
          <a:xfrm>
            <a:off x="5539069" y="3200400"/>
            <a:ext cx="2745395" cy="804672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5937" y="3241548"/>
            <a:ext cx="257165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7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Процентный доход при сохранении кредитного риска</a:t>
            </a:r>
            <a:endParaRPr lang="ru-RU" sz="970" dirty="0"/>
          </a:p>
        </p:txBody>
      </p:sp>
      <p:sp>
        <p:nvSpPr>
          <p:cNvPr id="29" name="Shape 27"/>
          <p:cNvSpPr/>
          <p:nvPr/>
        </p:nvSpPr>
        <p:spPr>
          <a:xfrm>
            <a:off x="658368" y="4005072"/>
            <a:ext cx="1830263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" y="4046220"/>
            <a:ext cx="1656527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7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Погашение и новая выдача</a:t>
            </a:r>
            <a:endParaRPr lang="ru-RU" sz="970" dirty="0"/>
          </a:p>
        </p:txBody>
      </p:sp>
      <p:sp>
        <p:nvSpPr>
          <p:cNvPr id="31" name="Shape 29"/>
          <p:cNvSpPr/>
          <p:nvPr/>
        </p:nvSpPr>
        <p:spPr>
          <a:xfrm>
            <a:off x="2488631" y="4005072"/>
            <a:ext cx="3050438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5499" y="4046220"/>
            <a:ext cx="287670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7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Погашение сейчас, новая выдача в следующем году</a:t>
            </a:r>
            <a:endParaRPr lang="ru-RU" sz="970" dirty="0"/>
          </a:p>
        </p:txBody>
      </p:sp>
      <p:sp>
        <p:nvSpPr>
          <p:cNvPr id="33" name="Shape 31"/>
          <p:cNvSpPr/>
          <p:nvPr/>
        </p:nvSpPr>
        <p:spPr>
          <a:xfrm>
            <a:off x="5539069" y="4005072"/>
            <a:ext cx="2745395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5937" y="4046220"/>
            <a:ext cx="257165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7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Возможный разрыв в доходах; изменение резервов</a:t>
            </a:r>
            <a:endParaRPr lang="ru-RU" sz="970" dirty="0"/>
          </a:p>
        </p:txBody>
      </p:sp>
      <p:sp>
        <p:nvSpPr>
          <p:cNvPr id="35" name="Text 33"/>
          <p:cNvSpPr/>
          <p:nvPr/>
        </p:nvSpPr>
        <p:spPr>
          <a:xfrm>
            <a:off x="8531352" y="14904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Показатели резервирования*</a:t>
            </a:r>
            <a:endParaRPr lang="ru-RU" sz="1250" dirty="0"/>
          </a:p>
        </p:txBody>
      </p:sp>
      <p:sp>
        <p:nvSpPr>
          <p:cNvPr id="36" name="Shape 34"/>
          <p:cNvSpPr/>
          <p:nvPr/>
        </p:nvSpPr>
        <p:spPr>
          <a:xfrm>
            <a:off x="8522208" y="1901952"/>
            <a:ext cx="2916936" cy="1197864"/>
          </a:xfrm>
          <a:prstGeom prst="roundRect">
            <a:avLst>
              <a:gd name="adj" fmla="val 7634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95944" y="2011680"/>
            <a:ext cx="2569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Методология / показатель 1</a:t>
            </a:r>
            <a:endParaRPr lang="ru-RU" sz="1050" dirty="0"/>
          </a:p>
        </p:txBody>
      </p:sp>
      <p:sp>
        <p:nvSpPr>
          <p:cNvPr id="38" name="Text 36"/>
          <p:cNvSpPr/>
          <p:nvPr/>
        </p:nvSpPr>
        <p:spPr>
          <a:xfrm>
            <a:off x="8686800" y="2212848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ru-RU" sz="2200" dirty="0"/>
          </a:p>
        </p:txBody>
      </p:sp>
      <p:sp>
        <p:nvSpPr>
          <p:cNvPr id="39" name="Text 37"/>
          <p:cNvSpPr/>
          <p:nvPr/>
        </p:nvSpPr>
        <p:spPr>
          <a:xfrm>
            <a:off x="8686800" y="2551176"/>
            <a:ext cx="2587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4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Уточнить определение и базу расчёта</a:t>
            </a:r>
            <a:endParaRPr lang="ru-RU" sz="840" dirty="0"/>
          </a:p>
        </p:txBody>
      </p:sp>
      <p:sp>
        <p:nvSpPr>
          <p:cNvPr id="40" name="Shape 38"/>
          <p:cNvSpPr/>
          <p:nvPr/>
        </p:nvSpPr>
        <p:spPr>
          <a:xfrm>
            <a:off x="8522208" y="3291840"/>
            <a:ext cx="2916936" cy="1197864"/>
          </a:xfrm>
          <a:prstGeom prst="roundRect">
            <a:avLst>
              <a:gd name="adj" fmla="val 7634"/>
            </a:avLst>
          </a:prstGeom>
          <a:solidFill>
            <a:srgbClr val="FEF3E3"/>
          </a:solidFill>
          <a:ln w="12700">
            <a:solidFill>
              <a:srgbClr val="FEF3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95944" y="3401568"/>
            <a:ext cx="2569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Методология / показатель 2</a:t>
            </a:r>
            <a:endParaRPr lang="ru-RU" sz="1050" dirty="0"/>
          </a:p>
        </p:txBody>
      </p:sp>
      <p:sp>
        <p:nvSpPr>
          <p:cNvPr id="42" name="Text 40"/>
          <p:cNvSpPr/>
          <p:nvPr/>
        </p:nvSpPr>
        <p:spPr>
          <a:xfrm>
            <a:off x="8686800" y="3602736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b="1" dirty="0">
                <a:solidFill>
                  <a:srgbClr val="BA7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</a:t>
            </a:r>
            <a:endParaRPr lang="ru-RU" sz="2200" dirty="0"/>
          </a:p>
        </p:txBody>
      </p:sp>
      <p:sp>
        <p:nvSpPr>
          <p:cNvPr id="43" name="Text 41"/>
          <p:cNvSpPr/>
          <p:nvPr/>
        </p:nvSpPr>
        <p:spPr>
          <a:xfrm>
            <a:off x="8686800" y="3941064"/>
            <a:ext cx="2587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4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Уточнить определение и базу расчёта</a:t>
            </a:r>
            <a:endParaRPr lang="ru-RU" sz="840" dirty="0"/>
          </a:p>
        </p:txBody>
      </p:sp>
      <p:sp>
        <p:nvSpPr>
          <p:cNvPr id="44" name="Shape 42"/>
          <p:cNvSpPr/>
          <p:nvPr/>
        </p:nvSpPr>
        <p:spPr>
          <a:xfrm>
            <a:off x="658368" y="4892040"/>
            <a:ext cx="10780776" cy="1060704"/>
          </a:xfrm>
          <a:prstGeom prst="roundRect">
            <a:avLst>
              <a:gd name="adj" fmla="val 10345"/>
            </a:avLst>
          </a:prstGeom>
          <a:solidFill>
            <a:srgbClr val="FEF3E3"/>
          </a:solidFill>
          <a:ln w="12700">
            <a:solidFill>
              <a:srgbClr val="FEF3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" y="4892040"/>
            <a:ext cx="64008" cy="1060704"/>
          </a:xfrm>
          <a:prstGeom prst="rect">
            <a:avLst/>
          </a:prstGeom>
          <a:solidFill>
            <a:srgbClr val="BA7935"/>
          </a:solidFill>
          <a:ln w="12700">
            <a:solidFill>
              <a:srgbClr val="BA79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" y="4992624"/>
            <a:ext cx="10415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 для Наблюдательного совета</a:t>
            </a:r>
            <a:endParaRPr lang="ru-RU" sz="1200" dirty="0"/>
          </a:p>
        </p:txBody>
      </p:sp>
      <p:sp>
        <p:nvSpPr>
          <p:cNvPr id="47" name="Text 45"/>
          <p:cNvSpPr/>
          <p:nvPr/>
        </p:nvSpPr>
        <p:spPr>
          <a:xfrm>
            <a:off x="850392" y="5266944"/>
            <a:ext cx="10387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Сопоставить процентный доход с ожидаемыми кредитными потерями и изменением резервов при каждом сценарии. Значения 20% и 92% нельзя интерпретировать без определения соответствующих методик.</a:t>
            </a:r>
            <a:endParaRPr lang="ru-RU" sz="1050" dirty="0"/>
          </a:p>
        </p:txBody>
      </p:sp>
      <p:sp>
        <p:nvSpPr>
          <p:cNvPr id="48" name="Text 46"/>
          <p:cNvSpPr/>
          <p:nvPr/>
        </p:nvSpPr>
        <p:spPr>
          <a:xfrm>
            <a:off x="713232" y="6126480"/>
            <a:ext cx="10515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Наименования показателей в исходной транскрипции распознаны некорректно.</a:t>
            </a:r>
            <a:endParaRPr lang="ru-RU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142857"/>
            </a:avLst>
          </a:prstGeom>
          <a:solidFill>
            <a:srgbClr val="0D2A4F"/>
          </a:solidFill>
          <a:ln w="12700">
            <a:solidFill>
              <a:srgbClr val="0D2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65176"/>
            <a:ext cx="640080" cy="667512"/>
          </a:xfrm>
          <a:prstGeom prst="roundRect">
            <a:avLst>
              <a:gd name="adj" fmla="val 8571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429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04/04</a:t>
            </a:r>
            <a:endParaRPr lang="ru-RU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246888"/>
            <a:ext cx="10405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3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Предложение по решению вопроса</a:t>
            </a:r>
            <a:endParaRPr lang="ru-RU" sz="2300" dirty="0"/>
          </a:p>
        </p:txBody>
      </p:sp>
      <p:sp>
        <p:nvSpPr>
          <p:cNvPr id="6" name="Text 4"/>
          <p:cNvSpPr/>
          <p:nvPr/>
        </p:nvSpPr>
        <p:spPr>
          <a:xfrm>
            <a:off x="1252728" y="74066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Согласование изменения ранее предусмотренного порядка погашения и финансирования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1311128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8056" y="6556248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ВАРИАНТ Б  |  ДЕМОНСТРАЦИОННЫЙ МАКЕТ: цифры, ставки и выводы подлежат подтверждению</a:t>
            </a:r>
            <a:endParaRPr lang="ru-RU" sz="800" dirty="0"/>
          </a:p>
        </p:txBody>
      </p:sp>
      <p:sp>
        <p:nvSpPr>
          <p:cNvPr id="9" name="Text 7"/>
          <p:cNvSpPr/>
          <p:nvPr/>
        </p:nvSpPr>
        <p:spPr>
          <a:xfrm>
            <a:off x="11027664" y="65471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7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4/4</a:t>
            </a:r>
            <a:endParaRPr lang="ru-RU" sz="870" dirty="0"/>
          </a:p>
        </p:txBody>
      </p:sp>
      <p:sp>
        <p:nvSpPr>
          <p:cNvPr id="10" name="Shape 8"/>
          <p:cNvSpPr/>
          <p:nvPr/>
        </p:nvSpPr>
        <p:spPr>
          <a:xfrm>
            <a:off x="621792" y="1545336"/>
            <a:ext cx="5330952" cy="3264408"/>
          </a:xfrm>
          <a:prstGeom prst="roundRect">
            <a:avLst>
              <a:gd name="adj" fmla="val 3361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1764792"/>
            <a:ext cx="4032504" cy="274320"/>
          </a:xfrm>
          <a:prstGeom prst="roundRect">
            <a:avLst>
              <a:gd name="adj" fmla="val 26667"/>
            </a:avLst>
          </a:prstGeom>
          <a:solidFill>
            <a:srgbClr val="D9E4E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647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ДЕЙСТВУЮЩАЯ ФОРМУЛИРОВКА</a:t>
            </a:r>
            <a:endParaRPr lang="ru-RU" sz="900" dirty="0"/>
          </a:p>
        </p:txBody>
      </p:sp>
      <p:sp>
        <p:nvSpPr>
          <p:cNvPr id="13" name="Text 11"/>
          <p:cNvSpPr/>
          <p:nvPr/>
        </p:nvSpPr>
        <p:spPr>
          <a:xfrm>
            <a:off x="886968" y="2459736"/>
            <a:ext cx="4791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Точную редакцию ранее принятого решения необходимо вставить из направленного проекта.</a:t>
            </a:r>
            <a:endParaRPr lang="ru-RU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1545336"/>
            <a:ext cx="5330952" cy="3264408"/>
          </a:xfrm>
          <a:prstGeom prst="roundRect">
            <a:avLst>
              <a:gd name="adj" fmla="val 3361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764792"/>
            <a:ext cx="4032504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7647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ПРЕДЛАГАЕМАЯ ФОРМУЛИРОВКА</a:t>
            </a:r>
            <a:endParaRPr lang="ru-RU" sz="900" dirty="0"/>
          </a:p>
        </p:txBody>
      </p:sp>
      <p:sp>
        <p:nvSpPr>
          <p:cNvPr id="17" name="Text 15"/>
          <p:cNvSpPr/>
          <p:nvPr/>
        </p:nvSpPr>
        <p:spPr>
          <a:xfrm>
            <a:off x="6528816" y="2459736"/>
            <a:ext cx="4791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Рассмотреть возможность продления / сохранения финансирования в размере до 30 млн USD на срок до одного года на условиях, подлежащих согласованию.</a:t>
            </a:r>
            <a:endParaRPr lang="ru-RU" sz="1500" dirty="0"/>
          </a:p>
        </p:txBody>
      </p:sp>
      <p:sp>
        <p:nvSpPr>
          <p:cNvPr id="18" name="Shape 16"/>
          <p:cNvSpPr/>
          <p:nvPr/>
        </p:nvSpPr>
        <p:spPr>
          <a:xfrm>
            <a:off x="630936" y="5120640"/>
            <a:ext cx="10963656" cy="914400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 w="12700">
            <a:solidFill>
              <a:srgbClr val="E7F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" y="5120640"/>
            <a:ext cx="64008" cy="914400"/>
          </a:xfrm>
          <a:prstGeom prst="rect">
            <a:avLst/>
          </a:prstGeom>
          <a:solidFill>
            <a:srgbClr val="2A8368"/>
          </a:solidFill>
          <a:ln w="12700">
            <a:solidFill>
              <a:srgbClr val="2A83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21224"/>
            <a:ext cx="10597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rgbClr val="2A8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Рекомендация к рассмотрению</a:t>
            </a:r>
            <a:endParaRPr lang="ru-RU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495544"/>
            <a:ext cx="10570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Принять решение после подтверждения финансового состояния кредитополучателя, доходности сделки, альтернатив размещения ликвидности и влияния на резервирование.</a:t>
            </a:r>
            <a:endParaRPr lang="ru-RU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142857"/>
            </a:avLst>
          </a:prstGeom>
          <a:solidFill>
            <a:srgbClr val="0D2A4F"/>
          </a:solidFill>
          <a:ln w="12700">
            <a:solidFill>
              <a:srgbClr val="0D2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65176"/>
            <a:ext cx="640080" cy="667512"/>
          </a:xfrm>
          <a:prstGeom prst="roundRect">
            <a:avLst>
              <a:gd name="adj" fmla="val 8571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429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01/05</a:t>
            </a:r>
            <a:endParaRPr lang="ru-RU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246888"/>
            <a:ext cx="10405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3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Финансовое состояние кредитополучателя</a:t>
            </a:r>
            <a:endParaRPr lang="ru-RU" sz="2300" dirty="0"/>
          </a:p>
        </p:txBody>
      </p:sp>
      <p:sp>
        <p:nvSpPr>
          <p:cNvPr id="6" name="Text 4"/>
          <p:cNvSpPr/>
          <p:nvPr/>
        </p:nvSpPr>
        <p:spPr>
          <a:xfrm>
            <a:off x="1252728" y="74066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Показатели за несколько периодов и последние 12 месяцев (LTM)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1311128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8056" y="6556248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ВАРИАНТ В  |  ДЕМОНСТРАЦИОННЫЙ МАКЕТ: цифры, ставки и выводы подлежат подтверждению</a:t>
            </a:r>
            <a:endParaRPr lang="ru-RU" sz="800" dirty="0"/>
          </a:p>
        </p:txBody>
      </p:sp>
      <p:sp>
        <p:nvSpPr>
          <p:cNvPr id="9" name="Text 7"/>
          <p:cNvSpPr/>
          <p:nvPr/>
        </p:nvSpPr>
        <p:spPr>
          <a:xfrm>
            <a:off x="11027664" y="65471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7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</a:t>
            </a:r>
            <a:endParaRPr lang="ru-RU" sz="870" dirty="0"/>
          </a:p>
        </p:txBody>
      </p:sp>
      <p:sp>
        <p:nvSpPr>
          <p:cNvPr id="10" name="Text 8"/>
          <p:cNvSpPr/>
          <p:nvPr/>
        </p:nvSpPr>
        <p:spPr>
          <a:xfrm>
            <a:off x="630936" y="1444752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Выручка и EBITDA, млн USD</a:t>
            </a:r>
            <a:endParaRPr lang="ru-RU" sz="1250" dirty="0"/>
          </a:p>
        </p:txBody>
      </p:sp>
      <p:sp>
        <p:nvSpPr>
          <p:cNvPr id="11" name="Shape 9"/>
          <p:cNvSpPr/>
          <p:nvPr/>
        </p:nvSpPr>
        <p:spPr>
          <a:xfrm>
            <a:off x="1078992" y="4489704"/>
            <a:ext cx="5660136" cy="0"/>
          </a:xfrm>
          <a:prstGeom prst="line">
            <a:avLst/>
          </a:prstGeom>
          <a:noFill/>
          <a:ln w="1143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069848" y="4489704"/>
            <a:ext cx="5669280" cy="0"/>
          </a:xfrm>
          <a:prstGeom prst="line">
            <a:avLst/>
          </a:prstGeom>
          <a:noFill/>
          <a:ln w="698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630936" y="4416552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5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ru-RU" sz="850" dirty="0"/>
          </a:p>
        </p:txBody>
      </p:sp>
      <p:sp>
        <p:nvSpPr>
          <p:cNvPr id="14" name="Shape 12"/>
          <p:cNvSpPr/>
          <p:nvPr/>
        </p:nvSpPr>
        <p:spPr>
          <a:xfrm>
            <a:off x="1069848" y="3842766"/>
            <a:ext cx="5669280" cy="0"/>
          </a:xfrm>
          <a:prstGeom prst="line">
            <a:avLst/>
          </a:prstGeom>
          <a:noFill/>
          <a:ln w="698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630936" y="3769614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5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ru-RU" sz="850" dirty="0"/>
          </a:p>
        </p:txBody>
      </p:sp>
      <p:sp>
        <p:nvSpPr>
          <p:cNvPr id="16" name="Shape 14"/>
          <p:cNvSpPr/>
          <p:nvPr/>
        </p:nvSpPr>
        <p:spPr>
          <a:xfrm>
            <a:off x="1069848" y="3195828"/>
            <a:ext cx="5669280" cy="0"/>
          </a:xfrm>
          <a:prstGeom prst="line">
            <a:avLst/>
          </a:prstGeom>
          <a:noFill/>
          <a:ln w="698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30936" y="3122676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5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ru-RU" sz="850" dirty="0"/>
          </a:p>
        </p:txBody>
      </p:sp>
      <p:sp>
        <p:nvSpPr>
          <p:cNvPr id="18" name="Shape 16"/>
          <p:cNvSpPr/>
          <p:nvPr/>
        </p:nvSpPr>
        <p:spPr>
          <a:xfrm>
            <a:off x="1069848" y="2548890"/>
            <a:ext cx="5669280" cy="0"/>
          </a:xfrm>
          <a:prstGeom prst="line">
            <a:avLst/>
          </a:prstGeom>
          <a:noFill/>
          <a:ln w="698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630936" y="2475738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5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</a:t>
            </a:r>
            <a:endParaRPr lang="ru-RU" sz="850" dirty="0"/>
          </a:p>
        </p:txBody>
      </p:sp>
      <p:sp>
        <p:nvSpPr>
          <p:cNvPr id="20" name="Shape 18"/>
          <p:cNvSpPr/>
          <p:nvPr/>
        </p:nvSpPr>
        <p:spPr>
          <a:xfrm>
            <a:off x="1069848" y="1901952"/>
            <a:ext cx="5669280" cy="0"/>
          </a:xfrm>
          <a:prstGeom prst="line">
            <a:avLst/>
          </a:prstGeom>
          <a:noFill/>
          <a:ln w="6985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630936" y="1828800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5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</a:t>
            </a:r>
            <a:endParaRPr lang="ru-RU" sz="850" dirty="0"/>
          </a:p>
        </p:txBody>
      </p:sp>
      <p:sp>
        <p:nvSpPr>
          <p:cNvPr id="22" name="Shape 20"/>
          <p:cNvSpPr/>
          <p:nvPr/>
        </p:nvSpPr>
        <p:spPr>
          <a:xfrm>
            <a:off x="1485900" y="3114961"/>
            <a:ext cx="402336" cy="1374743"/>
          </a:xfrm>
          <a:prstGeom prst="rect">
            <a:avLst/>
          </a:prstGeom>
          <a:solidFill>
            <a:srgbClr val="8FBCE2"/>
          </a:solidFill>
          <a:ln w="12700">
            <a:solidFill>
              <a:srgbClr val="8FBC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1036" y="2904649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</a:t>
            </a:r>
            <a:endParaRPr lang="ru-RU" sz="880" dirty="0"/>
          </a:p>
        </p:txBody>
      </p:sp>
      <p:sp>
        <p:nvSpPr>
          <p:cNvPr id="24" name="Text 22"/>
          <p:cNvSpPr/>
          <p:nvPr/>
        </p:nvSpPr>
        <p:spPr>
          <a:xfrm>
            <a:off x="1124712" y="4608576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7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</a:t>
            </a:r>
            <a:endParaRPr lang="ru-RU" sz="870" dirty="0"/>
          </a:p>
        </p:txBody>
      </p:sp>
      <p:sp>
        <p:nvSpPr>
          <p:cNvPr id="25" name="Shape 23"/>
          <p:cNvSpPr/>
          <p:nvPr/>
        </p:nvSpPr>
        <p:spPr>
          <a:xfrm>
            <a:off x="2610612" y="2840012"/>
            <a:ext cx="402336" cy="1649692"/>
          </a:xfrm>
          <a:prstGeom prst="rect">
            <a:avLst/>
          </a:prstGeom>
          <a:solidFill>
            <a:srgbClr val="8FBCE2"/>
          </a:solidFill>
          <a:ln w="12700">
            <a:solidFill>
              <a:srgbClr val="8FBC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5748" y="262970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</a:t>
            </a:r>
            <a:endParaRPr lang="ru-RU" sz="880" dirty="0"/>
          </a:p>
        </p:txBody>
      </p:sp>
      <p:sp>
        <p:nvSpPr>
          <p:cNvPr id="27" name="Text 25"/>
          <p:cNvSpPr/>
          <p:nvPr/>
        </p:nvSpPr>
        <p:spPr>
          <a:xfrm>
            <a:off x="2249424" y="4608576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7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</a:t>
            </a:r>
            <a:endParaRPr lang="ru-RU" sz="870" dirty="0"/>
          </a:p>
        </p:txBody>
      </p:sp>
      <p:sp>
        <p:nvSpPr>
          <p:cNvPr id="28" name="Shape 26"/>
          <p:cNvSpPr/>
          <p:nvPr/>
        </p:nvSpPr>
        <p:spPr>
          <a:xfrm>
            <a:off x="3735324" y="2581237"/>
            <a:ext cx="402336" cy="1908467"/>
          </a:xfrm>
          <a:prstGeom prst="rect">
            <a:avLst/>
          </a:prstGeom>
          <a:solidFill>
            <a:srgbClr val="8FBCE2"/>
          </a:solidFill>
          <a:ln w="12700">
            <a:solidFill>
              <a:srgbClr val="8FBC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0460" y="2370925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118</a:t>
            </a:r>
            <a:endParaRPr lang="ru-RU" sz="880" dirty="0"/>
          </a:p>
        </p:txBody>
      </p:sp>
      <p:sp>
        <p:nvSpPr>
          <p:cNvPr id="30" name="Text 28"/>
          <p:cNvSpPr/>
          <p:nvPr/>
        </p:nvSpPr>
        <p:spPr>
          <a:xfrm>
            <a:off x="3374136" y="4608576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7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</a:t>
            </a:r>
            <a:endParaRPr lang="ru-RU" sz="870" dirty="0"/>
          </a:p>
        </p:txBody>
      </p:sp>
      <p:sp>
        <p:nvSpPr>
          <p:cNvPr id="31" name="Shape 29"/>
          <p:cNvSpPr/>
          <p:nvPr/>
        </p:nvSpPr>
        <p:spPr>
          <a:xfrm>
            <a:off x="4860036" y="2451849"/>
            <a:ext cx="402336" cy="2037855"/>
          </a:xfrm>
          <a:prstGeom prst="rect">
            <a:avLst/>
          </a:prstGeom>
          <a:solidFill>
            <a:srgbClr val="8FBCE2"/>
          </a:solidFill>
          <a:ln w="12700">
            <a:solidFill>
              <a:srgbClr val="8FBC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5172" y="2241537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126</a:t>
            </a:r>
            <a:endParaRPr lang="ru-RU" sz="880" dirty="0"/>
          </a:p>
        </p:txBody>
      </p:sp>
      <p:sp>
        <p:nvSpPr>
          <p:cNvPr id="33" name="Text 31"/>
          <p:cNvSpPr/>
          <p:nvPr/>
        </p:nvSpPr>
        <p:spPr>
          <a:xfrm>
            <a:off x="4498848" y="4608576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7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ru-RU" sz="870" dirty="0"/>
          </a:p>
        </p:txBody>
      </p:sp>
      <p:sp>
        <p:nvSpPr>
          <p:cNvPr id="34" name="Shape 32"/>
          <p:cNvSpPr/>
          <p:nvPr/>
        </p:nvSpPr>
        <p:spPr>
          <a:xfrm>
            <a:off x="5984748" y="2532717"/>
            <a:ext cx="402336" cy="1956987"/>
          </a:xfrm>
          <a:prstGeom prst="rect">
            <a:avLst/>
          </a:prstGeom>
          <a:solidFill>
            <a:srgbClr val="8FBCE2"/>
          </a:solidFill>
          <a:ln w="12700">
            <a:solidFill>
              <a:srgbClr val="8FBC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29884" y="2322405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121</a:t>
            </a:r>
            <a:endParaRPr lang="ru-RU" sz="880" dirty="0"/>
          </a:p>
        </p:txBody>
      </p:sp>
      <p:sp>
        <p:nvSpPr>
          <p:cNvPr id="36" name="Text 34"/>
          <p:cNvSpPr/>
          <p:nvPr/>
        </p:nvSpPr>
        <p:spPr>
          <a:xfrm>
            <a:off x="5623560" y="4608576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7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LTM</a:t>
            </a:r>
            <a:endParaRPr lang="ru-RU" sz="870" dirty="0"/>
          </a:p>
        </p:txBody>
      </p:sp>
      <p:sp>
        <p:nvSpPr>
          <p:cNvPr id="37" name="Shape 35"/>
          <p:cNvSpPr/>
          <p:nvPr/>
        </p:nvSpPr>
        <p:spPr>
          <a:xfrm>
            <a:off x="1650492" y="3859467"/>
            <a:ext cx="73152" cy="73152"/>
          </a:xfrm>
          <a:prstGeom prst="ellipse">
            <a:avLst/>
          </a:prstGeom>
          <a:solidFill>
            <a:srgbClr val="133B65"/>
          </a:solidFill>
          <a:ln w="6350">
            <a:solidFill>
              <a:srgbClr val="133B6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76756" y="3685731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50" b="1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ru-RU" sz="850" dirty="0"/>
          </a:p>
        </p:txBody>
      </p:sp>
      <p:sp>
        <p:nvSpPr>
          <p:cNvPr id="39" name="Shape 37"/>
          <p:cNvSpPr/>
          <p:nvPr/>
        </p:nvSpPr>
        <p:spPr>
          <a:xfrm>
            <a:off x="2775204" y="3711052"/>
            <a:ext cx="73152" cy="73152"/>
          </a:xfrm>
          <a:prstGeom prst="ellipse">
            <a:avLst/>
          </a:prstGeom>
          <a:solidFill>
            <a:srgbClr val="133B65"/>
          </a:solidFill>
          <a:ln w="6350">
            <a:solidFill>
              <a:srgbClr val="133B6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1468" y="353731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50" b="1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ru-RU" sz="850" dirty="0"/>
          </a:p>
        </p:txBody>
      </p:sp>
      <p:sp>
        <p:nvSpPr>
          <p:cNvPr id="41" name="Shape 39"/>
          <p:cNvSpPr/>
          <p:nvPr/>
        </p:nvSpPr>
        <p:spPr>
          <a:xfrm>
            <a:off x="3899916" y="3562637"/>
            <a:ext cx="73152" cy="73152"/>
          </a:xfrm>
          <a:prstGeom prst="ellipse">
            <a:avLst/>
          </a:prstGeom>
          <a:solidFill>
            <a:srgbClr val="133B65"/>
          </a:solidFill>
          <a:ln w="6350">
            <a:solidFill>
              <a:srgbClr val="133B6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26180" y="3388901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50" b="1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ru-RU" sz="850" dirty="0"/>
          </a:p>
        </p:txBody>
      </p:sp>
      <p:sp>
        <p:nvSpPr>
          <p:cNvPr id="43" name="Shape 41"/>
          <p:cNvSpPr/>
          <p:nvPr/>
        </p:nvSpPr>
        <p:spPr>
          <a:xfrm>
            <a:off x="5024628" y="3463693"/>
            <a:ext cx="73152" cy="73152"/>
          </a:xfrm>
          <a:prstGeom prst="ellipse">
            <a:avLst/>
          </a:prstGeom>
          <a:solidFill>
            <a:srgbClr val="133B65"/>
          </a:solidFill>
          <a:ln w="6350">
            <a:solidFill>
              <a:srgbClr val="133B6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50892" y="3289957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50" b="1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ru-RU" sz="850" dirty="0"/>
          </a:p>
        </p:txBody>
      </p:sp>
      <p:sp>
        <p:nvSpPr>
          <p:cNvPr id="45" name="Shape 43"/>
          <p:cNvSpPr/>
          <p:nvPr/>
        </p:nvSpPr>
        <p:spPr>
          <a:xfrm>
            <a:off x="6149340" y="3513165"/>
            <a:ext cx="73152" cy="73152"/>
          </a:xfrm>
          <a:prstGeom prst="ellipse">
            <a:avLst/>
          </a:prstGeom>
          <a:solidFill>
            <a:srgbClr val="133B65"/>
          </a:solidFill>
          <a:ln w="6350">
            <a:solidFill>
              <a:srgbClr val="133B6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75604" y="3339429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850" b="1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ru-RU" sz="850" dirty="0"/>
          </a:p>
        </p:txBody>
      </p:sp>
      <p:sp>
        <p:nvSpPr>
          <p:cNvPr id="47" name="Shape 45"/>
          <p:cNvSpPr/>
          <p:nvPr/>
        </p:nvSpPr>
        <p:spPr>
          <a:xfrm>
            <a:off x="1687068" y="3896043"/>
            <a:ext cx="1124712" cy="-148415"/>
          </a:xfrm>
          <a:prstGeom prst="line">
            <a:avLst/>
          </a:prstGeom>
          <a:noFill/>
          <a:ln w="25400">
            <a:solidFill>
              <a:srgbClr val="133B65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2811780" y="3747628"/>
            <a:ext cx="1124712" cy="-148415"/>
          </a:xfrm>
          <a:prstGeom prst="line">
            <a:avLst/>
          </a:prstGeom>
          <a:noFill/>
          <a:ln w="25400">
            <a:solidFill>
              <a:srgbClr val="133B65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3936492" y="3599213"/>
            <a:ext cx="1124712" cy="-98943"/>
          </a:xfrm>
          <a:prstGeom prst="line">
            <a:avLst/>
          </a:prstGeom>
          <a:noFill/>
          <a:ln w="25400">
            <a:solidFill>
              <a:srgbClr val="133B65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5061204" y="3500269"/>
            <a:ext cx="1124712" cy="49472"/>
          </a:xfrm>
          <a:prstGeom prst="line">
            <a:avLst/>
          </a:prstGeom>
          <a:noFill/>
          <a:ln w="25400">
            <a:solidFill>
              <a:srgbClr val="133B65"/>
            </a:solidFill>
            <a:prstDash val="solid"/>
            <a:headEnd type="none"/>
            <a:tailEnd type="none"/>
          </a:ln>
        </p:spPr>
      </p:sp>
      <p:sp>
        <p:nvSpPr>
          <p:cNvPr id="51" name="Text 49"/>
          <p:cNvSpPr/>
          <p:nvPr/>
        </p:nvSpPr>
        <p:spPr>
          <a:xfrm>
            <a:off x="7086600" y="1453896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Ключевые показатели (LTM)</a:t>
            </a:r>
            <a:endParaRPr lang="ru-RU" sz="1250" dirty="0"/>
          </a:p>
        </p:txBody>
      </p:sp>
      <p:sp>
        <p:nvSpPr>
          <p:cNvPr id="52" name="Shape 50"/>
          <p:cNvSpPr/>
          <p:nvPr/>
        </p:nvSpPr>
        <p:spPr>
          <a:xfrm>
            <a:off x="7077456" y="1819656"/>
            <a:ext cx="2952963" cy="512064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64324" y="1860804"/>
            <a:ext cx="27792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7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Показатель</a:t>
            </a:r>
            <a:endParaRPr lang="ru-RU" sz="1070" dirty="0"/>
          </a:p>
        </p:txBody>
      </p:sp>
      <p:sp>
        <p:nvSpPr>
          <p:cNvPr id="54" name="Shape 52"/>
          <p:cNvSpPr/>
          <p:nvPr/>
        </p:nvSpPr>
        <p:spPr>
          <a:xfrm>
            <a:off x="10030419" y="1819656"/>
            <a:ext cx="1454445" cy="512064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117287" y="1860804"/>
            <a:ext cx="128070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7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Значение</a:t>
            </a:r>
            <a:endParaRPr lang="ru-RU" sz="1070" dirty="0"/>
          </a:p>
        </p:txBody>
      </p:sp>
      <p:sp>
        <p:nvSpPr>
          <p:cNvPr id="56" name="Shape 54"/>
          <p:cNvSpPr/>
          <p:nvPr/>
        </p:nvSpPr>
        <p:spPr>
          <a:xfrm>
            <a:off x="7077456" y="2331720"/>
            <a:ext cx="2952963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64324" y="2372868"/>
            <a:ext cx="277922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Выручка, млн USD</a:t>
            </a:r>
            <a:endParaRPr lang="ru-RU" sz="1080" dirty="0"/>
          </a:p>
        </p:txBody>
      </p:sp>
      <p:sp>
        <p:nvSpPr>
          <p:cNvPr id="58" name="Shape 56"/>
          <p:cNvSpPr/>
          <p:nvPr/>
        </p:nvSpPr>
        <p:spPr>
          <a:xfrm>
            <a:off x="10030419" y="2331720"/>
            <a:ext cx="1454445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117287" y="2372868"/>
            <a:ext cx="128070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121</a:t>
            </a:r>
            <a:endParaRPr lang="ru-RU" sz="1080" dirty="0"/>
          </a:p>
        </p:txBody>
      </p:sp>
      <p:sp>
        <p:nvSpPr>
          <p:cNvPr id="60" name="Shape 58"/>
          <p:cNvSpPr/>
          <p:nvPr/>
        </p:nvSpPr>
        <p:spPr>
          <a:xfrm>
            <a:off x="7077456" y="2898648"/>
            <a:ext cx="2952963" cy="566928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64324" y="2939796"/>
            <a:ext cx="277922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EBITDA, млн USD</a:t>
            </a:r>
            <a:endParaRPr lang="ru-RU" sz="1080" dirty="0"/>
          </a:p>
        </p:txBody>
      </p:sp>
      <p:sp>
        <p:nvSpPr>
          <p:cNvPr id="62" name="Shape 60"/>
          <p:cNvSpPr/>
          <p:nvPr/>
        </p:nvSpPr>
        <p:spPr>
          <a:xfrm>
            <a:off x="10030419" y="2898648"/>
            <a:ext cx="1454445" cy="566928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117287" y="2939796"/>
            <a:ext cx="128070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ru-RU" sz="1080" dirty="0"/>
          </a:p>
        </p:txBody>
      </p:sp>
      <p:sp>
        <p:nvSpPr>
          <p:cNvPr id="64" name="Shape 62"/>
          <p:cNvSpPr/>
          <p:nvPr/>
        </p:nvSpPr>
        <p:spPr>
          <a:xfrm>
            <a:off x="7077456" y="3465576"/>
            <a:ext cx="2952963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64324" y="3506724"/>
            <a:ext cx="277922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Рентабельность EBITDA</a:t>
            </a:r>
            <a:endParaRPr lang="ru-RU" sz="1080" dirty="0"/>
          </a:p>
        </p:txBody>
      </p:sp>
      <p:sp>
        <p:nvSpPr>
          <p:cNvPr id="66" name="Shape 64"/>
          <p:cNvSpPr/>
          <p:nvPr/>
        </p:nvSpPr>
        <p:spPr>
          <a:xfrm>
            <a:off x="10030419" y="3465576"/>
            <a:ext cx="1454445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117287" y="3506724"/>
            <a:ext cx="128070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15,7%</a:t>
            </a:r>
            <a:endParaRPr lang="ru-RU" sz="1080" dirty="0"/>
          </a:p>
        </p:txBody>
      </p:sp>
      <p:sp>
        <p:nvSpPr>
          <p:cNvPr id="68" name="Shape 66"/>
          <p:cNvSpPr/>
          <p:nvPr/>
        </p:nvSpPr>
        <p:spPr>
          <a:xfrm>
            <a:off x="7077456" y="4032504"/>
            <a:ext cx="2952963" cy="566928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64324" y="4073652"/>
            <a:ext cx="277922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Чистый долг / EBITDA</a:t>
            </a:r>
            <a:endParaRPr lang="ru-RU" sz="1080" dirty="0"/>
          </a:p>
        </p:txBody>
      </p:sp>
      <p:sp>
        <p:nvSpPr>
          <p:cNvPr id="70" name="Shape 68"/>
          <p:cNvSpPr/>
          <p:nvPr/>
        </p:nvSpPr>
        <p:spPr>
          <a:xfrm>
            <a:off x="10030419" y="4032504"/>
            <a:ext cx="1454445" cy="566928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117287" y="4073652"/>
            <a:ext cx="128070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2,8x</a:t>
            </a:r>
            <a:endParaRPr lang="ru-RU" sz="1080" dirty="0"/>
          </a:p>
        </p:txBody>
      </p:sp>
      <p:sp>
        <p:nvSpPr>
          <p:cNvPr id="72" name="Shape 70"/>
          <p:cNvSpPr/>
          <p:nvPr/>
        </p:nvSpPr>
        <p:spPr>
          <a:xfrm>
            <a:off x="7077456" y="4599432"/>
            <a:ext cx="2952963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64324" y="4640580"/>
            <a:ext cx="277922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Покрытие процентов (ICR)</a:t>
            </a:r>
            <a:endParaRPr lang="ru-RU" sz="1080" dirty="0"/>
          </a:p>
        </p:txBody>
      </p:sp>
      <p:sp>
        <p:nvSpPr>
          <p:cNvPr id="74" name="Shape 72"/>
          <p:cNvSpPr/>
          <p:nvPr/>
        </p:nvSpPr>
        <p:spPr>
          <a:xfrm>
            <a:off x="10030419" y="4599432"/>
            <a:ext cx="1454445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117287" y="4640580"/>
            <a:ext cx="128070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3,4x</a:t>
            </a:r>
            <a:endParaRPr lang="ru-RU" sz="1080" dirty="0"/>
          </a:p>
        </p:txBody>
      </p:sp>
      <p:sp>
        <p:nvSpPr>
          <p:cNvPr id="76" name="Shape 74"/>
          <p:cNvSpPr/>
          <p:nvPr/>
        </p:nvSpPr>
        <p:spPr>
          <a:xfrm>
            <a:off x="658368" y="5385816"/>
            <a:ext cx="10799064" cy="813816"/>
          </a:xfrm>
          <a:prstGeom prst="roundRect">
            <a:avLst>
              <a:gd name="adj" fmla="val 13483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58368" y="5385816"/>
            <a:ext cx="64008" cy="813816"/>
          </a:xfrm>
          <a:prstGeom prst="rect">
            <a:avLst/>
          </a:prstGeom>
          <a:solidFill>
            <a:srgbClr val="2469AA"/>
          </a:solidFill>
          <a:ln w="12700">
            <a:solidFill>
              <a:srgbClr val="2469A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0392" y="5486400"/>
            <a:ext cx="10433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 по кредитополучателю</a:t>
            </a:r>
            <a:endParaRPr lang="ru-RU" sz="1200" dirty="0"/>
          </a:p>
        </p:txBody>
      </p:sp>
      <p:sp>
        <p:nvSpPr>
          <p:cNvPr id="79" name="Text 77"/>
          <p:cNvSpPr/>
          <p:nvPr/>
        </p:nvSpPr>
        <p:spPr>
          <a:xfrm>
            <a:off x="850392" y="5760720"/>
            <a:ext cx="10405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Показатели на данном слайде воспроизводят визуальный пример, а не финансовую отчётность заёмщика. Заменить фактическими цифрами и заключением кредитного анализа.</a:t>
            </a:r>
            <a:endParaRPr lang="ru-RU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142857"/>
            </a:avLst>
          </a:prstGeom>
          <a:solidFill>
            <a:srgbClr val="0D2A4F"/>
          </a:solidFill>
          <a:ln w="12700">
            <a:solidFill>
              <a:srgbClr val="0D2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65176"/>
            <a:ext cx="640080" cy="667512"/>
          </a:xfrm>
          <a:prstGeom prst="roundRect">
            <a:avLst>
              <a:gd name="adj" fmla="val 8571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429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02/05</a:t>
            </a:r>
            <a:endParaRPr lang="ru-RU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246888"/>
            <a:ext cx="10405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3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Параметры сделки</a:t>
            </a:r>
            <a:endParaRPr lang="ru-RU" sz="2300" dirty="0"/>
          </a:p>
        </p:txBody>
      </p:sp>
      <p:sp>
        <p:nvSpPr>
          <p:cNvPr id="6" name="Text 4"/>
          <p:cNvSpPr/>
          <p:nvPr/>
        </p:nvSpPr>
        <p:spPr>
          <a:xfrm>
            <a:off x="1252728" y="74066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Краткое описание вопроса, выносимого на рассмотрение Наблюдательного совета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1311128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8056" y="6556248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ВАРИАНТ В  |  ДЕМОНСТРАЦИОННЫЙ МАКЕТ: цифры, ставки и выводы подлежат подтверждению</a:t>
            </a:r>
            <a:endParaRPr lang="ru-RU" sz="800" dirty="0"/>
          </a:p>
        </p:txBody>
      </p:sp>
      <p:sp>
        <p:nvSpPr>
          <p:cNvPr id="9" name="Text 7"/>
          <p:cNvSpPr/>
          <p:nvPr/>
        </p:nvSpPr>
        <p:spPr>
          <a:xfrm>
            <a:off x="11027664" y="65471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7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2/5</a:t>
            </a:r>
            <a:endParaRPr lang="ru-RU" sz="870" dirty="0"/>
          </a:p>
        </p:txBody>
      </p:sp>
      <p:sp>
        <p:nvSpPr>
          <p:cNvPr id="10" name="Shape 8"/>
          <p:cNvSpPr/>
          <p:nvPr/>
        </p:nvSpPr>
        <p:spPr>
          <a:xfrm>
            <a:off x="841248" y="1783080"/>
            <a:ext cx="548640" cy="557784"/>
          </a:xfrm>
          <a:prstGeom prst="roundRect">
            <a:avLst>
              <a:gd name="adj" fmla="val 16667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92024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</a:t>
            </a:r>
            <a:endParaRPr lang="ru-RU" sz="1200" dirty="0"/>
          </a:p>
        </p:txBody>
      </p:sp>
      <p:sp>
        <p:nvSpPr>
          <p:cNvPr id="12" name="Text 10"/>
          <p:cNvSpPr/>
          <p:nvPr/>
        </p:nvSpPr>
        <p:spPr>
          <a:xfrm>
            <a:off x="1563624" y="1810512"/>
            <a:ext cx="4846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4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млн USD</a:t>
            </a:r>
            <a:endParaRPr lang="ru-RU" sz="1240" dirty="0"/>
          </a:p>
        </p:txBody>
      </p:sp>
      <p:sp>
        <p:nvSpPr>
          <p:cNvPr id="13" name="Text 11"/>
          <p:cNvSpPr/>
          <p:nvPr/>
        </p:nvSpPr>
        <p:spPr>
          <a:xfrm>
            <a:off x="1572768" y="2093976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Объём рассматриваемого финансирования</a:t>
            </a:r>
            <a:endParaRPr lang="ru-RU" sz="1050" dirty="0"/>
          </a:p>
        </p:txBody>
      </p:sp>
      <p:sp>
        <p:nvSpPr>
          <p:cNvPr id="14" name="Shape 12"/>
          <p:cNvSpPr/>
          <p:nvPr/>
        </p:nvSpPr>
        <p:spPr>
          <a:xfrm>
            <a:off x="841248" y="2916936"/>
            <a:ext cx="548640" cy="557784"/>
          </a:xfrm>
          <a:prstGeom prst="roundRect">
            <a:avLst>
              <a:gd name="adj" fmla="val 16667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0540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ru-RU" sz="1200" dirty="0"/>
          </a:p>
        </p:txBody>
      </p:sp>
      <p:sp>
        <p:nvSpPr>
          <p:cNvPr id="16" name="Text 14"/>
          <p:cNvSpPr/>
          <p:nvPr/>
        </p:nvSpPr>
        <p:spPr>
          <a:xfrm>
            <a:off x="1563624" y="2944368"/>
            <a:ext cx="4846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4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одного года</a:t>
            </a:r>
            <a:endParaRPr lang="ru-RU" sz="1240" dirty="0"/>
          </a:p>
        </p:txBody>
      </p:sp>
      <p:sp>
        <p:nvSpPr>
          <p:cNvPr id="17" name="Text 15"/>
          <p:cNvSpPr/>
          <p:nvPr/>
        </p:nvSpPr>
        <p:spPr>
          <a:xfrm>
            <a:off x="1572768" y="3227832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Предполагаемый срок сделки</a:t>
            </a:r>
            <a:endParaRPr lang="ru-RU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4050792"/>
            <a:ext cx="548640" cy="557784"/>
          </a:xfrm>
          <a:prstGeom prst="roundRect">
            <a:avLst>
              <a:gd name="adj" fmla="val 16667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418795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ru-RU" sz="1200" dirty="0"/>
          </a:p>
        </p:txBody>
      </p:sp>
      <p:sp>
        <p:nvSpPr>
          <p:cNvPr id="20" name="Text 18"/>
          <p:cNvSpPr/>
          <p:nvPr/>
        </p:nvSpPr>
        <p:spPr>
          <a:xfrm>
            <a:off x="1563624" y="4078224"/>
            <a:ext cx="4846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4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Сохранение финансирования</a:t>
            </a:r>
            <a:endParaRPr lang="ru-RU" sz="1240" dirty="0"/>
          </a:p>
        </p:txBody>
      </p:sp>
      <p:sp>
        <p:nvSpPr>
          <p:cNvPr id="21" name="Text 19"/>
          <p:cNvSpPr/>
          <p:nvPr/>
        </p:nvSpPr>
        <p:spPr>
          <a:xfrm>
            <a:off x="1572768" y="4361688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Продление / изменение порядка выдачи</a:t>
            </a:r>
            <a:endParaRPr lang="ru-RU" sz="1050" dirty="0"/>
          </a:p>
        </p:txBody>
      </p:sp>
      <p:sp>
        <p:nvSpPr>
          <p:cNvPr id="22" name="Shape 20"/>
          <p:cNvSpPr/>
          <p:nvPr/>
        </p:nvSpPr>
        <p:spPr>
          <a:xfrm>
            <a:off x="6638544" y="1572768"/>
            <a:ext cx="4809744" cy="4251960"/>
          </a:xfrm>
          <a:prstGeom prst="roundRect">
            <a:avLst>
              <a:gd name="adj" fmla="val 2581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18196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Краткое резюме сделки</a:t>
            </a:r>
            <a:endParaRPr lang="ru-RU" sz="1250" dirty="0"/>
          </a:p>
        </p:txBody>
      </p:sp>
      <p:sp>
        <p:nvSpPr>
          <p:cNvPr id="24" name="Shape 22"/>
          <p:cNvSpPr/>
          <p:nvPr/>
        </p:nvSpPr>
        <p:spPr>
          <a:xfrm>
            <a:off x="6894576" y="2221992"/>
            <a:ext cx="1903049" cy="484632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81444" y="2263140"/>
            <a:ext cx="172931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3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Параметр</a:t>
            </a:r>
            <a:endParaRPr lang="ru-RU" sz="1030" dirty="0"/>
          </a:p>
        </p:txBody>
      </p:sp>
      <p:sp>
        <p:nvSpPr>
          <p:cNvPr id="26" name="Shape 24"/>
          <p:cNvSpPr/>
          <p:nvPr/>
        </p:nvSpPr>
        <p:spPr>
          <a:xfrm>
            <a:off x="8797625" y="2221992"/>
            <a:ext cx="2422063" cy="484632"/>
          </a:xfrm>
          <a:prstGeom prst="rect">
            <a:avLst/>
          </a:prstGeom>
          <a:solidFill>
            <a:srgbClr val="EAF3FC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84493" y="2263140"/>
            <a:ext cx="22483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3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Содержание</a:t>
            </a:r>
            <a:endParaRPr lang="ru-RU" sz="1030" dirty="0"/>
          </a:p>
        </p:txBody>
      </p:sp>
      <p:sp>
        <p:nvSpPr>
          <p:cNvPr id="28" name="Shape 26"/>
          <p:cNvSpPr/>
          <p:nvPr/>
        </p:nvSpPr>
        <p:spPr>
          <a:xfrm>
            <a:off x="6894576" y="2706624"/>
            <a:ext cx="1903049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81444" y="2747772"/>
            <a:ext cx="17293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4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Сумма</a:t>
            </a:r>
            <a:endParaRPr lang="ru-RU" sz="1040" dirty="0"/>
          </a:p>
        </p:txBody>
      </p:sp>
      <p:sp>
        <p:nvSpPr>
          <p:cNvPr id="30" name="Shape 28"/>
          <p:cNvSpPr/>
          <p:nvPr/>
        </p:nvSpPr>
        <p:spPr>
          <a:xfrm>
            <a:off x="8797625" y="2706624"/>
            <a:ext cx="2422063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84493" y="2747772"/>
            <a:ext cx="224832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4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млн USD</a:t>
            </a:r>
            <a:endParaRPr lang="ru-RU" sz="1040" dirty="0"/>
          </a:p>
        </p:txBody>
      </p:sp>
      <p:sp>
        <p:nvSpPr>
          <p:cNvPr id="32" name="Shape 30"/>
          <p:cNvSpPr/>
          <p:nvPr/>
        </p:nvSpPr>
        <p:spPr>
          <a:xfrm>
            <a:off x="6894576" y="3236976"/>
            <a:ext cx="1903049" cy="566928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1444" y="3278124"/>
            <a:ext cx="172931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4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Срок</a:t>
            </a:r>
            <a:endParaRPr lang="ru-RU" sz="1040" dirty="0"/>
          </a:p>
        </p:txBody>
      </p:sp>
      <p:sp>
        <p:nvSpPr>
          <p:cNvPr id="34" name="Shape 32"/>
          <p:cNvSpPr/>
          <p:nvPr/>
        </p:nvSpPr>
        <p:spPr>
          <a:xfrm>
            <a:off x="8797625" y="3236976"/>
            <a:ext cx="2422063" cy="566928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84493" y="3278124"/>
            <a:ext cx="224832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4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1 года</a:t>
            </a:r>
            <a:endParaRPr lang="ru-RU" sz="1040" dirty="0"/>
          </a:p>
        </p:txBody>
      </p:sp>
      <p:sp>
        <p:nvSpPr>
          <p:cNvPr id="36" name="Shape 34"/>
          <p:cNvSpPr/>
          <p:nvPr/>
        </p:nvSpPr>
        <p:spPr>
          <a:xfrm>
            <a:off x="6894576" y="3803904"/>
            <a:ext cx="1903049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1444" y="3845052"/>
            <a:ext cx="172931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4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Предмет</a:t>
            </a:r>
            <a:endParaRPr lang="ru-RU" sz="1040" dirty="0"/>
          </a:p>
        </p:txBody>
      </p:sp>
      <p:sp>
        <p:nvSpPr>
          <p:cNvPr id="38" name="Shape 36"/>
          <p:cNvSpPr/>
          <p:nvPr/>
        </p:nvSpPr>
        <p:spPr>
          <a:xfrm>
            <a:off x="8797625" y="3803904"/>
            <a:ext cx="2422063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84493" y="3845052"/>
            <a:ext cx="22483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4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Продление / сохранение</a:t>
            </a:r>
            <a:endParaRPr lang="ru-RU" sz="1040" dirty="0"/>
          </a:p>
        </p:txBody>
      </p:sp>
      <p:sp>
        <p:nvSpPr>
          <p:cNvPr id="40" name="Shape 38"/>
          <p:cNvSpPr/>
          <p:nvPr/>
        </p:nvSpPr>
        <p:spPr>
          <a:xfrm>
            <a:off x="6894576" y="4416552"/>
            <a:ext cx="1903049" cy="667512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81444" y="4457700"/>
            <a:ext cx="172931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4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Обеспечение</a:t>
            </a:r>
            <a:endParaRPr lang="ru-RU" sz="1040" dirty="0"/>
          </a:p>
        </p:txBody>
      </p:sp>
      <p:sp>
        <p:nvSpPr>
          <p:cNvPr id="42" name="Shape 40"/>
          <p:cNvSpPr/>
          <p:nvPr/>
        </p:nvSpPr>
        <p:spPr>
          <a:xfrm>
            <a:off x="8797625" y="4416552"/>
            <a:ext cx="2422063" cy="667512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84493" y="4457700"/>
            <a:ext cx="224832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4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Уточнить</a:t>
            </a:r>
            <a:endParaRPr lang="ru-RU" sz="1040" dirty="0"/>
          </a:p>
        </p:txBody>
      </p:sp>
      <p:sp>
        <p:nvSpPr>
          <p:cNvPr id="44" name="Shape 42"/>
          <p:cNvSpPr/>
          <p:nvPr/>
        </p:nvSpPr>
        <p:spPr>
          <a:xfrm>
            <a:off x="6894576" y="5084064"/>
            <a:ext cx="1903049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81444" y="5125212"/>
            <a:ext cx="172931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4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Условия</a:t>
            </a:r>
            <a:endParaRPr lang="ru-RU" sz="1040" dirty="0"/>
          </a:p>
        </p:txBody>
      </p:sp>
      <p:sp>
        <p:nvSpPr>
          <p:cNvPr id="46" name="Shape 44"/>
          <p:cNvSpPr/>
          <p:nvPr/>
        </p:nvSpPr>
        <p:spPr>
          <a:xfrm>
            <a:off x="8797625" y="5084064"/>
            <a:ext cx="2422063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84493" y="5125212"/>
            <a:ext cx="224832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4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проекту решения</a:t>
            </a:r>
            <a:endParaRPr lang="ru-RU" sz="1040" dirty="0"/>
          </a:p>
        </p:txBody>
      </p:sp>
      <p:sp>
        <p:nvSpPr>
          <p:cNvPr id="48" name="Shape 46"/>
          <p:cNvSpPr/>
          <p:nvPr/>
        </p:nvSpPr>
        <p:spPr>
          <a:xfrm>
            <a:off x="850392" y="5330952"/>
            <a:ext cx="5449824" cy="758952"/>
          </a:xfrm>
          <a:prstGeom prst="roundRect">
            <a:avLst>
              <a:gd name="adj" fmla="val 14458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0392" y="5330952"/>
            <a:ext cx="64008" cy="758952"/>
          </a:xfrm>
          <a:prstGeom prst="rect">
            <a:avLst/>
          </a:prstGeom>
          <a:solidFill>
            <a:srgbClr val="2469AA"/>
          </a:solidFill>
          <a:ln w="12700">
            <a:solidFill>
              <a:srgbClr val="2469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2416" y="5431536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Цель рассмотрения</a:t>
            </a:r>
            <a:endParaRPr lang="ru-RU" sz="1200" dirty="0"/>
          </a:p>
        </p:txBody>
      </p:sp>
      <p:sp>
        <p:nvSpPr>
          <p:cNvPr id="51" name="Text 49"/>
          <p:cNvSpPr/>
          <p:nvPr/>
        </p:nvSpPr>
        <p:spPr>
          <a:xfrm>
            <a:off x="1042416" y="5705856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Обосновать целесообразность сохранения кредита по сравнению с планируемым погашением и размещением средств на корсчетах.</a:t>
            </a:r>
            <a:endParaRPr lang="ru-RU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142857"/>
            </a:avLst>
          </a:prstGeom>
          <a:solidFill>
            <a:srgbClr val="0D2A4F"/>
          </a:solidFill>
          <a:ln w="12700">
            <a:solidFill>
              <a:srgbClr val="0D2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65176"/>
            <a:ext cx="640080" cy="667512"/>
          </a:xfrm>
          <a:prstGeom prst="roundRect">
            <a:avLst>
              <a:gd name="adj" fmla="val 8571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429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03/05</a:t>
            </a:r>
            <a:endParaRPr lang="ru-RU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246888"/>
            <a:ext cx="10405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3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экономических сценариев</a:t>
            </a:r>
            <a:endParaRPr lang="ru-RU" sz="2300" dirty="0"/>
          </a:p>
        </p:txBody>
      </p:sp>
      <p:sp>
        <p:nvSpPr>
          <p:cNvPr id="6" name="Text 4"/>
          <p:cNvSpPr/>
          <p:nvPr/>
        </p:nvSpPr>
        <p:spPr>
          <a:xfrm>
            <a:off x="1252728" y="74066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Оценка альтернатив с учётом временного разрыва и ожидаемого дохода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1311128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8056" y="6556248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ВАРИАНТ В  |  ДЕМОНСТРАЦИОННЫЙ МАКЕТ: цифры, ставки и выводы подлежат подтверждению</a:t>
            </a:r>
            <a:endParaRPr lang="ru-RU" sz="800" dirty="0"/>
          </a:p>
        </p:txBody>
      </p:sp>
      <p:sp>
        <p:nvSpPr>
          <p:cNvPr id="9" name="Text 7"/>
          <p:cNvSpPr/>
          <p:nvPr/>
        </p:nvSpPr>
        <p:spPr>
          <a:xfrm>
            <a:off x="11027664" y="65471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7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3/5</a:t>
            </a:r>
            <a:endParaRPr lang="ru-RU" sz="870" dirty="0"/>
          </a:p>
        </p:txBody>
      </p:sp>
      <p:sp>
        <p:nvSpPr>
          <p:cNvPr id="10" name="Shape 8"/>
          <p:cNvSpPr/>
          <p:nvPr/>
        </p:nvSpPr>
        <p:spPr>
          <a:xfrm>
            <a:off x="621792" y="1591056"/>
            <a:ext cx="2738628" cy="649224"/>
          </a:xfrm>
          <a:prstGeom prst="rect">
            <a:avLst/>
          </a:prstGeom>
          <a:solidFill>
            <a:srgbClr val="133B65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" y="1632204"/>
            <a:ext cx="2564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Показатель</a:t>
            </a:r>
            <a:endParaRPr lang="ru-RU" sz="1070" dirty="0"/>
          </a:p>
        </p:txBody>
      </p:sp>
      <p:sp>
        <p:nvSpPr>
          <p:cNvPr id="12" name="Shape 10"/>
          <p:cNvSpPr/>
          <p:nvPr/>
        </p:nvSpPr>
        <p:spPr>
          <a:xfrm>
            <a:off x="3360420" y="1591056"/>
            <a:ext cx="2738628" cy="649224"/>
          </a:xfrm>
          <a:prstGeom prst="rect">
            <a:avLst/>
          </a:prstGeom>
          <a:solidFill>
            <a:srgbClr val="133B65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632204"/>
            <a:ext cx="2564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Продление</a:t>
            </a:r>
            <a:endParaRPr lang="ru-RU" sz="1070" dirty="0"/>
          </a:p>
        </p:txBody>
      </p:sp>
      <p:sp>
        <p:nvSpPr>
          <p:cNvPr id="14" name="Shape 12"/>
          <p:cNvSpPr/>
          <p:nvPr/>
        </p:nvSpPr>
        <p:spPr>
          <a:xfrm>
            <a:off x="6099048" y="1591056"/>
            <a:ext cx="2738628" cy="649224"/>
          </a:xfrm>
          <a:prstGeom prst="rect">
            <a:avLst/>
          </a:prstGeom>
          <a:solidFill>
            <a:srgbClr val="133B65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5916" y="1632204"/>
            <a:ext cx="2564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Погашение + новая выдача</a:t>
            </a:r>
            <a:endParaRPr lang="ru-RU" sz="1070" dirty="0"/>
          </a:p>
        </p:txBody>
      </p:sp>
      <p:sp>
        <p:nvSpPr>
          <p:cNvPr id="16" name="Shape 14"/>
          <p:cNvSpPr/>
          <p:nvPr/>
        </p:nvSpPr>
        <p:spPr>
          <a:xfrm>
            <a:off x="8837676" y="1591056"/>
            <a:ext cx="2738628" cy="649224"/>
          </a:xfrm>
          <a:prstGeom prst="rect">
            <a:avLst/>
          </a:prstGeom>
          <a:solidFill>
            <a:srgbClr val="133B65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24544" y="1632204"/>
            <a:ext cx="2564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Погашение и корсчета</a:t>
            </a:r>
            <a:endParaRPr lang="ru-RU" sz="1070" dirty="0"/>
          </a:p>
        </p:txBody>
      </p:sp>
      <p:sp>
        <p:nvSpPr>
          <p:cNvPr id="18" name="Shape 16"/>
          <p:cNvSpPr/>
          <p:nvPr/>
        </p:nvSpPr>
        <p:spPr>
          <a:xfrm>
            <a:off x="621792" y="2240280"/>
            <a:ext cx="2738628" cy="722376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" y="2281428"/>
            <a:ext cx="25648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Объём финансирования</a:t>
            </a:r>
            <a:endParaRPr lang="ru-RU" sz="1080" dirty="0"/>
          </a:p>
        </p:txBody>
      </p:sp>
      <p:sp>
        <p:nvSpPr>
          <p:cNvPr id="20" name="Shape 18"/>
          <p:cNvSpPr/>
          <p:nvPr/>
        </p:nvSpPr>
        <p:spPr>
          <a:xfrm>
            <a:off x="3360420" y="2240280"/>
            <a:ext cx="2738628" cy="722376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2281428"/>
            <a:ext cx="25648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млн USD</a:t>
            </a:r>
            <a:endParaRPr lang="ru-RU" sz="1080" dirty="0"/>
          </a:p>
        </p:txBody>
      </p:sp>
      <p:sp>
        <p:nvSpPr>
          <p:cNvPr id="22" name="Shape 20"/>
          <p:cNvSpPr/>
          <p:nvPr/>
        </p:nvSpPr>
        <p:spPr>
          <a:xfrm>
            <a:off x="6099048" y="2240280"/>
            <a:ext cx="2738628" cy="722376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5916" y="2281428"/>
            <a:ext cx="25648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млн USD</a:t>
            </a:r>
            <a:endParaRPr lang="ru-RU" sz="1080" dirty="0"/>
          </a:p>
        </p:txBody>
      </p:sp>
      <p:sp>
        <p:nvSpPr>
          <p:cNvPr id="24" name="Shape 22"/>
          <p:cNvSpPr/>
          <p:nvPr/>
        </p:nvSpPr>
        <p:spPr>
          <a:xfrm>
            <a:off x="8837676" y="2240280"/>
            <a:ext cx="2738628" cy="722376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24544" y="2281428"/>
            <a:ext cx="25648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млн USD</a:t>
            </a:r>
            <a:endParaRPr lang="ru-RU" sz="1080" dirty="0"/>
          </a:p>
        </p:txBody>
      </p:sp>
      <p:sp>
        <p:nvSpPr>
          <p:cNvPr id="26" name="Shape 24"/>
          <p:cNvSpPr/>
          <p:nvPr/>
        </p:nvSpPr>
        <p:spPr>
          <a:xfrm>
            <a:off x="621792" y="2962656"/>
            <a:ext cx="2738628" cy="694944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" y="3003804"/>
            <a:ext cx="25648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Срок доходного размещения</a:t>
            </a:r>
            <a:endParaRPr lang="ru-RU" sz="1080" dirty="0"/>
          </a:p>
        </p:txBody>
      </p:sp>
      <p:sp>
        <p:nvSpPr>
          <p:cNvPr id="28" name="Shape 26"/>
          <p:cNvSpPr/>
          <p:nvPr/>
        </p:nvSpPr>
        <p:spPr>
          <a:xfrm>
            <a:off x="3360420" y="2962656"/>
            <a:ext cx="2738628" cy="694944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003804"/>
            <a:ext cx="25648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месяцев</a:t>
            </a:r>
            <a:endParaRPr lang="ru-RU" sz="1080" dirty="0"/>
          </a:p>
        </p:txBody>
      </p:sp>
      <p:sp>
        <p:nvSpPr>
          <p:cNvPr id="30" name="Shape 28"/>
          <p:cNvSpPr/>
          <p:nvPr/>
        </p:nvSpPr>
        <p:spPr>
          <a:xfrm>
            <a:off x="6099048" y="2962656"/>
            <a:ext cx="2738628" cy="694944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5916" y="3003804"/>
            <a:ext cx="25648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месяцев (пример)</a:t>
            </a:r>
            <a:endParaRPr lang="ru-RU" sz="1080" dirty="0"/>
          </a:p>
        </p:txBody>
      </p:sp>
      <p:sp>
        <p:nvSpPr>
          <p:cNvPr id="32" name="Shape 30"/>
          <p:cNvSpPr/>
          <p:nvPr/>
        </p:nvSpPr>
        <p:spPr>
          <a:xfrm>
            <a:off x="8837676" y="2962656"/>
            <a:ext cx="2738628" cy="694944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24544" y="3003804"/>
            <a:ext cx="25648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месяцев</a:t>
            </a:r>
            <a:endParaRPr lang="ru-RU" sz="1080" dirty="0"/>
          </a:p>
        </p:txBody>
      </p:sp>
      <p:sp>
        <p:nvSpPr>
          <p:cNvPr id="34" name="Shape 32"/>
          <p:cNvSpPr/>
          <p:nvPr/>
        </p:nvSpPr>
        <p:spPr>
          <a:xfrm>
            <a:off x="621792" y="3657600"/>
            <a:ext cx="2738628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" y="3698748"/>
            <a:ext cx="25648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Иллюстративная ставка</a:t>
            </a:r>
            <a:endParaRPr lang="ru-RU" sz="1080" dirty="0"/>
          </a:p>
        </p:txBody>
      </p:sp>
      <p:sp>
        <p:nvSpPr>
          <p:cNvPr id="36" name="Shape 34"/>
          <p:cNvSpPr/>
          <p:nvPr/>
        </p:nvSpPr>
        <p:spPr>
          <a:xfrm>
            <a:off x="3360420" y="3657600"/>
            <a:ext cx="2738628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47288" y="3698748"/>
            <a:ext cx="25648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6,0%</a:t>
            </a:r>
            <a:endParaRPr lang="ru-RU" sz="1080" dirty="0"/>
          </a:p>
        </p:txBody>
      </p:sp>
      <p:sp>
        <p:nvSpPr>
          <p:cNvPr id="38" name="Shape 36"/>
          <p:cNvSpPr/>
          <p:nvPr/>
        </p:nvSpPr>
        <p:spPr>
          <a:xfrm>
            <a:off x="6099048" y="3657600"/>
            <a:ext cx="2738628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5916" y="3698748"/>
            <a:ext cx="25648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6,0%</a:t>
            </a:r>
            <a:endParaRPr lang="ru-RU" sz="1080" dirty="0"/>
          </a:p>
        </p:txBody>
      </p:sp>
      <p:sp>
        <p:nvSpPr>
          <p:cNvPr id="40" name="Shape 38"/>
          <p:cNvSpPr/>
          <p:nvPr/>
        </p:nvSpPr>
        <p:spPr>
          <a:xfrm>
            <a:off x="8837676" y="3657600"/>
            <a:ext cx="2738628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24544" y="3698748"/>
            <a:ext cx="25648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ru-RU" sz="1080" dirty="0"/>
          </a:p>
        </p:txBody>
      </p:sp>
      <p:sp>
        <p:nvSpPr>
          <p:cNvPr id="42" name="Shape 40"/>
          <p:cNvSpPr/>
          <p:nvPr/>
        </p:nvSpPr>
        <p:spPr>
          <a:xfrm>
            <a:off x="621792" y="4352544"/>
            <a:ext cx="2738628" cy="713232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" y="4393692"/>
            <a:ext cx="25648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Валовой процентный доход</a:t>
            </a:r>
            <a:endParaRPr lang="ru-RU" sz="1080" dirty="0"/>
          </a:p>
        </p:txBody>
      </p:sp>
      <p:sp>
        <p:nvSpPr>
          <p:cNvPr id="44" name="Shape 42"/>
          <p:cNvSpPr/>
          <p:nvPr/>
        </p:nvSpPr>
        <p:spPr>
          <a:xfrm>
            <a:off x="3360420" y="4352544"/>
            <a:ext cx="2738628" cy="713232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47288" y="4393692"/>
            <a:ext cx="25648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1,80 млн USD</a:t>
            </a:r>
            <a:endParaRPr lang="ru-RU" sz="1080" dirty="0"/>
          </a:p>
        </p:txBody>
      </p:sp>
      <p:sp>
        <p:nvSpPr>
          <p:cNvPr id="46" name="Shape 44"/>
          <p:cNvSpPr/>
          <p:nvPr/>
        </p:nvSpPr>
        <p:spPr>
          <a:xfrm>
            <a:off x="6099048" y="4352544"/>
            <a:ext cx="2738628" cy="713232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85916" y="4393692"/>
            <a:ext cx="25648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1,35 млн USD</a:t>
            </a:r>
            <a:endParaRPr lang="ru-RU" sz="1080" dirty="0"/>
          </a:p>
        </p:txBody>
      </p:sp>
      <p:sp>
        <p:nvSpPr>
          <p:cNvPr id="48" name="Shape 46"/>
          <p:cNvSpPr/>
          <p:nvPr/>
        </p:nvSpPr>
        <p:spPr>
          <a:xfrm>
            <a:off x="8837676" y="4352544"/>
            <a:ext cx="2738628" cy="713232"/>
          </a:xfrm>
          <a:prstGeom prst="rect">
            <a:avLst/>
          </a:prstGeom>
          <a:solidFill>
            <a:srgbClr val="F3F7FB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4544" y="4393692"/>
            <a:ext cx="25648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USD</a:t>
            </a:r>
            <a:endParaRPr lang="ru-RU" sz="1080" dirty="0"/>
          </a:p>
        </p:txBody>
      </p:sp>
      <p:sp>
        <p:nvSpPr>
          <p:cNvPr id="50" name="Shape 48"/>
          <p:cNvSpPr/>
          <p:nvPr/>
        </p:nvSpPr>
        <p:spPr>
          <a:xfrm>
            <a:off x="621792" y="5065776"/>
            <a:ext cx="273862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8660" y="5106924"/>
            <a:ext cx="25648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Кредитный риск</a:t>
            </a:r>
            <a:endParaRPr lang="ru-RU" sz="1080" dirty="0"/>
          </a:p>
        </p:txBody>
      </p:sp>
      <p:sp>
        <p:nvSpPr>
          <p:cNvPr id="52" name="Shape 50"/>
          <p:cNvSpPr/>
          <p:nvPr/>
        </p:nvSpPr>
        <p:spPr>
          <a:xfrm>
            <a:off x="3360420" y="5065776"/>
            <a:ext cx="273862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47288" y="5106924"/>
            <a:ext cx="25648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Сохраняется</a:t>
            </a:r>
            <a:endParaRPr lang="ru-RU" sz="1080" dirty="0"/>
          </a:p>
        </p:txBody>
      </p:sp>
      <p:sp>
        <p:nvSpPr>
          <p:cNvPr id="54" name="Shape 52"/>
          <p:cNvSpPr/>
          <p:nvPr/>
        </p:nvSpPr>
        <p:spPr>
          <a:xfrm>
            <a:off x="6099048" y="5065776"/>
            <a:ext cx="273862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85916" y="5106924"/>
            <a:ext cx="25648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Возобновляется при выдаче</a:t>
            </a:r>
            <a:endParaRPr lang="ru-RU" sz="1080" dirty="0"/>
          </a:p>
        </p:txBody>
      </p:sp>
      <p:sp>
        <p:nvSpPr>
          <p:cNvPr id="56" name="Shape 54"/>
          <p:cNvSpPr/>
          <p:nvPr/>
        </p:nvSpPr>
        <p:spPr>
          <a:xfrm>
            <a:off x="8837676" y="5065776"/>
            <a:ext cx="273862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4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4544" y="5106924"/>
            <a:ext cx="25648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 банка-корреспондента</a:t>
            </a:r>
            <a:endParaRPr lang="ru-RU" sz="1080" dirty="0"/>
          </a:p>
        </p:txBody>
      </p:sp>
      <p:sp>
        <p:nvSpPr>
          <p:cNvPr id="58" name="Shape 56"/>
          <p:cNvSpPr/>
          <p:nvPr/>
        </p:nvSpPr>
        <p:spPr>
          <a:xfrm>
            <a:off x="640080" y="5669280"/>
            <a:ext cx="10927080" cy="768096"/>
          </a:xfrm>
          <a:prstGeom prst="roundRect">
            <a:avLst>
              <a:gd name="adj" fmla="val 14286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0080" y="5669280"/>
            <a:ext cx="64008" cy="768096"/>
          </a:xfrm>
          <a:prstGeom prst="rect">
            <a:avLst/>
          </a:prstGeom>
          <a:solidFill>
            <a:srgbClr val="2469AA"/>
          </a:solidFill>
          <a:ln w="12700">
            <a:solidFill>
              <a:srgbClr val="2469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2104" y="5769864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Иллюстративный результат</a:t>
            </a:r>
            <a:endParaRPr lang="ru-RU" sz="1200" dirty="0"/>
          </a:p>
        </p:txBody>
      </p:sp>
      <p:sp>
        <p:nvSpPr>
          <p:cNvPr id="61" name="Text 59"/>
          <p:cNvSpPr/>
          <p:nvPr/>
        </p:nvSpPr>
        <p:spPr>
          <a:xfrm>
            <a:off x="832104" y="6044184"/>
            <a:ext cx="10533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 условной ставке 6% и трёхмесячном разрыве в финансировании продление даёт на 0,45 млн USD больше валового процентного дохода, чем повторная выдача. Результат не учитывает резервы и стоимость фондирования.</a:t>
            </a:r>
            <a:endParaRPr lang="ru-RU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142857"/>
            </a:avLst>
          </a:prstGeom>
          <a:solidFill>
            <a:srgbClr val="0D2A4F"/>
          </a:solidFill>
          <a:ln w="12700">
            <a:solidFill>
              <a:srgbClr val="0D2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65176"/>
            <a:ext cx="640080" cy="667512"/>
          </a:xfrm>
          <a:prstGeom prst="roundRect">
            <a:avLst>
              <a:gd name="adj" fmla="val 8571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429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04/05</a:t>
            </a:r>
            <a:endParaRPr lang="ru-RU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246888"/>
            <a:ext cx="10405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3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Резервирование и ключевые риски</a:t>
            </a:r>
            <a:endParaRPr lang="ru-RU" sz="2300" dirty="0"/>
          </a:p>
        </p:txBody>
      </p:sp>
      <p:sp>
        <p:nvSpPr>
          <p:cNvPr id="6" name="Text 4"/>
          <p:cNvSpPr/>
          <p:nvPr/>
        </p:nvSpPr>
        <p:spPr>
          <a:xfrm>
            <a:off x="1252728" y="74066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Параметры, которые должны быть объяснены до утверждения сделки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1311128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8056" y="6556248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ВАРИАНТ В  |  ДЕМОНСТРАЦИОННЫЙ МАКЕТ: цифры, ставки и выводы подлежат подтверждению</a:t>
            </a:r>
            <a:endParaRPr lang="ru-RU" sz="800" dirty="0"/>
          </a:p>
        </p:txBody>
      </p:sp>
      <p:sp>
        <p:nvSpPr>
          <p:cNvPr id="9" name="Text 7"/>
          <p:cNvSpPr/>
          <p:nvPr/>
        </p:nvSpPr>
        <p:spPr>
          <a:xfrm>
            <a:off x="11027664" y="65471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7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4/5</a:t>
            </a:r>
            <a:endParaRPr lang="ru-RU" sz="870" dirty="0"/>
          </a:p>
        </p:txBody>
      </p:sp>
      <p:sp>
        <p:nvSpPr>
          <p:cNvPr id="10" name="Text 8"/>
          <p:cNvSpPr/>
          <p:nvPr/>
        </p:nvSpPr>
        <p:spPr>
          <a:xfrm>
            <a:off x="667512" y="1481328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Уровни резервирования из записи</a:t>
            </a:r>
            <a:endParaRPr lang="ru-RU" sz="1250" dirty="0"/>
          </a:p>
        </p:txBody>
      </p:sp>
      <p:sp>
        <p:nvSpPr>
          <p:cNvPr id="11" name="Shape 9"/>
          <p:cNvSpPr/>
          <p:nvPr/>
        </p:nvSpPr>
        <p:spPr>
          <a:xfrm>
            <a:off x="667512" y="1965960"/>
            <a:ext cx="2615184" cy="2112264"/>
          </a:xfrm>
          <a:prstGeom prst="roundRect">
            <a:avLst>
              <a:gd name="adj" fmla="val 4329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75688"/>
            <a:ext cx="2267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Показатель 1</a:t>
            </a:r>
            <a:endParaRPr lang="ru-RU" sz="1050" dirty="0"/>
          </a:p>
        </p:txBody>
      </p:sp>
      <p:sp>
        <p:nvSpPr>
          <p:cNvPr id="13" name="Text 11"/>
          <p:cNvSpPr/>
          <p:nvPr/>
        </p:nvSpPr>
        <p:spPr>
          <a:xfrm>
            <a:off x="832104" y="2276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ru-RU" sz="2200" dirty="0"/>
          </a:p>
        </p:txBody>
      </p:sp>
      <p:sp>
        <p:nvSpPr>
          <p:cNvPr id="14" name="Text 12"/>
          <p:cNvSpPr/>
          <p:nvPr/>
        </p:nvSpPr>
        <p:spPr>
          <a:xfrm>
            <a:off x="832104" y="261518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4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Наименование уточнить</a:t>
            </a:r>
            <a:endParaRPr lang="ru-RU" sz="840" dirty="0"/>
          </a:p>
        </p:txBody>
      </p:sp>
      <p:sp>
        <p:nvSpPr>
          <p:cNvPr id="15" name="Shape 13"/>
          <p:cNvSpPr/>
          <p:nvPr/>
        </p:nvSpPr>
        <p:spPr>
          <a:xfrm>
            <a:off x="3483864" y="1965960"/>
            <a:ext cx="2624328" cy="2112264"/>
          </a:xfrm>
          <a:prstGeom prst="roundRect">
            <a:avLst>
              <a:gd name="adj" fmla="val 4329"/>
            </a:avLst>
          </a:prstGeom>
          <a:solidFill>
            <a:srgbClr val="FEF3E3"/>
          </a:solidFill>
          <a:ln w="12700">
            <a:solidFill>
              <a:srgbClr val="FEF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75688"/>
            <a:ext cx="2276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Показатель 2</a:t>
            </a:r>
            <a:endParaRPr lang="ru-RU" sz="1050" dirty="0"/>
          </a:p>
        </p:txBody>
      </p:sp>
      <p:sp>
        <p:nvSpPr>
          <p:cNvPr id="17" name="Text 15"/>
          <p:cNvSpPr/>
          <p:nvPr/>
        </p:nvSpPr>
        <p:spPr>
          <a:xfrm>
            <a:off x="3648456" y="227685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b="1" dirty="0">
                <a:solidFill>
                  <a:srgbClr val="BA7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</a:t>
            </a:r>
            <a:endParaRPr lang="ru-RU" sz="2200" dirty="0"/>
          </a:p>
        </p:txBody>
      </p:sp>
      <p:sp>
        <p:nvSpPr>
          <p:cNvPr id="18" name="Text 16"/>
          <p:cNvSpPr/>
          <p:nvPr/>
        </p:nvSpPr>
        <p:spPr>
          <a:xfrm>
            <a:off x="3648456" y="2615184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4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Наименование уточнить</a:t>
            </a:r>
            <a:endParaRPr lang="ru-RU" sz="840" dirty="0"/>
          </a:p>
        </p:txBody>
      </p:sp>
      <p:sp>
        <p:nvSpPr>
          <p:cNvPr id="19" name="Shape 17"/>
          <p:cNvSpPr/>
          <p:nvPr/>
        </p:nvSpPr>
        <p:spPr>
          <a:xfrm>
            <a:off x="905256" y="3355848"/>
            <a:ext cx="2057400" cy="137160"/>
          </a:xfrm>
          <a:prstGeom prst="roundRect">
            <a:avLst>
              <a:gd name="adj" fmla="val 20000"/>
            </a:avLst>
          </a:prstGeom>
          <a:solidFill>
            <a:srgbClr val="D9E4E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" y="3355848"/>
            <a:ext cx="411480" cy="137160"/>
          </a:xfrm>
          <a:prstGeom prst="roundRect">
            <a:avLst>
              <a:gd name="adj" fmla="val 20000"/>
            </a:avLst>
          </a:prstGeom>
          <a:solidFill>
            <a:srgbClr val="2469AA"/>
          </a:solidFill>
          <a:ln w="12700">
            <a:solidFill>
              <a:srgbClr val="2469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1608" y="3355848"/>
            <a:ext cx="2057400" cy="137160"/>
          </a:xfrm>
          <a:prstGeom prst="roundRect">
            <a:avLst>
              <a:gd name="adj" fmla="val 20000"/>
            </a:avLst>
          </a:prstGeom>
          <a:solidFill>
            <a:srgbClr val="D9E4E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1608" y="3355848"/>
            <a:ext cx="1892808" cy="137160"/>
          </a:xfrm>
          <a:prstGeom prst="roundRect">
            <a:avLst>
              <a:gd name="adj" fmla="val 20000"/>
            </a:avLst>
          </a:prstGeom>
          <a:solidFill>
            <a:srgbClr val="BA7935"/>
          </a:solidFill>
          <a:ln w="12700">
            <a:solidFill>
              <a:srgbClr val="BA79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1472184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Ключевые риски</a:t>
            </a:r>
            <a:endParaRPr lang="ru-RU" sz="1250" dirty="0"/>
          </a:p>
        </p:txBody>
      </p:sp>
      <p:sp>
        <p:nvSpPr>
          <p:cNvPr id="24" name="Shape 22"/>
          <p:cNvSpPr/>
          <p:nvPr/>
        </p:nvSpPr>
        <p:spPr>
          <a:xfrm>
            <a:off x="6574536" y="1865376"/>
            <a:ext cx="4764024" cy="905256"/>
          </a:xfrm>
          <a:prstGeom prst="roundRect">
            <a:avLst>
              <a:gd name="adj" fmla="val 11111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39128" y="2103120"/>
            <a:ext cx="420624" cy="420624"/>
          </a:xfrm>
          <a:prstGeom prst="ellipse">
            <a:avLst/>
          </a:prstGeom>
          <a:solidFill>
            <a:srgbClr val="EAF3FC"/>
          </a:solidFill>
          <a:ln w="6350">
            <a:solidFill>
              <a:srgbClr val="EAF3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57416" y="2176272"/>
            <a:ext cx="393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4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ru-RU" sz="1400" dirty="0"/>
          </a:p>
        </p:txBody>
      </p:sp>
      <p:sp>
        <p:nvSpPr>
          <p:cNvPr id="27" name="Text 25"/>
          <p:cNvSpPr/>
          <p:nvPr/>
        </p:nvSpPr>
        <p:spPr>
          <a:xfrm>
            <a:off x="7296912" y="2002536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3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Кредитный риск</a:t>
            </a:r>
            <a:endParaRPr lang="ru-RU" sz="1230" dirty="0"/>
          </a:p>
        </p:txBody>
      </p:sp>
      <p:sp>
        <p:nvSpPr>
          <p:cNvPr id="28" name="Text 26"/>
          <p:cNvSpPr/>
          <p:nvPr/>
        </p:nvSpPr>
        <p:spPr>
          <a:xfrm>
            <a:off x="7296912" y="228600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1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Финансовое положение, PD/LGD, обслуживание долга</a:t>
            </a:r>
            <a:endParaRPr lang="ru-RU" sz="1010" dirty="0"/>
          </a:p>
        </p:txBody>
      </p:sp>
      <p:sp>
        <p:nvSpPr>
          <p:cNvPr id="29" name="Shape 27"/>
          <p:cNvSpPr/>
          <p:nvPr/>
        </p:nvSpPr>
        <p:spPr>
          <a:xfrm>
            <a:off x="6574536" y="2926080"/>
            <a:ext cx="4764024" cy="905256"/>
          </a:xfrm>
          <a:prstGeom prst="roundRect">
            <a:avLst>
              <a:gd name="adj" fmla="val 11111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39128" y="3163824"/>
            <a:ext cx="420624" cy="420624"/>
          </a:xfrm>
          <a:prstGeom prst="ellipse">
            <a:avLst/>
          </a:prstGeom>
          <a:solidFill>
            <a:srgbClr val="EAF3FC"/>
          </a:solidFill>
          <a:ln w="6350">
            <a:solidFill>
              <a:srgbClr val="EAF3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7416" y="3236976"/>
            <a:ext cx="393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4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</a:t>
            </a:r>
            <a:endParaRPr lang="ru-RU" sz="1400" dirty="0"/>
          </a:p>
        </p:txBody>
      </p:sp>
      <p:sp>
        <p:nvSpPr>
          <p:cNvPr id="32" name="Text 30"/>
          <p:cNvSpPr/>
          <p:nvPr/>
        </p:nvSpPr>
        <p:spPr>
          <a:xfrm>
            <a:off x="7296912" y="306324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3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 ликвидности</a:t>
            </a:r>
            <a:endParaRPr lang="ru-RU" sz="1230" dirty="0"/>
          </a:p>
        </p:txBody>
      </p:sp>
      <p:sp>
        <p:nvSpPr>
          <p:cNvPr id="33" name="Text 31"/>
          <p:cNvSpPr/>
          <p:nvPr/>
        </p:nvSpPr>
        <p:spPr>
          <a:xfrm>
            <a:off x="7296912" y="3346704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1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Срочность кредита и график денежных потоков</a:t>
            </a:r>
            <a:endParaRPr lang="ru-RU" sz="1010" dirty="0"/>
          </a:p>
        </p:txBody>
      </p:sp>
      <p:sp>
        <p:nvSpPr>
          <p:cNvPr id="34" name="Shape 32"/>
          <p:cNvSpPr/>
          <p:nvPr/>
        </p:nvSpPr>
        <p:spPr>
          <a:xfrm>
            <a:off x="6574536" y="3986784"/>
            <a:ext cx="4764024" cy="905256"/>
          </a:xfrm>
          <a:prstGeom prst="roundRect">
            <a:avLst>
              <a:gd name="adj" fmla="val 11111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39128" y="4224528"/>
            <a:ext cx="420624" cy="420624"/>
          </a:xfrm>
          <a:prstGeom prst="ellipse">
            <a:avLst/>
          </a:prstGeom>
          <a:solidFill>
            <a:srgbClr val="EAF3FC"/>
          </a:solidFill>
          <a:ln w="6350">
            <a:solidFill>
              <a:srgbClr val="EAF3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4297680"/>
            <a:ext cx="393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4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≡</a:t>
            </a:r>
            <a:endParaRPr lang="ru-RU" sz="1400" dirty="0"/>
          </a:p>
        </p:txBody>
      </p:sp>
      <p:sp>
        <p:nvSpPr>
          <p:cNvPr id="37" name="Text 35"/>
          <p:cNvSpPr/>
          <p:nvPr/>
        </p:nvSpPr>
        <p:spPr>
          <a:xfrm>
            <a:off x="7296912" y="4123944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3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Контрагентский риск</a:t>
            </a:r>
            <a:endParaRPr lang="ru-RU" sz="1230" dirty="0"/>
          </a:p>
        </p:txBody>
      </p:sp>
      <p:sp>
        <p:nvSpPr>
          <p:cNvPr id="38" name="Text 36"/>
          <p:cNvSpPr/>
          <p:nvPr/>
        </p:nvSpPr>
        <p:spPr>
          <a:xfrm>
            <a:off x="7296912" y="4407408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1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Лимиты и доступность альтернативного размещения</a:t>
            </a:r>
            <a:endParaRPr lang="ru-RU" sz="1010" dirty="0"/>
          </a:p>
        </p:txBody>
      </p:sp>
      <p:sp>
        <p:nvSpPr>
          <p:cNvPr id="39" name="Shape 37"/>
          <p:cNvSpPr/>
          <p:nvPr/>
        </p:nvSpPr>
        <p:spPr>
          <a:xfrm>
            <a:off x="667512" y="5212080"/>
            <a:ext cx="10661904" cy="941832"/>
          </a:xfrm>
          <a:prstGeom prst="roundRect">
            <a:avLst>
              <a:gd name="adj" fmla="val 11650"/>
            </a:avLst>
          </a:prstGeom>
          <a:solidFill>
            <a:srgbClr val="FEF3E3"/>
          </a:solidFill>
          <a:ln w="12700">
            <a:solidFill>
              <a:srgbClr val="FEF3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" y="5212080"/>
            <a:ext cx="64008" cy="941832"/>
          </a:xfrm>
          <a:prstGeom prst="rect">
            <a:avLst/>
          </a:prstGeom>
          <a:solidFill>
            <a:srgbClr val="BA7935"/>
          </a:solidFill>
          <a:ln w="12700">
            <a:solidFill>
              <a:srgbClr val="BA79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" y="5312664"/>
            <a:ext cx="10296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необходимо подтвердить</a:t>
            </a:r>
            <a:endParaRPr lang="ru-RU" sz="1200" dirty="0"/>
          </a:p>
        </p:txBody>
      </p:sp>
      <p:sp>
        <p:nvSpPr>
          <p:cNvPr id="42" name="Text 40"/>
          <p:cNvSpPr/>
          <p:nvPr/>
        </p:nvSpPr>
        <p:spPr>
          <a:xfrm>
            <a:off x="859536" y="5586984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Фактический размер резервов, их изменение при пролонгации и погашении, а также эффективность сделки после учёта ожидаемых потерь.</a:t>
            </a:r>
            <a:endParaRPr lang="ru-RU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142857"/>
            </a:avLst>
          </a:prstGeom>
          <a:solidFill>
            <a:srgbClr val="0D2A4F"/>
          </a:solidFill>
          <a:ln w="12700">
            <a:solidFill>
              <a:srgbClr val="0D2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65176"/>
            <a:ext cx="640080" cy="667512"/>
          </a:xfrm>
          <a:prstGeom prst="roundRect">
            <a:avLst>
              <a:gd name="adj" fmla="val 8571"/>
            </a:avLst>
          </a:prstGeom>
          <a:solidFill>
            <a:srgbClr val="133B65"/>
          </a:solidFill>
          <a:ln w="12700">
            <a:solidFill>
              <a:srgbClr val="133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429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05/05</a:t>
            </a:r>
            <a:endParaRPr lang="ru-RU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246888"/>
            <a:ext cx="10405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30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 решения Наблюдательного совета</a:t>
            </a:r>
            <a:endParaRPr lang="ru-RU" sz="2300" dirty="0"/>
          </a:p>
        </p:txBody>
      </p:sp>
      <p:sp>
        <p:nvSpPr>
          <p:cNvPr id="6" name="Text 4"/>
          <p:cNvSpPr/>
          <p:nvPr/>
        </p:nvSpPr>
        <p:spPr>
          <a:xfrm>
            <a:off x="1252728" y="740664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Текущая и предлагаемая редакции с учётом экономического эффекта и риска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11311128" cy="0"/>
          </a:xfrm>
          <a:prstGeom prst="line">
            <a:avLst/>
          </a:prstGeom>
          <a:noFill/>
          <a:ln w="12700">
            <a:solidFill>
              <a:srgbClr val="D9E4E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8056" y="6556248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ВАРИАНТ В  |  ДЕМОНСТРАЦИОННЫЙ МАКЕТ: цифры, ставки и выводы подлежат подтверждению</a:t>
            </a:r>
            <a:endParaRPr lang="ru-RU" sz="800" dirty="0"/>
          </a:p>
        </p:txBody>
      </p:sp>
      <p:sp>
        <p:nvSpPr>
          <p:cNvPr id="9" name="Text 7"/>
          <p:cNvSpPr/>
          <p:nvPr/>
        </p:nvSpPr>
        <p:spPr>
          <a:xfrm>
            <a:off x="11027664" y="65471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870" dirty="0">
                <a:solidFill>
                  <a:srgbClr val="788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ru-RU" sz="870" dirty="0"/>
          </a:p>
        </p:txBody>
      </p:sp>
      <p:sp>
        <p:nvSpPr>
          <p:cNvPr id="10" name="Shape 8"/>
          <p:cNvSpPr/>
          <p:nvPr/>
        </p:nvSpPr>
        <p:spPr>
          <a:xfrm>
            <a:off x="704088" y="1600200"/>
            <a:ext cx="5202936" cy="3182112"/>
          </a:xfrm>
          <a:prstGeom prst="roundRect">
            <a:avLst>
              <a:gd name="adj" fmla="val 3448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1928" y="1600200"/>
            <a:ext cx="5202936" cy="3182112"/>
          </a:xfrm>
          <a:prstGeom prst="roundRect">
            <a:avLst>
              <a:gd name="adj" fmla="val 3448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847088"/>
            <a:ext cx="4050792" cy="274320"/>
          </a:xfrm>
          <a:prstGeom prst="roundRect">
            <a:avLst>
              <a:gd name="adj" fmla="val 26667"/>
            </a:avLst>
          </a:prstGeom>
          <a:solidFill>
            <a:srgbClr val="D9E4E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84708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133B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ТЕКУЩАЯ ФОРМУЛИРОВКА</a:t>
            </a:r>
            <a:endParaRPr lang="ru-RU" sz="900" dirty="0"/>
          </a:p>
        </p:txBody>
      </p:sp>
      <p:sp>
        <p:nvSpPr>
          <p:cNvPr id="14" name="Shape 12"/>
          <p:cNvSpPr/>
          <p:nvPr/>
        </p:nvSpPr>
        <p:spPr>
          <a:xfrm>
            <a:off x="6519672" y="1847088"/>
            <a:ext cx="455371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847088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24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ПРЕДЛАГАЕМАЯ ФОРМУЛИРОВКА</a:t>
            </a:r>
            <a:endParaRPr lang="ru-RU" sz="900" dirty="0"/>
          </a:p>
        </p:txBody>
      </p:sp>
      <p:sp>
        <p:nvSpPr>
          <p:cNvPr id="16" name="Text 14"/>
          <p:cNvSpPr/>
          <p:nvPr/>
        </p:nvSpPr>
        <p:spPr>
          <a:xfrm>
            <a:off x="1024128" y="2432304"/>
            <a:ext cx="4572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52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Точный текст действующего решения Наблюдательного совета заполняется после получения проекта от инициатора.</a:t>
            </a:r>
            <a:endParaRPr lang="ru-RU" sz="1520" dirty="0"/>
          </a:p>
        </p:txBody>
      </p:sp>
      <p:sp>
        <p:nvSpPr>
          <p:cNvPr id="17" name="Text 15"/>
          <p:cNvSpPr/>
          <p:nvPr/>
        </p:nvSpPr>
        <p:spPr>
          <a:xfrm>
            <a:off x="6592824" y="2404872"/>
            <a:ext cx="44988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40" b="1" dirty="0">
                <a:solidFill>
                  <a:srgbClr val="0D2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Рассмотреть возможность сохранения финансирования кредитополучателя в объёме до 30 млн USD на срок до одного года с учётом кредитного риска и экономической эффективности.</a:t>
            </a:r>
            <a:endParaRPr lang="ru-RU" sz="1440" dirty="0"/>
          </a:p>
        </p:txBody>
      </p:sp>
      <p:sp>
        <p:nvSpPr>
          <p:cNvPr id="18" name="Shape 16"/>
          <p:cNvSpPr/>
          <p:nvPr/>
        </p:nvSpPr>
        <p:spPr>
          <a:xfrm>
            <a:off x="704088" y="5102352"/>
            <a:ext cx="10780776" cy="978408"/>
          </a:xfrm>
          <a:prstGeom prst="roundRect">
            <a:avLst>
              <a:gd name="adj" fmla="val 11215"/>
            </a:avLst>
          </a:prstGeom>
          <a:solidFill>
            <a:srgbClr val="E7F4F0"/>
          </a:solidFill>
          <a:ln w="12700">
            <a:solidFill>
              <a:srgbClr val="E7F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102352"/>
            <a:ext cx="64008" cy="978408"/>
          </a:xfrm>
          <a:prstGeom prst="rect">
            <a:avLst/>
          </a:prstGeom>
          <a:solidFill>
            <a:srgbClr val="2A8368"/>
          </a:solidFill>
          <a:ln w="12700">
            <a:solidFill>
              <a:srgbClr val="2A83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5202936"/>
            <a:ext cx="10415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rgbClr val="2A8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Итоговое предложение</a:t>
            </a:r>
            <a:endParaRPr lang="ru-RU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5477256"/>
            <a:ext cx="103875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rgbClr val="4F6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Сформулировать решение на основе фактических условий кредитной сделки и заключений финансового, юридического и риск-блоков банка.</a:t>
            </a:r>
            <a:endParaRPr lang="ru-RU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Сохранение кредитного финансирования — варианты презентации</dc:title>
  <dc:subject>Демонстрационная презентация для Наблюдательного совета</dc:subject>
  <dc:creator>OpenAI</dc:creator>
  <cp:lastModifiedBy>OpenAI</cp:lastModifiedBy>
  <cp:revision>1</cp:revision>
  <dcterms:created xsi:type="dcterms:W3CDTF">2026-10-09T06:11:23Z</dcterms:created>
  <dcterms:modified xsi:type="dcterms:W3CDTF">2026-10-09T06:11:23Z</dcterms:modified>
</cp:coreProperties>
</file>